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822960"/>
            <a:ext cx="5943600" cy="411480"/>
          </a:xfrm>
          <a:prstGeom prst="roundRect">
            <a:avLst/>
          </a:prstGeom>
          <a:solidFill>
            <a:srgbClr val="1340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0B4D8"/>
                </a:solidFill>
              </a:defRPr>
            </a:pPr>
            <a:r>
              <a:t>BÁO CÁO THUYẾT TRÌNH TIN HỌC — NHÓM HỌC SINH LỚP 9A12</a:t>
            </a:r>
          </a:p>
        </p:txBody>
      </p:sp>
      <p:sp>
        <p:nvSpPr>
          <p:cNvPr id="4" name="TextBox 3"/>
          <p:cNvSpPr txBox="1"/>
          <p:nvPr/>
        </p:nvSpPr>
        <p:spPr>
          <a:xfrm>
            <a:off x="914400" y="1371600"/>
            <a:ext cx="10332720" cy="2103120"/>
          </a:xfrm>
          <a:prstGeom prst="rect">
            <a:avLst/>
          </a:prstGeom>
          <a:noFill/>
        </p:spPr>
        <p:txBody>
          <a:bodyPr wrap="square">
            <a:spAutoFit/>
          </a:bodyPr>
          <a:lstStyle/>
          <a:p>
            <a:pPr>
              <a:defRPr sz="3800" b="1">
                <a:solidFill>
                  <a:srgbClr val="FFFFFF"/>
                </a:solidFill>
              </a:defRPr>
            </a:pPr>
            <a:r>
              <a:t>TRƯỜNG THPT CHUYÊN HÙNG VƯƠNG</a:t>
            </a:r>
          </a:p>
          <a:p>
            <a:pPr>
              <a:spcBef>
                <a:spcPts val="800"/>
              </a:spcBef>
              <a:defRPr sz="1800" b="1">
                <a:solidFill>
                  <a:srgbClr val="EE9B00"/>
                </a:solidFill>
              </a:defRPr>
            </a:pPr>
            <a:r>
              <a:t>BÁO CÁO GIỚI THIỆU TỔNG QUAN &amp; ĐỊNH HƯỚNG TUYỂN SINH (1996 – 2026)</a:t>
            </a:r>
          </a:p>
          <a:p>
            <a:pPr>
              <a:spcBef>
                <a:spcPts val="600"/>
              </a:spcBef>
              <a:defRPr sz="1300">
                <a:solidFill>
                  <a:srgbClr val="E2E8F0"/>
                </a:solidFill>
              </a:defRPr>
            </a:pPr>
            <a:r>
              <a:t>Hành trình 30 năm phát triển | Quy mô – Đội ngũ – Cơ sở vật chất – Thành tích – Tuyển sinh &amp; GDPT 2018</a:t>
            </a:r>
          </a:p>
        </p:txBody>
      </p:sp>
      <p:sp>
        <p:nvSpPr>
          <p:cNvPr id="5" name="Rounded Rectangle 4"/>
          <p:cNvSpPr/>
          <p:nvPr/>
        </p:nvSpPr>
        <p:spPr>
          <a:xfrm>
            <a:off x="914400" y="3749039"/>
            <a:ext cx="10332720" cy="2468880"/>
          </a:xfrm>
          <a:prstGeom prst="roundRect">
            <a:avLst/>
          </a:prstGeom>
          <a:solidFill>
            <a:srgbClr val="134074"/>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00B4D8"/>
                </a:solidFill>
              </a:defRPr>
            </a:pPr>
            <a:r>
              <a:t>THÔNG TIN ĐƠN VỊ THỰC HIỆN &amp; ĐỊA ĐIỂM NGHIÊN CỨU:</a:t>
            </a:r>
          </a:p>
          <a:p>
            <a:pPr>
              <a:spcBef>
                <a:spcPts val="600"/>
              </a:spcBef>
              <a:defRPr sz="1200">
                <a:solidFill>
                  <a:srgbClr val="FFFFFF"/>
                </a:solidFill>
              </a:defRPr>
            </a:pPr>
            <a:r>
              <a:t>• Địa chỉ trụ sở chính thức: Số 593 Đại lộ Bình Dương, Phường Thủ Dầu Một, TP. Hồ Chí Minh.</a:t>
            </a:r>
          </a:p>
          <a:p>
            <a:pPr>
              <a:spcBef>
                <a:spcPts val="400"/>
              </a:spcBef>
              <a:defRPr sz="1200">
                <a:solidFill>
                  <a:srgbClr val="FFFFFF"/>
                </a:solidFill>
              </a:defRPr>
            </a:pPr>
            <a:r>
              <a:t>• Đơn vị thực hiện: Nhóm học sinh Lớp 9A12 gồm 6 thành viên nghiên cứu:</a:t>
            </a:r>
          </a:p>
          <a:p>
            <a:pPr>
              <a:spcBef>
                <a:spcPts val="400"/>
              </a:spcBef>
              <a:defRPr sz="1200" b="1">
                <a:solidFill>
                  <a:srgbClr val="EE9B00"/>
                </a:solidFill>
              </a:defRPr>
            </a:pPr>
            <a:r>
              <a:t>  1. Trần Nguyễn Bảo Linh  |  2. Nguyễn Lê Xuân Hương  |  3. Hà Kỳ Nhiệm</a:t>
            </a:r>
          </a:p>
          <a:p>
            <a:pPr>
              <a:spcBef>
                <a:spcPts val="200"/>
              </a:spcBef>
              <a:defRPr sz="1200" b="1">
                <a:solidFill>
                  <a:srgbClr val="EE9B00"/>
                </a:solidFill>
              </a:defRPr>
            </a:pPr>
            <a:r>
              <a:t>  4. Nguyễn Hoàng Minh Tuấn  |  5. Trần Huỳnh Minh Thư  |  6. Đoàn Vương Bảo Ngọc</a:t>
            </a:r>
          </a:p>
          <a:p>
            <a:pPr>
              <a:spcBef>
                <a:spcPts val="400"/>
              </a:spcBef>
              <a:defRPr sz="1100" i="1">
                <a:solidFill>
                  <a:srgbClr val="CBD5E1"/>
                </a:solidFill>
              </a:defRPr>
            </a:pPr>
            <a:r>
              <a:t>• Năm học báo cáo &amp; thuyết trình: 2024–2025 | 2025–2026 | 2026–2027</a:t>
            </a:r>
          </a:p>
        </p:txBody>
      </p:sp>
      <p:sp>
        <p:nvSpPr>
          <p:cNvPr id="6" name="TextBox 5"/>
          <p:cNvSpPr txBox="1"/>
          <p:nvPr/>
        </p:nvSpPr>
        <p:spPr>
          <a:xfrm>
            <a:off x="731520" y="6446520"/>
            <a:ext cx="10698480" cy="320040"/>
          </a:xfrm>
          <a:prstGeom prst="rect">
            <a:avLst/>
          </a:prstGeom>
          <a:noFill/>
        </p:spPr>
        <p:txBody>
          <a:bodyPr wrap="none">
            <a:spAutoFit/>
          </a:bodyPr>
          <a:lstStyle/>
          <a:p>
            <a:pPr>
              <a:defRPr sz="1000">
                <a:solidFill>
                  <a:srgbClr val="94A3B8"/>
                </a:solidFill>
                <a:latin typeface="Arial"/>
              </a:defRPr>
            </a:pPr>
            <a:r>
              <a:t>Báo cáo &amp; Thuyết trình Tổng quan THPT Chuyên Hùng Vương | Đơn vị thực hiện: Nhóm Lớp 9A12  •  Slide 1/30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8229600" cy="320040"/>
          </a:xfrm>
          <a:prstGeom prst="rect">
            <a:avLst/>
          </a:prstGeom>
          <a:noFill/>
        </p:spPr>
        <p:txBody>
          <a:bodyPr wrap="none">
            <a:spAutoFit/>
          </a:bodyPr>
          <a:lstStyle/>
          <a:p>
            <a:pPr>
              <a:defRPr sz="1100" b="1">
                <a:solidFill>
                  <a:srgbClr val="0077B6"/>
                </a:solidFill>
                <a:latin typeface="Arial"/>
              </a:defRPr>
            </a:pPr>
            <a:r>
              <a:t>TỔNG QUAN NỘI DUNG</a:t>
            </a:r>
          </a:p>
        </p:txBody>
      </p:sp>
      <p:sp>
        <p:nvSpPr>
          <p:cNvPr id="4" name="TextBox 3"/>
          <p:cNvSpPr txBox="1"/>
          <p:nvPr/>
        </p:nvSpPr>
        <p:spPr>
          <a:xfrm>
            <a:off x="731520" y="566928"/>
            <a:ext cx="9601200" cy="594360"/>
          </a:xfrm>
          <a:prstGeom prst="rect">
            <a:avLst/>
          </a:prstGeom>
          <a:noFill/>
        </p:spPr>
        <p:txBody>
          <a:bodyPr wrap="none">
            <a:spAutoFit/>
          </a:bodyPr>
          <a:lstStyle/>
          <a:p>
            <a:pPr>
              <a:defRPr sz="2000" b="1">
                <a:solidFill>
                  <a:srgbClr val="0B2545"/>
                </a:solidFill>
                <a:latin typeface="Arial"/>
              </a:defRPr>
            </a:pPr>
            <a:r>
              <a:t>MỤC LỤC TỔNG QUAN DẠNG SƠ ĐỒ TƯ DUY (MIND MAP)</a:t>
            </a:r>
          </a:p>
        </p:txBody>
      </p:sp>
      <p:sp>
        <p:nvSpPr>
          <p:cNvPr id="5" name="TextBox 4"/>
          <p:cNvSpPr txBox="1"/>
          <p:nvPr/>
        </p:nvSpPr>
        <p:spPr>
          <a:xfrm>
            <a:off x="10058400" y="292608"/>
            <a:ext cx="1463040" cy="320040"/>
          </a:xfrm>
          <a:prstGeom prst="rect">
            <a:avLst/>
          </a:prstGeom>
          <a:noFill/>
        </p:spPr>
        <p:txBody>
          <a:bodyPr wrap="none">
            <a:spAutoFit/>
          </a:bodyPr>
          <a:lstStyle/>
          <a:p>
            <a:pPr algn="r">
              <a:defRPr sz="1100" b="1">
                <a:solidFill>
                  <a:srgbClr val="64748B"/>
                </a:solidFill>
                <a:latin typeface="Arial"/>
              </a:defRPr>
            </a:pPr>
            <a:r>
              <a:t>02 / 30</a:t>
            </a:r>
          </a:p>
        </p:txBody>
      </p:sp>
      <p:sp>
        <p:nvSpPr>
          <p:cNvPr id="6" name="Oval 5"/>
          <p:cNvSpPr/>
          <p:nvPr/>
        </p:nvSpPr>
        <p:spPr>
          <a:xfrm>
            <a:off x="4389120" y="2651760"/>
            <a:ext cx="3383280" cy="1554480"/>
          </a:xfrm>
          <a:prstGeom prst="ellipse">
            <a:avLst/>
          </a:prstGeom>
          <a:solidFill>
            <a:srgbClr val="0B2545"/>
          </a:solidFill>
          <a:ln w="38100">
            <a:solidFill>
              <a:srgbClr val="EE9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FFFFFF"/>
                </a:solidFill>
              </a:defRPr>
            </a:pPr>
            <a:r>
              <a:t>THPT CHUYÊN</a:t>
            </a:r>
            <a:br/>
            <a:r>
              <a:t>HÙNG VƯƠNG</a:t>
            </a:r>
          </a:p>
        </p:txBody>
      </p:sp>
      <p:sp>
        <p:nvSpPr>
          <p:cNvPr id="7" name="Rounded Rectangle 6"/>
          <p:cNvSpPr/>
          <p:nvPr/>
        </p:nvSpPr>
        <p:spPr>
          <a:xfrm>
            <a:off x="731520" y="1280160"/>
            <a:ext cx="3383280" cy="1097280"/>
          </a:xfrm>
          <a:prstGeom prst="roundRect">
            <a:avLst/>
          </a:prstGeom>
          <a:solidFill>
            <a:srgbClr val="FFFFFF"/>
          </a:solidFill>
          <a:ln w="19050">
            <a:solidFill>
              <a:srgbClr val="0077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0077B6"/>
                </a:solidFill>
              </a:defRPr>
            </a:pPr>
            <a:r>
              <a:t>① GIỚI THIỆU &amp; LỊCH SỬ</a:t>
            </a:r>
          </a:p>
          <a:p>
            <a:pPr>
              <a:spcBef>
                <a:spcPts val="300"/>
              </a:spcBef>
              <a:defRPr sz="1000">
                <a:solidFill>
                  <a:srgbClr val="0F172A"/>
                </a:solidFill>
              </a:defRPr>
            </a:pPr>
            <a:r>
              <a:t>Slide 3–7: Lịch sử 30 năm, QĐ 4757, Sứ mệnh &amp; Tầm nhìn 2030</a:t>
            </a:r>
          </a:p>
        </p:txBody>
      </p:sp>
      <p:sp>
        <p:nvSpPr>
          <p:cNvPr id="8" name="Rounded Rectangle 7"/>
          <p:cNvSpPr/>
          <p:nvPr/>
        </p:nvSpPr>
        <p:spPr>
          <a:xfrm>
            <a:off x="4389120" y="1188720"/>
            <a:ext cx="3383280" cy="1097280"/>
          </a:xfrm>
          <a:prstGeom prst="roundRect">
            <a:avLst/>
          </a:prstGeom>
          <a:solidFill>
            <a:srgbClr val="FFFFFF"/>
          </a:solidFill>
          <a:ln w="19050">
            <a:solidFill>
              <a:srgbClr val="1340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134074"/>
                </a:solidFill>
              </a:defRPr>
            </a:pPr>
            <a:r>
              <a:t>② QUY MÔ &amp; ĐỘI NGŨ</a:t>
            </a:r>
          </a:p>
          <a:p>
            <a:pPr>
              <a:spcBef>
                <a:spcPts val="300"/>
              </a:spcBef>
              <a:defRPr sz="1000">
                <a:solidFill>
                  <a:srgbClr val="0F172A"/>
                </a:solidFill>
              </a:defRPr>
            </a:pPr>
            <a:r>
              <a:t>Slide 8–10: 930 HS, 28 lớp, 92 CBGVNV, 53 đảng viên, 10 tổ</a:t>
            </a:r>
          </a:p>
        </p:txBody>
      </p:sp>
      <p:sp>
        <p:nvSpPr>
          <p:cNvPr id="9" name="Rounded Rectangle 8"/>
          <p:cNvSpPr/>
          <p:nvPr/>
        </p:nvSpPr>
        <p:spPr>
          <a:xfrm>
            <a:off x="8046720" y="1280160"/>
            <a:ext cx="3383280" cy="1097280"/>
          </a:xfrm>
          <a:prstGeom prst="roundRect">
            <a:avLst/>
          </a:prstGeom>
          <a:solidFill>
            <a:srgbClr val="FFFFFF"/>
          </a:solidFill>
          <a:ln w="19050">
            <a:solidFill>
              <a:srgbClr val="0077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0077B6"/>
                </a:solidFill>
              </a:defRPr>
            </a:pPr>
            <a:r>
              <a:t>③ CƠ SỞ VẬT CHẤT</a:t>
            </a:r>
          </a:p>
          <a:p>
            <a:pPr>
              <a:spcBef>
                <a:spcPts val="300"/>
              </a:spcBef>
              <a:defRPr sz="1000">
                <a:solidFill>
                  <a:srgbClr val="0F172A"/>
                </a:solidFill>
              </a:defRPr>
            </a:pPr>
            <a:r>
              <a:t>Slide 11–12: Phòng học, Lab Lý-Hóa-Sinh, Không gian STEM</a:t>
            </a:r>
          </a:p>
        </p:txBody>
      </p:sp>
      <p:sp>
        <p:nvSpPr>
          <p:cNvPr id="10" name="Rounded Rectangle 9"/>
          <p:cNvSpPr/>
          <p:nvPr/>
        </p:nvSpPr>
        <p:spPr>
          <a:xfrm>
            <a:off x="8046720" y="2834640"/>
            <a:ext cx="3383280" cy="1097280"/>
          </a:xfrm>
          <a:prstGeom prst="roundRect">
            <a:avLst/>
          </a:prstGeom>
          <a:solidFill>
            <a:srgbClr val="FFFFFF"/>
          </a:solidFill>
          <a:ln w="19050">
            <a:solidFill>
              <a:srgbClr val="EE9B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EE9B00"/>
                </a:solidFill>
              </a:defRPr>
            </a:pPr>
            <a:r>
              <a:t>④ THÀNH TÍCH NỔI BẬT</a:t>
            </a:r>
          </a:p>
          <a:p>
            <a:pPr>
              <a:spcBef>
                <a:spcPts val="300"/>
              </a:spcBef>
              <a:defRPr sz="1000">
                <a:solidFill>
                  <a:srgbClr val="0F172A"/>
                </a:solidFill>
              </a:defRPr>
            </a:pPr>
            <a:r>
              <a:t>Slide 13–16: 100% đỗ TN, 14 điểm 10 TN 2026, Thủ khoa 7 khối</a:t>
            </a:r>
          </a:p>
        </p:txBody>
      </p:sp>
      <p:sp>
        <p:nvSpPr>
          <p:cNvPr id="11" name="Rounded Rectangle 10"/>
          <p:cNvSpPr/>
          <p:nvPr/>
        </p:nvSpPr>
        <p:spPr>
          <a:xfrm>
            <a:off x="8046720" y="4389120"/>
            <a:ext cx="3383280" cy="1097280"/>
          </a:xfrm>
          <a:prstGeom prst="roundRect">
            <a:avLst/>
          </a:prstGeom>
          <a:solidFill>
            <a:srgbClr val="FFFFFF"/>
          </a:solidFill>
          <a:ln w="19050">
            <a:solidFill>
              <a:srgbClr val="0077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0077B6"/>
                </a:solidFill>
              </a:defRPr>
            </a:pPr>
            <a:r>
              <a:t>⑤ TỔNG QUAN TUYỂN SINH</a:t>
            </a:r>
          </a:p>
          <a:p>
            <a:pPr>
              <a:spcBef>
                <a:spcPts val="300"/>
              </a:spcBef>
              <a:defRPr sz="1000">
                <a:solidFill>
                  <a:srgbClr val="0F172A"/>
                </a:solidFill>
              </a:defRPr>
            </a:pPr>
            <a:r>
              <a:t>Slide 17–24: Điểm chuẩn 3 năm (2024–2026), Đề án 5695</a:t>
            </a:r>
          </a:p>
        </p:txBody>
      </p:sp>
      <p:sp>
        <p:nvSpPr>
          <p:cNvPr id="12" name="Rounded Rectangle 11"/>
          <p:cNvSpPr/>
          <p:nvPr/>
        </p:nvSpPr>
        <p:spPr>
          <a:xfrm>
            <a:off x="4389120" y="4572000"/>
            <a:ext cx="3383280" cy="1097280"/>
          </a:xfrm>
          <a:prstGeom prst="roundRect">
            <a:avLst/>
          </a:prstGeom>
          <a:solidFill>
            <a:srgbClr val="FFFFFF"/>
          </a:solidFill>
          <a:ln w="19050">
            <a:solidFill>
              <a:srgbClr val="1340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134074"/>
                </a:solidFill>
              </a:defRPr>
            </a:pPr>
            <a:r>
              <a:t>⑥ MÔI TRƯỜNG &amp; GDPT 2018</a:t>
            </a:r>
          </a:p>
          <a:p>
            <a:pPr>
              <a:spcBef>
                <a:spcPts val="300"/>
              </a:spcBef>
              <a:defRPr sz="1000">
                <a:solidFill>
                  <a:srgbClr val="0F172A"/>
                </a:solidFill>
              </a:defRPr>
            </a:pPr>
            <a:r>
              <a:t>Slide 25–28: EIU Contest, Dự án Athena, GDPT 2018 &amp; Tổ hợp</a:t>
            </a:r>
          </a:p>
        </p:txBody>
      </p:sp>
      <p:sp>
        <p:nvSpPr>
          <p:cNvPr id="13" name="Rounded Rectangle 12"/>
          <p:cNvSpPr/>
          <p:nvPr/>
        </p:nvSpPr>
        <p:spPr>
          <a:xfrm>
            <a:off x="731520" y="4114800"/>
            <a:ext cx="3383280" cy="1097280"/>
          </a:xfrm>
          <a:prstGeom prst="roundRect">
            <a:avLst/>
          </a:prstGeom>
          <a:solidFill>
            <a:srgbClr val="FFFFFF"/>
          </a:solidFill>
          <a:ln w="19050">
            <a:solidFill>
              <a:srgbClr val="EE9B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EE9B00"/>
                </a:solidFill>
              </a:defRPr>
            </a:pPr>
            <a:r>
              <a:t>⑦ KẾT LUẬN &amp; MINIGAME</a:t>
            </a:r>
          </a:p>
          <a:p>
            <a:pPr>
              <a:spcBef>
                <a:spcPts val="300"/>
              </a:spcBef>
              <a:defRPr sz="1000">
                <a:solidFill>
                  <a:srgbClr val="0F172A"/>
                </a:solidFill>
              </a:defRPr>
            </a:pPr>
            <a:r>
              <a:t>Slide 29–30: 5 Trụ cột phát triển, Trò chơi đố vui &amp; Cảm ơn</a:t>
            </a:r>
          </a:p>
        </p:txBody>
      </p:sp>
      <p:sp>
        <p:nvSpPr>
          <p:cNvPr id="14" name="TextBox 13"/>
          <p:cNvSpPr txBox="1"/>
          <p:nvPr/>
        </p:nvSpPr>
        <p:spPr>
          <a:xfrm>
            <a:off x="731520" y="6446520"/>
            <a:ext cx="10698480" cy="320040"/>
          </a:xfrm>
          <a:prstGeom prst="rect">
            <a:avLst/>
          </a:prstGeom>
          <a:noFill/>
        </p:spPr>
        <p:txBody>
          <a:bodyPr wrap="none">
            <a:spAutoFit/>
          </a:bodyPr>
          <a:lstStyle/>
          <a:p>
            <a:pPr>
              <a:defRPr sz="1000">
                <a:solidFill>
                  <a:srgbClr val="64748B"/>
                </a:solidFill>
                <a:latin typeface="Arial"/>
              </a:defRPr>
            </a:pPr>
            <a:r>
              <a:t>Báo cáo &amp; Thuyết trình Tổng quan THPT Chuyên Hùng Vương | Đơn vị thực hiện: Nhóm Lớp 9A12  •  Slide 2/30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8229600" cy="320040"/>
          </a:xfrm>
          <a:prstGeom prst="rect">
            <a:avLst/>
          </a:prstGeom>
          <a:noFill/>
        </p:spPr>
        <p:txBody>
          <a:bodyPr wrap="none">
            <a:spAutoFit/>
          </a:bodyPr>
          <a:lstStyle/>
          <a:p>
            <a:pPr>
              <a:defRPr sz="1100" b="1">
                <a:solidFill>
                  <a:srgbClr val="0077B6"/>
                </a:solidFill>
                <a:latin typeface="Arial"/>
              </a:defRPr>
            </a:pPr>
            <a:r>
              <a:t>CHƯƠNG I: LỊCH SỬ HÌNH THÀNH</a:t>
            </a:r>
          </a:p>
        </p:txBody>
      </p:sp>
      <p:sp>
        <p:nvSpPr>
          <p:cNvPr id="4" name="TextBox 3"/>
          <p:cNvSpPr txBox="1"/>
          <p:nvPr/>
        </p:nvSpPr>
        <p:spPr>
          <a:xfrm>
            <a:off x="731520" y="566928"/>
            <a:ext cx="9601200" cy="594360"/>
          </a:xfrm>
          <a:prstGeom prst="rect">
            <a:avLst/>
          </a:prstGeom>
          <a:noFill/>
        </p:spPr>
        <p:txBody>
          <a:bodyPr wrap="none">
            <a:spAutoFit/>
          </a:bodyPr>
          <a:lstStyle/>
          <a:p>
            <a:pPr>
              <a:defRPr sz="2000" b="1">
                <a:solidFill>
                  <a:srgbClr val="0B2545"/>
                </a:solidFill>
                <a:latin typeface="Arial"/>
              </a:defRPr>
            </a:pPr>
            <a:r>
              <a:t>HÀNH TRÌNH PHÁT TRIỂN 30 NĂM (TIMELINE 1995 – 2026)</a:t>
            </a:r>
          </a:p>
        </p:txBody>
      </p:sp>
      <p:sp>
        <p:nvSpPr>
          <p:cNvPr id="5" name="TextBox 4"/>
          <p:cNvSpPr txBox="1"/>
          <p:nvPr/>
        </p:nvSpPr>
        <p:spPr>
          <a:xfrm>
            <a:off x="10058400" y="292608"/>
            <a:ext cx="1463040" cy="320040"/>
          </a:xfrm>
          <a:prstGeom prst="rect">
            <a:avLst/>
          </a:prstGeom>
          <a:noFill/>
        </p:spPr>
        <p:txBody>
          <a:bodyPr wrap="none">
            <a:spAutoFit/>
          </a:bodyPr>
          <a:lstStyle/>
          <a:p>
            <a:pPr algn="r">
              <a:defRPr sz="1100" b="1">
                <a:solidFill>
                  <a:srgbClr val="64748B"/>
                </a:solidFill>
                <a:latin typeface="Arial"/>
              </a:defRPr>
            </a:pPr>
            <a:r>
              <a:t>03 / 30</a:t>
            </a:r>
          </a:p>
        </p:txBody>
      </p:sp>
      <p:sp>
        <p:nvSpPr>
          <p:cNvPr id="6" name="Rounded Rectangle 5"/>
          <p:cNvSpPr/>
          <p:nvPr/>
        </p:nvSpPr>
        <p:spPr>
          <a:xfrm>
            <a:off x="731520" y="1280160"/>
            <a:ext cx="5120640"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134074"/>
                </a:solidFill>
              </a:defRPr>
            </a:pPr>
            <a:r>
              <a:t>🏛️ CHI TIẾT CÁC MỐC LỊCH SỬ PHÁT TRIỂN NỔI BẬT</a:t>
            </a:r>
          </a:p>
          <a:p>
            <a:pPr>
              <a:spcBef>
                <a:spcPts val="400"/>
              </a:spcBef>
              <a:defRPr sz="1100">
                <a:solidFill>
                  <a:srgbClr val="0F172A"/>
                </a:solidFill>
              </a:defRPr>
            </a:pPr>
            <a:r>
              <a:t>• 23/10/1995: UBND tỉnh Sông Bé ban hành Quyết định số 4757/QĐ-UB chính thức thành lập Trường THPT Chuyên Hùng Vương.</a:t>
            </a:r>
          </a:p>
          <a:p>
            <a:pPr>
              <a:spcBef>
                <a:spcPts val="400"/>
              </a:spcBef>
              <a:defRPr sz="1100">
                <a:solidFill>
                  <a:srgbClr val="0F172A"/>
                </a:solidFill>
              </a:defRPr>
            </a:pPr>
            <a:r>
              <a:t>• 24/04/1996: Nhà trường chính thức đi vào hoạt động giảng dạy, đón nhận khóa học sinh chuyên đầu tiên.</a:t>
            </a:r>
          </a:p>
          <a:p>
            <a:pPr>
              <a:spcBef>
                <a:spcPts val="400"/>
              </a:spcBef>
              <a:defRPr sz="1100">
                <a:solidFill>
                  <a:srgbClr val="0F172A"/>
                </a:solidFill>
              </a:defRPr>
            </a:pPr>
            <a:r>
              <a:t>• Năm 2005: Trường THPT đầu tiên của tỉnh Bình Dương đạt chuẩn Quốc gia giai đoạn 2001–2010.</a:t>
            </a:r>
          </a:p>
          <a:p>
            <a:pPr>
              <a:spcBef>
                <a:spcPts val="400"/>
              </a:spcBef>
              <a:defRPr sz="1100">
                <a:solidFill>
                  <a:srgbClr val="0F172A"/>
                </a:solidFill>
              </a:defRPr>
            </a:pPr>
            <a:r>
              <a:t>• Năm 2011: Đạt chuẩn Kiểm định chất lượng giáo dục Cấp độ 3 (mức cao nhất theo Bộ GD&amp;ĐT).</a:t>
            </a:r>
          </a:p>
          <a:p>
            <a:pPr>
              <a:spcBef>
                <a:spcPts val="400"/>
              </a:spcBef>
              <a:defRPr sz="1100">
                <a:solidFill>
                  <a:srgbClr val="0F172A"/>
                </a:solidFill>
              </a:defRPr>
            </a:pPr>
            <a:r>
              <a:t>• Năm 2018: Nhận Cờ thi đua của Thủ tướng Chính phủ (lần 2) cho thành tích xuất sắc dẫn đầu phong trào dạy và học.</a:t>
            </a:r>
          </a:p>
          <a:p>
            <a:pPr>
              <a:spcBef>
                <a:spcPts val="400"/>
              </a:spcBef>
              <a:defRPr sz="1100">
                <a:solidFill>
                  <a:srgbClr val="0F172A"/>
                </a:solidFill>
              </a:defRPr>
            </a:pPr>
            <a:r>
              <a:t>• Năm 2020: Chủ tịch nước trao tặng Huân chương Lao động Hạng Ba ghi nhận những đóng góp to lớn.</a:t>
            </a:r>
          </a:p>
          <a:p>
            <a:pPr>
              <a:spcBef>
                <a:spcPts val="400"/>
              </a:spcBef>
              <a:defRPr sz="1100">
                <a:solidFill>
                  <a:srgbClr val="0F172A"/>
                </a:solidFill>
              </a:defRPr>
            </a:pPr>
            <a:r>
              <a:t>• Năm 2026: Kỷ niệm tròn 30 năm thành lập trường (1996–2026) theo Kế hoạch 111/KH-THPTCHV ngày 12/03/2026.</a:t>
            </a:r>
          </a:p>
        </p:txBody>
      </p:sp>
      <p:sp>
        <p:nvSpPr>
          <p:cNvPr id="7" name="Rounded Rectangle 6"/>
          <p:cNvSpPr/>
          <p:nvPr/>
        </p:nvSpPr>
        <p:spPr>
          <a:xfrm>
            <a:off x="6217920" y="1280160"/>
            <a:ext cx="5212080" cy="4846320"/>
          </a:xfrm>
          <a:prstGeom prst="roundRect">
            <a:avLst/>
          </a:prstGeom>
          <a:solidFill>
            <a:srgbClr val="134074"/>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00B4D8"/>
                </a:solidFill>
              </a:defRPr>
            </a:pPr>
            <a:r>
              <a:t>🌟 Ý NGHĨA 3 THẬP KỶ ƯƠM MẦM NHÂN TÀI</a:t>
            </a:r>
          </a:p>
          <a:p>
            <a:pPr>
              <a:spcBef>
                <a:spcPts val="1200"/>
              </a:spcBef>
              <a:defRPr sz="1200">
                <a:solidFill>
                  <a:srgbClr val="FFFFFF"/>
                </a:solidFill>
              </a:defRPr>
            </a:pPr>
            <a:r>
              <a:t>• Khẳng định vị thế lá cờ đầu: Trải qua tròn 3 thập kỷ kiên trì với sứ mệnh giáo dục tinh hoa, trường đã đào tạo hàng chục ngàn học sinh ưu tú, đóng góp nguồn nhân lực chất lượng cao cho tỉnh và đất nước.</a:t>
            </a:r>
          </a:p>
          <a:p>
            <a:pPr>
              <a:spcBef>
                <a:spcPts val="1000"/>
              </a:spcBef>
              <a:defRPr sz="1200">
                <a:solidFill>
                  <a:srgbClr val="FFFFFF"/>
                </a:solidFill>
              </a:defRPr>
            </a:pPr>
            <a:r>
              <a:t>• Sự kế thừa và phát triển liên tục: Từ quy mô ban đầu với cơ sở vật chất khiêm tốn, trường không ngừng đổi mới trang thiết bị, phương pháp sư phạm, tiến tới hội nhập sâu rộng vào nền giáo dục thế giới.</a:t>
            </a:r>
          </a:p>
          <a:p>
            <a:pPr>
              <a:spcBef>
                <a:spcPts val="1000"/>
              </a:spcBef>
              <a:defRPr sz="1200">
                <a:solidFill>
                  <a:srgbClr val="EE9B00"/>
                </a:solidFill>
              </a:defRPr>
            </a:pPr>
            <a:r>
              <a:t>• Hướng đến kỷ nguyên mới 2030: Đón đầu chương trình GDPT 2018, tiên phong ứng dụng STEM và giảng dạy bằng Tiếng Anh, quyết tâm giữ vững vị trí trong Top 20 trường THPT hàng đầu Việt Nam.</a:t>
            </a:r>
          </a:p>
        </p:txBody>
      </p:sp>
      <p:sp>
        <p:nvSpPr>
          <p:cNvPr id="8" name="TextBox 7"/>
          <p:cNvSpPr txBox="1"/>
          <p:nvPr/>
        </p:nvSpPr>
        <p:spPr>
          <a:xfrm>
            <a:off x="731520" y="6446520"/>
            <a:ext cx="10698480" cy="320040"/>
          </a:xfrm>
          <a:prstGeom prst="rect">
            <a:avLst/>
          </a:prstGeom>
          <a:noFill/>
        </p:spPr>
        <p:txBody>
          <a:bodyPr wrap="none">
            <a:spAutoFit/>
          </a:bodyPr>
          <a:lstStyle/>
          <a:p>
            <a:pPr>
              <a:defRPr sz="1000">
                <a:solidFill>
                  <a:srgbClr val="64748B"/>
                </a:solidFill>
                <a:latin typeface="Arial"/>
              </a:defRPr>
            </a:pPr>
            <a:r>
              <a:t>Báo cáo &amp; Thuyết trình Tổng quan THPT Chuyên Hùng Vương | Đơn vị thực hiện: Nhóm Lớp 9A12  •  Slide 3/30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8229600" cy="320040"/>
          </a:xfrm>
          <a:prstGeom prst="rect">
            <a:avLst/>
          </a:prstGeom>
          <a:noFill/>
        </p:spPr>
        <p:txBody>
          <a:bodyPr wrap="none">
            <a:spAutoFit/>
          </a:bodyPr>
          <a:lstStyle/>
          <a:p>
            <a:pPr>
              <a:defRPr sz="1100" b="1">
                <a:solidFill>
                  <a:srgbClr val="0077B6"/>
                </a:solidFill>
                <a:latin typeface="Arial"/>
              </a:defRPr>
            </a:pPr>
            <a:r>
              <a:t>CHƯƠNG I: LỊCH SỬ HÌNH THÀNH</a:t>
            </a:r>
          </a:p>
        </p:txBody>
      </p:sp>
      <p:sp>
        <p:nvSpPr>
          <p:cNvPr id="4" name="TextBox 3"/>
          <p:cNvSpPr txBox="1"/>
          <p:nvPr/>
        </p:nvSpPr>
        <p:spPr>
          <a:xfrm>
            <a:off x="731520" y="566928"/>
            <a:ext cx="9601200" cy="594360"/>
          </a:xfrm>
          <a:prstGeom prst="rect">
            <a:avLst/>
          </a:prstGeom>
          <a:noFill/>
        </p:spPr>
        <p:txBody>
          <a:bodyPr wrap="none">
            <a:spAutoFit/>
          </a:bodyPr>
          <a:lstStyle/>
          <a:p>
            <a:pPr>
              <a:defRPr sz="2000" b="1">
                <a:solidFill>
                  <a:srgbClr val="0B2545"/>
                </a:solidFill>
                <a:latin typeface="Arial"/>
              </a:defRPr>
            </a:pPr>
            <a:r>
              <a:t>QUYẾT ĐỊNH THÀNH LẬP &amp; BỐI CẢNH HÌNH THÀNH TRƯỜNG</a:t>
            </a:r>
          </a:p>
        </p:txBody>
      </p:sp>
      <p:sp>
        <p:nvSpPr>
          <p:cNvPr id="5" name="TextBox 4"/>
          <p:cNvSpPr txBox="1"/>
          <p:nvPr/>
        </p:nvSpPr>
        <p:spPr>
          <a:xfrm>
            <a:off x="10058400" y="292608"/>
            <a:ext cx="1463040" cy="320040"/>
          </a:xfrm>
          <a:prstGeom prst="rect">
            <a:avLst/>
          </a:prstGeom>
          <a:noFill/>
        </p:spPr>
        <p:txBody>
          <a:bodyPr wrap="none">
            <a:spAutoFit/>
          </a:bodyPr>
          <a:lstStyle/>
          <a:p>
            <a:pPr algn="r">
              <a:defRPr sz="1100" b="1">
                <a:solidFill>
                  <a:srgbClr val="64748B"/>
                </a:solidFill>
                <a:latin typeface="Arial"/>
              </a:defRPr>
            </a:pPr>
            <a:r>
              <a:t>04 / 30</a:t>
            </a:r>
          </a:p>
        </p:txBody>
      </p:sp>
      <p:sp>
        <p:nvSpPr>
          <p:cNvPr id="6" name="Rounded Rectangle 5"/>
          <p:cNvSpPr/>
          <p:nvPr/>
        </p:nvSpPr>
        <p:spPr>
          <a:xfrm>
            <a:off x="731520" y="1280160"/>
            <a:ext cx="5943600"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0077B6"/>
                </a:solidFill>
              </a:defRPr>
            </a:pPr>
            <a:r>
              <a:t>📜 CĂN CỨ PHÁP LÝ &amp; SỨ MỆNH LỊCH SỬ KHỞI NGUYÊN</a:t>
            </a:r>
          </a:p>
          <a:p>
            <a:pPr>
              <a:spcBef>
                <a:spcPts val="1000"/>
              </a:spcBef>
              <a:defRPr sz="1200">
                <a:solidFill>
                  <a:srgbClr val="0F172A"/>
                </a:solidFill>
              </a:defRPr>
            </a:pPr>
            <a:r>
              <a:t>• Quyết định thành lập: Quyết định số 4757/QĐ-UB do UBND tỉnh Sông Bé ký ngày 23/10/1995, đánh dấu bước ngoặt mang tính chiến lược trong công tác đào tạo mũi nhọn của địa phương.</a:t>
            </a:r>
          </a:p>
          <a:p>
            <a:pPr>
              <a:spcBef>
                <a:spcPts val="800"/>
              </a:spcBef>
              <a:defRPr sz="1200">
                <a:solidFill>
                  <a:srgbClr val="0F172A"/>
                </a:solidFill>
              </a:defRPr>
            </a:pPr>
            <a:r>
              <a:t>• Ngày bắt đầu hoạt động: Ngày 24/04/1996 chính thức khai giảng khóa học sinh chuyên đầu tiên, đặt những viên gạch nền móng vững chắc cho truyền thống hiếu học của trường.</a:t>
            </a:r>
          </a:p>
          <a:p>
            <a:pPr>
              <a:spcBef>
                <a:spcPts val="800"/>
              </a:spcBef>
              <a:defRPr sz="1200">
                <a:solidFill>
                  <a:srgbClr val="0F172A"/>
                </a:solidFill>
              </a:defRPr>
            </a:pPr>
            <a:r>
              <a:t>• Nhiệm vụ trọng tâm được giao phó: Phát hiện, đào tạo và bồi dưỡng học sinh năng khiếu có chất lượng cao, tạo nguồn nhân tài tương lai phục vụ phát triển kinh tế - xã hội địa phương và đất nước.</a:t>
            </a:r>
          </a:p>
          <a:p>
            <a:pPr>
              <a:spcBef>
                <a:spcPts val="800"/>
              </a:spcBef>
              <a:defRPr sz="1200">
                <a:solidFill>
                  <a:srgbClr val="0F172A"/>
                </a:solidFill>
              </a:defRPr>
            </a:pPr>
            <a:r>
              <a:t>• Cơ quan quản lý: Trực thuộc Sở Giáo dục và Đào tạo TP. Hồ Chí Minh / Bình Dương.</a:t>
            </a:r>
          </a:p>
          <a:p>
            <a:pPr>
              <a:spcBef>
                <a:spcPts val="800"/>
              </a:spcBef>
              <a:defRPr sz="1200" b="1">
                <a:solidFill>
                  <a:srgbClr val="0B2545"/>
                </a:solidFill>
              </a:defRPr>
            </a:pPr>
            <a:r>
              <a:t>• Địa chỉ trụ sở chính thức: Số 593 Đại lộ Bình Dương, Phường Thủ Dầu Một, TP. Hồ Chí Minh.</a:t>
            </a:r>
          </a:p>
        </p:txBody>
      </p:sp>
      <p:sp>
        <p:nvSpPr>
          <p:cNvPr id="7" name="Rounded Rectangle 6"/>
          <p:cNvSpPr/>
          <p:nvPr/>
        </p:nvSpPr>
        <p:spPr>
          <a:xfrm>
            <a:off x="7040880" y="1280160"/>
            <a:ext cx="4389120" cy="4846320"/>
          </a:xfrm>
          <a:prstGeom prst="roundRect">
            <a:avLst/>
          </a:prstGeom>
          <a:solidFill>
            <a:srgbClr val="F1F5F9"/>
          </a:solidFill>
          <a:ln w="19050">
            <a:solidFill>
              <a:srgbClr val="0077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077B6"/>
                </a:solidFill>
              </a:defRPr>
            </a:pPr>
            <a:r>
              <a:t>📷 KHUNG ẢNH THẬT CHÍNH THỨC</a:t>
            </a:r>
          </a:p>
          <a:p>
            <a:pPr algn="ctr">
              <a:spcBef>
                <a:spcPts val="1400"/>
              </a:spcBef>
              <a:defRPr sz="1050">
                <a:solidFill>
                  <a:srgbClr val="64748B"/>
                </a:solidFill>
              </a:defRPr>
            </a:pPr>
            <a:r>
              <a:t>[Ảnh Thật: Lễ Khai giảng khóa đầu tiên hoặc Cổng trường]</a:t>
            </a:r>
            <a:br/>
            <a:br/>
            <a:r>
              <a:t>Ảnh chụp tư liệu lịch sử ngày thành lập trường hoặc biển tên cổng trường chính thức.</a:t>
            </a:r>
            <a:br/>
            <a:r>
              <a:t>(Nhấp chuột phải -&gt; Change Picture để chèn ảnh thật)</a:t>
            </a:r>
          </a:p>
          <a:p>
            <a:pPr algn="ctr">
              <a:spcBef>
                <a:spcPts val="2000"/>
              </a:spcBef>
              <a:defRPr sz="950" i="1">
                <a:solidFill>
                  <a:srgbClr val="64748B"/>
                </a:solidFill>
              </a:defRPr>
            </a:pPr>
            <a:r>
              <a:t>Nguồn ảnh: THPT Chuyên Hùng Vương – thptchv.edu.vn</a:t>
            </a:r>
          </a:p>
        </p:txBody>
      </p:sp>
      <p:sp>
        <p:nvSpPr>
          <p:cNvPr id="8" name="TextBox 7"/>
          <p:cNvSpPr txBox="1"/>
          <p:nvPr/>
        </p:nvSpPr>
        <p:spPr>
          <a:xfrm>
            <a:off x="731520" y="6446520"/>
            <a:ext cx="10698480" cy="320040"/>
          </a:xfrm>
          <a:prstGeom prst="rect">
            <a:avLst/>
          </a:prstGeom>
          <a:noFill/>
        </p:spPr>
        <p:txBody>
          <a:bodyPr wrap="none">
            <a:spAutoFit/>
          </a:bodyPr>
          <a:lstStyle/>
          <a:p>
            <a:pPr>
              <a:defRPr sz="1000">
                <a:solidFill>
                  <a:srgbClr val="64748B"/>
                </a:solidFill>
                <a:latin typeface="Arial"/>
              </a:defRPr>
            </a:pPr>
            <a:r>
              <a:t>Báo cáo &amp; Thuyết trình Tổng quan THPT Chuyên Hùng Vương | Đơn vị thực hiện: Nhóm Lớp 9A12  •  Slide 4/30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8229600" cy="320040"/>
          </a:xfrm>
          <a:prstGeom prst="rect">
            <a:avLst/>
          </a:prstGeom>
          <a:noFill/>
        </p:spPr>
        <p:txBody>
          <a:bodyPr wrap="none">
            <a:spAutoFit/>
          </a:bodyPr>
          <a:lstStyle/>
          <a:p>
            <a:pPr>
              <a:defRPr sz="1100" b="1">
                <a:solidFill>
                  <a:srgbClr val="0077B6"/>
                </a:solidFill>
                <a:latin typeface="Arial"/>
              </a:defRPr>
            </a:pPr>
            <a:r>
              <a:t>CHƯƠNG I: LỊCH SỬ HÌNH THÀNH</a:t>
            </a:r>
          </a:p>
        </p:txBody>
      </p:sp>
      <p:sp>
        <p:nvSpPr>
          <p:cNvPr id="4" name="TextBox 3"/>
          <p:cNvSpPr txBox="1"/>
          <p:nvPr/>
        </p:nvSpPr>
        <p:spPr>
          <a:xfrm>
            <a:off x="731520" y="566928"/>
            <a:ext cx="9601200" cy="594360"/>
          </a:xfrm>
          <a:prstGeom prst="rect">
            <a:avLst/>
          </a:prstGeom>
          <a:noFill/>
        </p:spPr>
        <p:txBody>
          <a:bodyPr wrap="none">
            <a:spAutoFit/>
          </a:bodyPr>
          <a:lstStyle/>
          <a:p>
            <a:pPr>
              <a:defRPr sz="2000" b="1">
                <a:solidFill>
                  <a:srgbClr val="0B2545"/>
                </a:solidFill>
                <a:latin typeface="Arial"/>
              </a:defRPr>
            </a:pPr>
            <a:r>
              <a:t>CÁC MỐC DANH HIỆU THI ĐUA VÀ KIỂM ĐỊNH CHẤT LƯỢNG</a:t>
            </a:r>
          </a:p>
        </p:txBody>
      </p:sp>
      <p:sp>
        <p:nvSpPr>
          <p:cNvPr id="5" name="TextBox 4"/>
          <p:cNvSpPr txBox="1"/>
          <p:nvPr/>
        </p:nvSpPr>
        <p:spPr>
          <a:xfrm>
            <a:off x="10058400" y="292608"/>
            <a:ext cx="1463040" cy="320040"/>
          </a:xfrm>
          <a:prstGeom prst="rect">
            <a:avLst/>
          </a:prstGeom>
          <a:noFill/>
        </p:spPr>
        <p:txBody>
          <a:bodyPr wrap="none">
            <a:spAutoFit/>
          </a:bodyPr>
          <a:lstStyle/>
          <a:p>
            <a:pPr algn="r">
              <a:defRPr sz="1100" b="1">
                <a:solidFill>
                  <a:srgbClr val="64748B"/>
                </a:solidFill>
                <a:latin typeface="Arial"/>
              </a:defRPr>
            </a:pPr>
            <a:r>
              <a:t>05 / 30</a:t>
            </a:r>
          </a:p>
        </p:txBody>
      </p:sp>
      <p:sp>
        <p:nvSpPr>
          <p:cNvPr id="6" name="Rounded Rectangle 5"/>
          <p:cNvSpPr/>
          <p:nvPr/>
        </p:nvSpPr>
        <p:spPr>
          <a:xfrm>
            <a:off x="731520" y="1280160"/>
            <a:ext cx="10698480" cy="868680"/>
          </a:xfrm>
          <a:prstGeom prst="roundRect">
            <a:avLst/>
          </a:prstGeom>
          <a:solidFill>
            <a:srgbClr val="FFFFFF"/>
          </a:solidFill>
          <a:ln w="19050">
            <a:solidFill>
              <a:srgbClr val="0077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0077B6"/>
                </a:solidFill>
              </a:defRPr>
            </a:pPr>
            <a:r>
              <a:t>🏆 NĂM 2005 — ĐẠT CHUẨN QUỐC GIA GIAI ĐOẠN ĐẦU</a:t>
            </a:r>
          </a:p>
          <a:p>
            <a:pPr>
              <a:spcBef>
                <a:spcPts val="200"/>
              </a:spcBef>
              <a:defRPr sz="1100">
                <a:solidFill>
                  <a:srgbClr val="0F172A"/>
                </a:solidFill>
              </a:defRPr>
            </a:pPr>
            <a:r>
              <a:t>Trường THPT đầu tiên của tỉnh Bình Dương được công nhận đạt Chuẩn Quốc gia giai đoạn 2001–2010.</a:t>
            </a:r>
          </a:p>
        </p:txBody>
      </p:sp>
      <p:sp>
        <p:nvSpPr>
          <p:cNvPr id="7" name="Rounded Rectangle 6"/>
          <p:cNvSpPr/>
          <p:nvPr/>
        </p:nvSpPr>
        <p:spPr>
          <a:xfrm>
            <a:off x="731520" y="2240280"/>
            <a:ext cx="10698480" cy="868680"/>
          </a:xfrm>
          <a:prstGeom prst="roundRect">
            <a:avLst/>
          </a:prstGeom>
          <a:solidFill>
            <a:srgbClr val="FFFFFF"/>
          </a:solidFill>
          <a:ln w="19050">
            <a:solidFill>
              <a:srgbClr val="1340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134074"/>
                </a:solidFill>
              </a:defRPr>
            </a:pPr>
            <a:r>
              <a:t>🏆 NĂM 2011 — KIỂM ĐỊNH CHẤT LƯỢNG CẤP ĐỘ 3</a:t>
            </a:r>
          </a:p>
          <a:p>
            <a:pPr>
              <a:spcBef>
                <a:spcPts val="200"/>
              </a:spcBef>
              <a:defRPr sz="1100">
                <a:solidFill>
                  <a:srgbClr val="0F172A"/>
                </a:solidFill>
              </a:defRPr>
            </a:pPr>
            <a:r>
              <a:t>Đạt chuẩn Kiểm định chất lượng giáo dục Cấp độ 3 (mức cao nhất) và duy trì vững chắc qua mọi chu kỳ kiểm định.</a:t>
            </a:r>
          </a:p>
        </p:txBody>
      </p:sp>
      <p:sp>
        <p:nvSpPr>
          <p:cNvPr id="8" name="Rounded Rectangle 7"/>
          <p:cNvSpPr/>
          <p:nvPr/>
        </p:nvSpPr>
        <p:spPr>
          <a:xfrm>
            <a:off x="731520" y="3200400"/>
            <a:ext cx="10698480" cy="868680"/>
          </a:xfrm>
          <a:prstGeom prst="roundRect">
            <a:avLst/>
          </a:prstGeom>
          <a:solidFill>
            <a:srgbClr val="FFFFFF"/>
          </a:solidFill>
          <a:ln w="19050">
            <a:solidFill>
              <a:srgbClr val="EE9B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EE9B00"/>
                </a:solidFill>
              </a:defRPr>
            </a:pPr>
            <a:r>
              <a:t>🏆 NĂM 2018 — CỜ THI ĐUA CỦA THỦ TƯỚNG CHÍNH PHỦ</a:t>
            </a:r>
          </a:p>
          <a:p>
            <a:pPr>
              <a:spcBef>
                <a:spcPts val="200"/>
              </a:spcBef>
              <a:defRPr sz="1100">
                <a:solidFill>
                  <a:srgbClr val="0F172A"/>
                </a:solidFill>
              </a:defRPr>
            </a:pPr>
            <a:r>
              <a:t>Ghi nhận thành tích xuất sắc dẫn đầu phong trào thi đua dạy tốt - học tốt khối THPT toàn quốc (lần 2).</a:t>
            </a:r>
          </a:p>
        </p:txBody>
      </p:sp>
      <p:sp>
        <p:nvSpPr>
          <p:cNvPr id="9" name="Rounded Rectangle 8"/>
          <p:cNvSpPr/>
          <p:nvPr/>
        </p:nvSpPr>
        <p:spPr>
          <a:xfrm>
            <a:off x="731520" y="4160520"/>
            <a:ext cx="10698480" cy="868680"/>
          </a:xfrm>
          <a:prstGeom prst="roundRect">
            <a:avLst/>
          </a:prstGeom>
          <a:solidFill>
            <a:srgbClr val="FFFFFF"/>
          </a:solidFill>
          <a:ln w="19050">
            <a:solidFill>
              <a:srgbClr val="EE9B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EE9B00"/>
                </a:solidFill>
              </a:defRPr>
            </a:pPr>
            <a:r>
              <a:t>🏆 NĂM 2020 — HUÂN CHƯƠNG LAO ĐỘNG HẠNG BA</a:t>
            </a:r>
          </a:p>
          <a:p>
            <a:pPr>
              <a:spcBef>
                <a:spcPts val="200"/>
              </a:spcBef>
              <a:defRPr sz="1100">
                <a:solidFill>
                  <a:srgbClr val="0F172A"/>
                </a:solidFill>
              </a:defRPr>
            </a:pPr>
            <a:r>
              <a:t>Phần thưởng cao quý do Chủ tịch nước trao tặng ghi nhận những cống hiến to lớn cho sự nghiệp giáo dục.</a:t>
            </a:r>
          </a:p>
        </p:txBody>
      </p:sp>
      <p:sp>
        <p:nvSpPr>
          <p:cNvPr id="10" name="Rounded Rectangle 9"/>
          <p:cNvSpPr/>
          <p:nvPr/>
        </p:nvSpPr>
        <p:spPr>
          <a:xfrm>
            <a:off x="731520" y="5120640"/>
            <a:ext cx="10698480" cy="868680"/>
          </a:xfrm>
          <a:prstGeom prst="roundRect">
            <a:avLst/>
          </a:prstGeom>
          <a:solidFill>
            <a:srgbClr val="FFFFFF"/>
          </a:solidFill>
          <a:ln w="19050">
            <a:solidFill>
              <a:srgbClr val="0077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0077B6"/>
                </a:solidFill>
              </a:defRPr>
            </a:pPr>
            <a:r>
              <a:t>🏆 NĂM 2026 — KỶ NIỆM 30 NĂM NGÀY THÀNH LẬP</a:t>
            </a:r>
          </a:p>
          <a:p>
            <a:pPr>
              <a:spcBef>
                <a:spcPts val="200"/>
              </a:spcBef>
              <a:defRPr sz="1100">
                <a:solidFill>
                  <a:srgbClr val="0F172A"/>
                </a:solidFill>
              </a:defRPr>
            </a:pPr>
            <a:r>
              <a:t>Hành trình 30 năm (1996–2026) vững bước vươn tầm, triển khai theo Kế hoạch 111/KH-THPTCHV ngày 12/03/2026.</a:t>
            </a:r>
          </a:p>
        </p:txBody>
      </p:sp>
      <p:sp>
        <p:nvSpPr>
          <p:cNvPr id="11" name="TextBox 10"/>
          <p:cNvSpPr txBox="1"/>
          <p:nvPr/>
        </p:nvSpPr>
        <p:spPr>
          <a:xfrm>
            <a:off x="731520" y="6446520"/>
            <a:ext cx="10698480" cy="320040"/>
          </a:xfrm>
          <a:prstGeom prst="rect">
            <a:avLst/>
          </a:prstGeom>
          <a:noFill/>
        </p:spPr>
        <p:txBody>
          <a:bodyPr wrap="none">
            <a:spAutoFit/>
          </a:bodyPr>
          <a:lstStyle/>
          <a:p>
            <a:pPr>
              <a:defRPr sz="1000">
                <a:solidFill>
                  <a:srgbClr val="64748B"/>
                </a:solidFill>
                <a:latin typeface="Arial"/>
              </a:defRPr>
            </a:pPr>
            <a:r>
              <a:t>Báo cáo &amp; Thuyết trình Tổng quan THPT Chuyên Hùng Vương | Đơn vị thực hiện: Nhóm Lớp 9A12  •  Slide 5/30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8229600" cy="320040"/>
          </a:xfrm>
          <a:prstGeom prst="rect">
            <a:avLst/>
          </a:prstGeom>
          <a:noFill/>
        </p:spPr>
        <p:txBody>
          <a:bodyPr wrap="none">
            <a:spAutoFit/>
          </a:bodyPr>
          <a:lstStyle/>
          <a:p>
            <a:pPr>
              <a:defRPr sz="1100" b="1">
                <a:solidFill>
                  <a:srgbClr val="0077B6"/>
                </a:solidFill>
                <a:latin typeface="Arial"/>
              </a:defRPr>
            </a:pPr>
            <a:r>
              <a:t>CHƯƠNG I: LỊCH SỬ HÌNH THÀNH</a:t>
            </a:r>
          </a:p>
        </p:txBody>
      </p:sp>
      <p:sp>
        <p:nvSpPr>
          <p:cNvPr id="4" name="TextBox 3"/>
          <p:cNvSpPr txBox="1"/>
          <p:nvPr/>
        </p:nvSpPr>
        <p:spPr>
          <a:xfrm>
            <a:off x="731520" y="566928"/>
            <a:ext cx="9601200" cy="594360"/>
          </a:xfrm>
          <a:prstGeom prst="rect">
            <a:avLst/>
          </a:prstGeom>
          <a:noFill/>
        </p:spPr>
        <p:txBody>
          <a:bodyPr wrap="none">
            <a:spAutoFit/>
          </a:bodyPr>
          <a:lstStyle/>
          <a:p>
            <a:pPr>
              <a:defRPr sz="2000" b="1">
                <a:solidFill>
                  <a:srgbClr val="0B2545"/>
                </a:solidFill>
                <a:latin typeface="Arial"/>
              </a:defRPr>
            </a:pPr>
            <a:r>
              <a:t>SỨ MỆNH CỦA TRƯỜNG THPT CHUYÊN HÙNG VƯƠNG</a:t>
            </a:r>
          </a:p>
        </p:txBody>
      </p:sp>
      <p:sp>
        <p:nvSpPr>
          <p:cNvPr id="5" name="TextBox 4"/>
          <p:cNvSpPr txBox="1"/>
          <p:nvPr/>
        </p:nvSpPr>
        <p:spPr>
          <a:xfrm>
            <a:off x="10058400" y="292608"/>
            <a:ext cx="1463040" cy="320040"/>
          </a:xfrm>
          <a:prstGeom prst="rect">
            <a:avLst/>
          </a:prstGeom>
          <a:noFill/>
        </p:spPr>
        <p:txBody>
          <a:bodyPr wrap="none">
            <a:spAutoFit/>
          </a:bodyPr>
          <a:lstStyle/>
          <a:p>
            <a:pPr algn="r">
              <a:defRPr sz="1100" b="1">
                <a:solidFill>
                  <a:srgbClr val="64748B"/>
                </a:solidFill>
                <a:latin typeface="Arial"/>
              </a:defRPr>
            </a:pPr>
            <a:r>
              <a:t>06 / 30</a:t>
            </a:r>
          </a:p>
        </p:txBody>
      </p:sp>
      <p:sp>
        <p:nvSpPr>
          <p:cNvPr id="6" name="Rounded Rectangle 5"/>
          <p:cNvSpPr/>
          <p:nvPr/>
        </p:nvSpPr>
        <p:spPr>
          <a:xfrm>
            <a:off x="731520" y="1280160"/>
            <a:ext cx="10698480"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0077B6"/>
                </a:solidFill>
              </a:defRPr>
            </a:pPr>
            <a:r>
              <a:t>🎯 SỨ MỆNH GIÁO DỤC TOÀN DIỆN VÀ BỒI DƯỠNG NHÂN TÀI</a:t>
            </a:r>
          </a:p>
          <a:p>
            <a:pPr>
              <a:spcBef>
                <a:spcPts val="800"/>
              </a:spcBef>
              <a:defRPr sz="1200">
                <a:solidFill>
                  <a:srgbClr val="0F172A"/>
                </a:solidFill>
              </a:defRPr>
            </a:pPr>
            <a:r>
              <a:t>• 1. Tạo lập Môi trường Học tập Tích cực: Xây dựng môi trường sư phạm thân thiện, tích cực, dân chủ và giàu cảm hứng để phát huy tối đa tư chất thông minh và khả năng sáng tạo độc lập của từng học sinh.</a:t>
            </a:r>
          </a:p>
          <a:p>
            <a:pPr>
              <a:spcBef>
                <a:spcPts val="800"/>
              </a:spcBef>
              <a:defRPr sz="1200">
                <a:solidFill>
                  <a:srgbClr val="0F172A"/>
                </a:solidFill>
              </a:defRPr>
            </a:pPr>
            <a:r>
              <a:t>• 2. Đào tạo Phẩm chất &amp; Kỹ năng Toàn diện: Đào tạo học sinh có kỷ luật tốt, kiến thức chuyên sâu vững vàng, kỹ năng sống phong phú, có tư duy phản biện, khát vọng vươn lên và phương pháp tự học suốt đời.</a:t>
            </a:r>
          </a:p>
          <a:p>
            <a:pPr>
              <a:spcBef>
                <a:spcPts val="800"/>
              </a:spcBef>
              <a:defRPr sz="1200">
                <a:solidFill>
                  <a:srgbClr val="0F172A"/>
                </a:solidFill>
              </a:defRPr>
            </a:pPr>
            <a:r>
              <a:t>• 3. Phát hiện &amp; Đào tạo Nhân tài Mũi nhọn: Tuyển chọn, bồi dưỡng học sinh khá giỏi thành nhân tài mũi nhọn, đáp ứng yêu cầu cung cấp nguồn nhân lực chất lượng cao phục vụ các ngành kinh tế - xã hội then chốt.</a:t>
            </a:r>
          </a:p>
          <a:p>
            <a:pPr>
              <a:spcBef>
                <a:spcPts val="800"/>
              </a:spcBef>
              <a:defRPr sz="1200">
                <a:solidFill>
                  <a:srgbClr val="0F172A"/>
                </a:solidFill>
              </a:defRPr>
            </a:pPr>
            <a:r>
              <a:t>• 4. Thúc đẩy Nghiên cứu Khoa học &amp; STEM: Hướng dẫn học sinh tiếp cận phương pháp nghiên cứu thực nghiệm, làm quen với công nghệ hiện đại và tích cực tham gia các cuộc thi KHKT các cấp.</a:t>
            </a:r>
          </a:p>
          <a:p>
            <a:pPr>
              <a:spcBef>
                <a:spcPts val="800"/>
              </a:spcBef>
              <a:defRPr sz="1200">
                <a:solidFill>
                  <a:srgbClr val="0F172A"/>
                </a:solidFill>
              </a:defRPr>
            </a:pPr>
            <a:r>
              <a:t>• 5. Mở rộng Hợp tác &amp; Hội nhập Quốc tế: Giao lưu, liên kết với các cơ sở giáo dục, viện nghiên cứu uy tín trong và ngoài nước để nâng cao chất lượng đào tạo và mở rộng cơ hội học bổng du học.</a:t>
            </a:r>
          </a:p>
        </p:txBody>
      </p:sp>
      <p:sp>
        <p:nvSpPr>
          <p:cNvPr id="7" name="TextBox 6"/>
          <p:cNvSpPr txBox="1"/>
          <p:nvPr/>
        </p:nvSpPr>
        <p:spPr>
          <a:xfrm>
            <a:off x="731520" y="6446520"/>
            <a:ext cx="10698480" cy="320040"/>
          </a:xfrm>
          <a:prstGeom prst="rect">
            <a:avLst/>
          </a:prstGeom>
          <a:noFill/>
        </p:spPr>
        <p:txBody>
          <a:bodyPr wrap="none">
            <a:spAutoFit/>
          </a:bodyPr>
          <a:lstStyle/>
          <a:p>
            <a:pPr>
              <a:defRPr sz="1000">
                <a:solidFill>
                  <a:srgbClr val="64748B"/>
                </a:solidFill>
                <a:latin typeface="Arial"/>
              </a:defRPr>
            </a:pPr>
            <a:r>
              <a:t>Báo cáo &amp; Thuyết trình Tổng quan THPT Chuyên Hùng Vương | Đơn vị thực hiện: Nhóm Lớp 9A12  •  Slide 6/30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8229600" cy="320040"/>
          </a:xfrm>
          <a:prstGeom prst="rect">
            <a:avLst/>
          </a:prstGeom>
          <a:noFill/>
        </p:spPr>
        <p:txBody>
          <a:bodyPr wrap="none">
            <a:spAutoFit/>
          </a:bodyPr>
          <a:lstStyle/>
          <a:p>
            <a:pPr>
              <a:defRPr sz="1100" b="1">
                <a:solidFill>
                  <a:srgbClr val="0077B6"/>
                </a:solidFill>
                <a:latin typeface="Arial"/>
              </a:defRPr>
            </a:pPr>
            <a:r>
              <a:t>CHƯƠNG I: LỊCH SỬ HÌNH THÀNH</a:t>
            </a:r>
          </a:p>
        </p:txBody>
      </p:sp>
      <p:sp>
        <p:nvSpPr>
          <p:cNvPr id="4" name="TextBox 3"/>
          <p:cNvSpPr txBox="1"/>
          <p:nvPr/>
        </p:nvSpPr>
        <p:spPr>
          <a:xfrm>
            <a:off x="731520" y="566928"/>
            <a:ext cx="9601200" cy="594360"/>
          </a:xfrm>
          <a:prstGeom prst="rect">
            <a:avLst/>
          </a:prstGeom>
          <a:noFill/>
        </p:spPr>
        <p:txBody>
          <a:bodyPr wrap="none">
            <a:spAutoFit/>
          </a:bodyPr>
          <a:lstStyle/>
          <a:p>
            <a:pPr>
              <a:defRPr sz="2000" b="1">
                <a:solidFill>
                  <a:srgbClr val="0B2545"/>
                </a:solidFill>
                <a:latin typeface="Arial"/>
              </a:defRPr>
            </a:pPr>
            <a:r>
              <a:t>TẦM NHÌN ĐẾN NĂM 2030 VÀ GIÁ TRỊ CỐT LÕI</a:t>
            </a:r>
          </a:p>
        </p:txBody>
      </p:sp>
      <p:sp>
        <p:nvSpPr>
          <p:cNvPr id="5" name="TextBox 4"/>
          <p:cNvSpPr txBox="1"/>
          <p:nvPr/>
        </p:nvSpPr>
        <p:spPr>
          <a:xfrm>
            <a:off x="10058400" y="292608"/>
            <a:ext cx="1463040" cy="320040"/>
          </a:xfrm>
          <a:prstGeom prst="rect">
            <a:avLst/>
          </a:prstGeom>
          <a:noFill/>
        </p:spPr>
        <p:txBody>
          <a:bodyPr wrap="none">
            <a:spAutoFit/>
          </a:bodyPr>
          <a:lstStyle/>
          <a:p>
            <a:pPr algn="r">
              <a:defRPr sz="1100" b="1">
                <a:solidFill>
                  <a:srgbClr val="64748B"/>
                </a:solidFill>
                <a:latin typeface="Arial"/>
              </a:defRPr>
            </a:pPr>
            <a:r>
              <a:t>07 / 30</a:t>
            </a:r>
          </a:p>
        </p:txBody>
      </p:sp>
      <p:sp>
        <p:nvSpPr>
          <p:cNvPr id="6" name="Rounded Rectangle 5"/>
          <p:cNvSpPr/>
          <p:nvPr/>
        </p:nvSpPr>
        <p:spPr>
          <a:xfrm>
            <a:off x="731520" y="1280160"/>
            <a:ext cx="10698480" cy="2011680"/>
          </a:xfrm>
          <a:prstGeom prst="roundRect">
            <a:avLst/>
          </a:prstGeom>
          <a:solidFill>
            <a:srgbClr val="134074"/>
          </a:solidFill>
          <a:ln w="19050">
            <a:solidFill>
              <a:srgbClr val="EE9B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EE9B00"/>
                </a:solidFill>
              </a:defRPr>
            </a:pPr>
            <a:r>
              <a:t>🎯 TẦM NHÌN CHIẾN LƯỢC ĐẾN NĂM 2030</a:t>
            </a:r>
          </a:p>
          <a:p>
            <a:pPr>
              <a:spcBef>
                <a:spcPts val="600"/>
              </a:spcBef>
              <a:defRPr sz="1300" b="1">
                <a:solidFill>
                  <a:srgbClr val="FFFFFF"/>
                </a:solidFill>
              </a:defRPr>
            </a:pPr>
            <a:r>
              <a:t>• Mục tiêu chiến lược: Phấn đấu đến năm 2030, Trường THPT Chuyên Hùng Vương trở thành cơ sở giáo dục nằm trong TOP 20 TRƯỜNG THPT CÓ CHẤT LƯỢNG GIÁO DỤC CAO NHẤT CẢ NƯỚC.</a:t>
            </a:r>
          </a:p>
          <a:p>
            <a:pPr>
              <a:spcBef>
                <a:spcPts val="400"/>
              </a:spcBef>
              <a:defRPr sz="1200">
                <a:solidFill>
                  <a:srgbClr val="E2E8F0"/>
                </a:solidFill>
              </a:defRPr>
            </a:pPr>
            <a:r>
              <a:t>• Định hướng đào tạo: Đào tạo thế hệ học sinh vừa hồng vừa chuyên, đạt thành tích cao trong các kỳ thi Học sinh giỏi Quốc gia, Olympic Quốc tế, Kỳ thi Tốt nghiệp THPT và xét tuyển Đại học top đầu.</a:t>
            </a:r>
          </a:p>
        </p:txBody>
      </p:sp>
      <p:sp>
        <p:nvSpPr>
          <p:cNvPr id="7" name="Rounded Rectangle 6"/>
          <p:cNvSpPr/>
          <p:nvPr/>
        </p:nvSpPr>
        <p:spPr>
          <a:xfrm>
            <a:off x="731520" y="3474720"/>
            <a:ext cx="10698480" cy="2651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0B2545"/>
                </a:solidFill>
              </a:defRPr>
            </a:pPr>
            <a:r>
              <a:t>💎 HỆ GIÁ TRỊ CỐT LÕI &amp; TRIẾT LÝ GIÁO DỤC</a:t>
            </a:r>
          </a:p>
          <a:p>
            <a:pPr>
              <a:spcBef>
                <a:spcPts val="600"/>
              </a:spcBef>
              <a:defRPr sz="1200">
                <a:solidFill>
                  <a:srgbClr val="0F172A"/>
                </a:solidFill>
              </a:defRPr>
            </a:pPr>
            <a:r>
              <a:t>• 🤝 ĐOÀN KẾT VÀ HỢP TÁC: Xây dựng tập thể sư phạm và học sinh gắn kết, tôn trọng, chia sẻ và hỗ trợ cùng nhau phát triển vững bước.</a:t>
            </a:r>
          </a:p>
          <a:p>
            <a:pPr>
              <a:spcBef>
                <a:spcPts val="600"/>
              </a:spcBef>
              <a:defRPr sz="1200">
                <a:solidFill>
                  <a:srgbClr val="0F172A"/>
                </a:solidFill>
              </a:defRPr>
            </a:pPr>
            <a:r>
              <a:t>• 💡 TRUNG THỰC VÀ THÂN THIỆN: Rèn luyện nhân cách liêm chính, tôn trọng sự thật trong học thuật và xây dựng văn hóa ứng xử chuẩn mực học đường.</a:t>
            </a:r>
          </a:p>
          <a:p>
            <a:pPr>
              <a:spcBef>
                <a:spcPts val="600"/>
              </a:spcBef>
              <a:defRPr sz="1200">
                <a:solidFill>
                  <a:srgbClr val="0F172A"/>
                </a:solidFill>
              </a:defRPr>
            </a:pPr>
            <a:r>
              <a:t>• 🚀 SÁNG TẠO VÀ HỘI NHẬP: Khuyến khích tư duy đổi mới sáng tạo không ngừng nghỉ, chủ động tiếp cận tri thức hiện đại và tự tin hội nhập giáo dục quốc tế.</a:t>
            </a:r>
          </a:p>
        </p:txBody>
      </p:sp>
      <p:sp>
        <p:nvSpPr>
          <p:cNvPr id="8" name="TextBox 7"/>
          <p:cNvSpPr txBox="1"/>
          <p:nvPr/>
        </p:nvSpPr>
        <p:spPr>
          <a:xfrm>
            <a:off x="731520" y="6446520"/>
            <a:ext cx="10698480" cy="320040"/>
          </a:xfrm>
          <a:prstGeom prst="rect">
            <a:avLst/>
          </a:prstGeom>
          <a:noFill/>
        </p:spPr>
        <p:txBody>
          <a:bodyPr wrap="none">
            <a:spAutoFit/>
          </a:bodyPr>
          <a:lstStyle/>
          <a:p>
            <a:pPr>
              <a:defRPr sz="1000">
                <a:solidFill>
                  <a:srgbClr val="64748B"/>
                </a:solidFill>
                <a:latin typeface="Arial"/>
              </a:defRPr>
            </a:pPr>
            <a:r>
              <a:t>Báo cáo &amp; Thuyết trình Tổng quan THPT Chuyên Hùng Vương | Đơn vị thực hiện: Nhóm Lớp 9A12  •  Slide 7/30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8229600" cy="320040"/>
          </a:xfrm>
          <a:prstGeom prst="rect">
            <a:avLst/>
          </a:prstGeom>
          <a:noFill/>
        </p:spPr>
        <p:txBody>
          <a:bodyPr wrap="none">
            <a:spAutoFit/>
          </a:bodyPr>
          <a:lstStyle/>
          <a:p>
            <a:pPr>
              <a:defRPr sz="1100" b="1">
                <a:solidFill>
                  <a:srgbClr val="0077B6"/>
                </a:solidFill>
                <a:latin typeface="Arial"/>
              </a:defRPr>
            </a:pPr>
            <a:r>
              <a:t>CHƯƠNG II: QUY MÔ &amp; ĐỘI NGŨ</a:t>
            </a:r>
          </a:p>
        </p:txBody>
      </p:sp>
      <p:sp>
        <p:nvSpPr>
          <p:cNvPr id="4" name="TextBox 3"/>
          <p:cNvSpPr txBox="1"/>
          <p:nvPr/>
        </p:nvSpPr>
        <p:spPr>
          <a:xfrm>
            <a:off x="731520" y="566928"/>
            <a:ext cx="9601200" cy="594360"/>
          </a:xfrm>
          <a:prstGeom prst="rect">
            <a:avLst/>
          </a:prstGeom>
          <a:noFill/>
        </p:spPr>
        <p:txBody>
          <a:bodyPr wrap="none">
            <a:spAutoFit/>
          </a:bodyPr>
          <a:lstStyle/>
          <a:p>
            <a:pPr>
              <a:defRPr sz="2000" b="1">
                <a:solidFill>
                  <a:srgbClr val="0B2545"/>
                </a:solidFill>
                <a:latin typeface="Arial"/>
              </a:defRPr>
            </a:pPr>
            <a:r>
              <a:t>QUY MÔ HỌC SINH VÀ CƠ CẤU LỚP CHUYÊN NHÀ TRƯỜNG</a:t>
            </a:r>
          </a:p>
        </p:txBody>
      </p:sp>
      <p:sp>
        <p:nvSpPr>
          <p:cNvPr id="5" name="TextBox 4"/>
          <p:cNvSpPr txBox="1"/>
          <p:nvPr/>
        </p:nvSpPr>
        <p:spPr>
          <a:xfrm>
            <a:off x="10058400" y="292608"/>
            <a:ext cx="1463040" cy="320040"/>
          </a:xfrm>
          <a:prstGeom prst="rect">
            <a:avLst/>
          </a:prstGeom>
          <a:noFill/>
        </p:spPr>
        <p:txBody>
          <a:bodyPr wrap="none">
            <a:spAutoFit/>
          </a:bodyPr>
          <a:lstStyle/>
          <a:p>
            <a:pPr algn="r">
              <a:defRPr sz="1100" b="1">
                <a:solidFill>
                  <a:srgbClr val="64748B"/>
                </a:solidFill>
                <a:latin typeface="Arial"/>
              </a:defRPr>
            </a:pPr>
            <a:r>
              <a:t>08 / 30</a:t>
            </a:r>
          </a:p>
        </p:txBody>
      </p:sp>
      <p:sp>
        <p:nvSpPr>
          <p:cNvPr id="6" name="Rounded Rectangle 5"/>
          <p:cNvSpPr/>
          <p:nvPr/>
        </p:nvSpPr>
        <p:spPr>
          <a:xfrm>
            <a:off x="731520" y="1280160"/>
            <a:ext cx="5943600"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0077B6"/>
                </a:solidFill>
              </a:defRPr>
            </a:pPr>
            <a:r>
              <a:t>📊 THỐNG KÊ QUY MÔ GIÁO DỤC LỚN (BIG NUMBERS)</a:t>
            </a:r>
          </a:p>
          <a:p>
            <a:pPr>
              <a:spcBef>
                <a:spcPts val="600"/>
              </a:spcBef>
              <a:defRPr sz="1150">
                <a:solidFill>
                  <a:srgbClr val="0F172A"/>
                </a:solidFill>
              </a:defRPr>
            </a:pPr>
            <a:r>
              <a:t>• 930 Học sinh: Quy mô toàn trường quy tụ gần 1.000 học sinh xuất sắc được tuyển chọn khắt khe.</a:t>
            </a:r>
          </a:p>
          <a:p>
            <a:pPr>
              <a:spcBef>
                <a:spcPts val="600"/>
              </a:spcBef>
              <a:defRPr sz="1150">
                <a:solidFill>
                  <a:srgbClr val="0F172A"/>
                </a:solidFill>
              </a:defRPr>
            </a:pPr>
            <a:r>
              <a:t>• 28 Lớp Chuyên: Tổ chức học tập chuyên sâu đồng bộ ở cả 3 khối lớp 10, 11 và 12.</a:t>
            </a:r>
          </a:p>
          <a:p>
            <a:pPr>
              <a:spcBef>
                <a:spcPts val="600"/>
              </a:spcBef>
              <a:defRPr sz="1150">
                <a:solidFill>
                  <a:srgbClr val="0F172A"/>
                </a:solidFill>
              </a:defRPr>
            </a:pPr>
            <a:r>
              <a:t>• 09 Môn Chuyên: Gồm Toán, Vật lý, Hóa học, Sinh học, Tin học, Ngữ văn, Lịch sử, Địa lý, Tiếng Anh.</a:t>
            </a:r>
          </a:p>
          <a:p>
            <a:pPr>
              <a:spcBef>
                <a:spcPts val="600"/>
              </a:spcBef>
              <a:defRPr sz="1150">
                <a:solidFill>
                  <a:srgbClr val="0F172A"/>
                </a:solidFill>
              </a:defRPr>
            </a:pPr>
            <a:r>
              <a:t>• &gt;300 Tuyển mới: Chỉ tiêu tuyển sinh vào Lớp 10 hằng năm với chất lượng đầu vào rất cao.</a:t>
            </a:r>
          </a:p>
          <a:p>
            <a:pPr>
              <a:spcBef>
                <a:spcPts val="600"/>
              </a:spcBef>
              <a:defRPr sz="1150">
                <a:solidFill>
                  <a:srgbClr val="0F172A"/>
                </a:solidFill>
              </a:defRPr>
            </a:pPr>
            <a:r>
              <a:t>• &gt;900 Đoàn viên: Hoạt động sôi nổi trong 28 chi đoàn học sinh với tinh thần xung kích, sáng tạo.</a:t>
            </a:r>
          </a:p>
          <a:p>
            <a:pPr>
              <a:spcBef>
                <a:spcPts val="600"/>
              </a:spcBef>
              <a:defRPr sz="1150">
                <a:solidFill>
                  <a:srgbClr val="0F172A"/>
                </a:solidFill>
              </a:defRPr>
            </a:pPr>
            <a:r>
              <a:t>• Địa bàn Tuyển sinh: Thu hút và đào tạo học sinh tài năng trên địa bàn TP. Hồ Chí Minh và Bình Dương.</a:t>
            </a:r>
          </a:p>
        </p:txBody>
      </p:sp>
      <p:sp>
        <p:nvSpPr>
          <p:cNvPr id="7" name="Rounded Rectangle 6"/>
          <p:cNvSpPr/>
          <p:nvPr/>
        </p:nvSpPr>
        <p:spPr>
          <a:xfrm>
            <a:off x="7040880" y="1280160"/>
            <a:ext cx="4389120" cy="4846320"/>
          </a:xfrm>
          <a:prstGeom prst="roundRect">
            <a:avLst/>
          </a:prstGeom>
          <a:solidFill>
            <a:srgbClr val="F1F5F9"/>
          </a:solidFill>
          <a:ln w="19050">
            <a:solidFill>
              <a:srgbClr val="0077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077B6"/>
                </a:solidFill>
              </a:defRPr>
            </a:pPr>
            <a:r>
              <a:t>📷 KHUNG ẢNH THẬT CHÍNH THỨC</a:t>
            </a:r>
          </a:p>
          <a:p>
            <a:pPr algn="ctr">
              <a:spcBef>
                <a:spcPts val="1400"/>
              </a:spcBef>
              <a:defRPr sz="1050">
                <a:solidFill>
                  <a:srgbClr val="64748B"/>
                </a:solidFill>
              </a:defRPr>
            </a:pPr>
            <a:r>
              <a:t>[Ảnh Thật: Học sinh THPT Chuyên Hùng Vương trong giờ học / Lễ Khai giảng]</a:t>
            </a:r>
            <a:br/>
            <a:br/>
            <a:r>
              <a:t>Hình ảnh học sinh trường trong trang phục truyền thống tham dự lễ khai giảng hoặc sinh hoạt tập thể.</a:t>
            </a:r>
            <a:br/>
            <a:r>
              <a:t>(Nhấp chuột phải -&gt; Change Picture để chèn ảnh thật)</a:t>
            </a:r>
          </a:p>
          <a:p>
            <a:pPr algn="ctr">
              <a:spcBef>
                <a:spcPts val="2000"/>
              </a:spcBef>
              <a:defRPr sz="950" i="1">
                <a:solidFill>
                  <a:srgbClr val="64748B"/>
                </a:solidFill>
              </a:defRPr>
            </a:pPr>
            <a:r>
              <a:t>Nguồn ảnh: THPT Chuyên Hùng Vương – thptchv.edu.vn</a:t>
            </a:r>
          </a:p>
        </p:txBody>
      </p:sp>
      <p:sp>
        <p:nvSpPr>
          <p:cNvPr id="8" name="TextBox 7"/>
          <p:cNvSpPr txBox="1"/>
          <p:nvPr/>
        </p:nvSpPr>
        <p:spPr>
          <a:xfrm>
            <a:off x="731520" y="6446520"/>
            <a:ext cx="10698480" cy="320040"/>
          </a:xfrm>
          <a:prstGeom prst="rect">
            <a:avLst/>
          </a:prstGeom>
          <a:noFill/>
        </p:spPr>
        <p:txBody>
          <a:bodyPr wrap="none">
            <a:spAutoFit/>
          </a:bodyPr>
          <a:lstStyle/>
          <a:p>
            <a:pPr>
              <a:defRPr sz="1000">
                <a:solidFill>
                  <a:srgbClr val="64748B"/>
                </a:solidFill>
                <a:latin typeface="Arial"/>
              </a:defRPr>
            </a:pPr>
            <a:r>
              <a:t>Báo cáo &amp; Thuyết trình Tổng quan THPT Chuyên Hùng Vương | Đơn vị thực hiện: Nhóm Lớp 9A12  •  Slide 8/30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8229600" cy="320040"/>
          </a:xfrm>
          <a:prstGeom prst="rect">
            <a:avLst/>
          </a:prstGeom>
          <a:noFill/>
        </p:spPr>
        <p:txBody>
          <a:bodyPr wrap="none">
            <a:spAutoFit/>
          </a:bodyPr>
          <a:lstStyle/>
          <a:p>
            <a:pPr>
              <a:defRPr sz="1100" b="1">
                <a:solidFill>
                  <a:srgbClr val="0077B6"/>
                </a:solidFill>
                <a:latin typeface="Arial"/>
              </a:defRPr>
            </a:pPr>
            <a:r>
              <a:t>CHƯƠNG II: QUY MÔ &amp; ĐỘI NGŨ</a:t>
            </a:r>
          </a:p>
        </p:txBody>
      </p:sp>
      <p:sp>
        <p:nvSpPr>
          <p:cNvPr id="4" name="TextBox 3"/>
          <p:cNvSpPr txBox="1"/>
          <p:nvPr/>
        </p:nvSpPr>
        <p:spPr>
          <a:xfrm>
            <a:off x="731520" y="566928"/>
            <a:ext cx="9601200" cy="594360"/>
          </a:xfrm>
          <a:prstGeom prst="rect">
            <a:avLst/>
          </a:prstGeom>
          <a:noFill/>
        </p:spPr>
        <p:txBody>
          <a:bodyPr wrap="none">
            <a:spAutoFit/>
          </a:bodyPr>
          <a:lstStyle/>
          <a:p>
            <a:pPr>
              <a:defRPr sz="2000" b="1">
                <a:solidFill>
                  <a:srgbClr val="0B2545"/>
                </a:solidFill>
                <a:latin typeface="Arial"/>
              </a:defRPr>
            </a:pPr>
            <a:r>
              <a:t>ĐỘI NGŨ CÁN BỘ, GIÁO VIÊN VÀ NHÂN VIÊN NHÀ TRƯỜNG</a:t>
            </a:r>
          </a:p>
        </p:txBody>
      </p:sp>
      <p:sp>
        <p:nvSpPr>
          <p:cNvPr id="5" name="TextBox 4"/>
          <p:cNvSpPr txBox="1"/>
          <p:nvPr/>
        </p:nvSpPr>
        <p:spPr>
          <a:xfrm>
            <a:off x="10058400" y="292608"/>
            <a:ext cx="1463040" cy="320040"/>
          </a:xfrm>
          <a:prstGeom prst="rect">
            <a:avLst/>
          </a:prstGeom>
          <a:noFill/>
        </p:spPr>
        <p:txBody>
          <a:bodyPr wrap="none">
            <a:spAutoFit/>
          </a:bodyPr>
          <a:lstStyle/>
          <a:p>
            <a:pPr algn="r">
              <a:defRPr sz="1100" b="1">
                <a:solidFill>
                  <a:srgbClr val="64748B"/>
                </a:solidFill>
                <a:latin typeface="Arial"/>
              </a:defRPr>
            </a:pPr>
            <a:r>
              <a:t>09 / 30</a:t>
            </a:r>
          </a:p>
        </p:txBody>
      </p:sp>
      <p:sp>
        <p:nvSpPr>
          <p:cNvPr id="6" name="Rounded Rectangle 5"/>
          <p:cNvSpPr/>
          <p:nvPr/>
        </p:nvSpPr>
        <p:spPr>
          <a:xfrm>
            <a:off x="731520" y="1280160"/>
            <a:ext cx="5943600"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0077B6"/>
                </a:solidFill>
              </a:defRPr>
            </a:pPr>
            <a:r>
              <a:t>👨‍🏫 NĂNG LỰC SƯ PHẠM VÀ CƠ CẤU NHÂN SỰ CHÍNH THỨC</a:t>
            </a:r>
          </a:p>
          <a:p>
            <a:pPr>
              <a:spcBef>
                <a:spcPts val="800"/>
              </a:spcBef>
              <a:defRPr sz="1200">
                <a:solidFill>
                  <a:srgbClr val="0F172A"/>
                </a:solidFill>
              </a:defRPr>
            </a:pPr>
            <a:r>
              <a:t>• 92 Cán bộ, Giáo viên, Nhân viên (CBGVNV): 100% cán bộ, giáo viên đạt chuẩn và trên chuẩn trình độ chuyên môn, nhiều Thạc sĩ, Tiến sĩ và Giáo viên dạy giỏi cấp tỉnh/thành phố.</a:t>
            </a:r>
          </a:p>
          <a:p>
            <a:pPr>
              <a:spcBef>
                <a:spcPts val="800"/>
              </a:spcBef>
              <a:defRPr sz="1200">
                <a:solidFill>
                  <a:srgbClr val="0F172A"/>
                </a:solidFill>
              </a:defRPr>
            </a:pPr>
            <a:r>
              <a:t>• 53 Đảng viên Chi bộ Đảng: Chi bộ Đảng nhà trường giữ vai trò hạt nhân lãnh đạo chính trị toàn diện, định hướng công tác giáo dục tư tưởng và chuyên môn vững mạnh.</a:t>
            </a:r>
          </a:p>
          <a:p>
            <a:pPr>
              <a:spcBef>
                <a:spcPts val="800"/>
              </a:spcBef>
              <a:defRPr sz="1200">
                <a:solidFill>
                  <a:srgbClr val="0F172A"/>
                </a:solidFill>
              </a:defRPr>
            </a:pPr>
            <a:r>
              <a:t>• 92 Công đoàn viên Cơ sở: Tập thể công đoàn đoàn kết, gương mẫu đi đầu trong các phong trào thi đua dạy tốt - học tốt và phong trào đổi mới sáng tạo.</a:t>
            </a:r>
          </a:p>
          <a:p>
            <a:pPr>
              <a:spcBef>
                <a:spcPts val="800"/>
              </a:spcBef>
              <a:defRPr sz="1200">
                <a:solidFill>
                  <a:srgbClr val="0F172A"/>
                </a:solidFill>
              </a:defRPr>
            </a:pPr>
            <a:r>
              <a:t>• Đội ngũ Nhà giáo Tài năng: Đội ngũ chuyên gia giàu kinh nghiệm bồi dưỡng học sinh giỏi quốc gia, luôn tận tụy, sáng tạo và tiên phong áp dụng công nghệ số vào giảng dạy.</a:t>
            </a:r>
          </a:p>
        </p:txBody>
      </p:sp>
      <p:sp>
        <p:nvSpPr>
          <p:cNvPr id="7" name="Rounded Rectangle 6"/>
          <p:cNvSpPr/>
          <p:nvPr/>
        </p:nvSpPr>
        <p:spPr>
          <a:xfrm>
            <a:off x="7040880" y="1280160"/>
            <a:ext cx="4389120" cy="4846320"/>
          </a:xfrm>
          <a:prstGeom prst="roundRect">
            <a:avLst/>
          </a:prstGeom>
          <a:solidFill>
            <a:srgbClr val="F1F5F9"/>
          </a:solidFill>
          <a:ln w="19050">
            <a:solidFill>
              <a:srgbClr val="0077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077B6"/>
                </a:solidFill>
              </a:defRPr>
            </a:pPr>
            <a:r>
              <a:t>📷 KHUNG ẢNH THẬT CHÍNH THỨC</a:t>
            </a:r>
          </a:p>
          <a:p>
            <a:pPr algn="ctr">
              <a:spcBef>
                <a:spcPts val="1400"/>
              </a:spcBef>
              <a:defRPr sz="1050">
                <a:solidFill>
                  <a:srgbClr val="64748B"/>
                </a:solidFill>
              </a:defRPr>
            </a:pPr>
            <a:r>
              <a:t>[Ảnh Thật: Tập thể Cán bộ Giáo viên Nhà trường THPT Chuyên Hùng Vương]</a:t>
            </a:r>
            <a:br/>
            <a:br/>
            <a:r>
              <a:t>Ảnh chụp tập thể Hội đồng Sư phạm nhà trường trong lễ khai giảng hoặc kỷ niệm Ngày Nhà giáo Việt Nam 20/11.</a:t>
            </a:r>
            <a:br/>
            <a:r>
              <a:t>(Nhấp chuột phải -&gt; Change Picture để chèn ảnh thật)</a:t>
            </a:r>
          </a:p>
          <a:p>
            <a:pPr algn="ctr">
              <a:spcBef>
                <a:spcPts val="2000"/>
              </a:spcBef>
              <a:defRPr sz="950" i="1">
                <a:solidFill>
                  <a:srgbClr val="64748B"/>
                </a:solidFill>
              </a:defRPr>
            </a:pPr>
            <a:r>
              <a:t>Nguồn ảnh: THPT Chuyên Hùng Vương – thptchv.edu.vn</a:t>
            </a:r>
          </a:p>
        </p:txBody>
      </p:sp>
      <p:sp>
        <p:nvSpPr>
          <p:cNvPr id="8" name="TextBox 7"/>
          <p:cNvSpPr txBox="1"/>
          <p:nvPr/>
        </p:nvSpPr>
        <p:spPr>
          <a:xfrm>
            <a:off x="731520" y="6446520"/>
            <a:ext cx="10698480" cy="320040"/>
          </a:xfrm>
          <a:prstGeom prst="rect">
            <a:avLst/>
          </a:prstGeom>
          <a:noFill/>
        </p:spPr>
        <p:txBody>
          <a:bodyPr wrap="none">
            <a:spAutoFit/>
          </a:bodyPr>
          <a:lstStyle/>
          <a:p>
            <a:pPr>
              <a:defRPr sz="1000">
                <a:solidFill>
                  <a:srgbClr val="64748B"/>
                </a:solidFill>
                <a:latin typeface="Arial"/>
              </a:defRPr>
            </a:pPr>
            <a:r>
              <a:t>Báo cáo &amp; Thuyết trình Tổng quan THPT Chuyên Hùng Vương | Đơn vị thực hiện: Nhóm Lớp 9A12  •  Slide 9/30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8229600" cy="320040"/>
          </a:xfrm>
          <a:prstGeom prst="rect">
            <a:avLst/>
          </a:prstGeom>
          <a:noFill/>
        </p:spPr>
        <p:txBody>
          <a:bodyPr wrap="none">
            <a:spAutoFit/>
          </a:bodyPr>
          <a:lstStyle/>
          <a:p>
            <a:pPr>
              <a:defRPr sz="1100" b="1">
                <a:solidFill>
                  <a:srgbClr val="0077B6"/>
                </a:solidFill>
                <a:latin typeface="Arial"/>
              </a:defRPr>
            </a:pPr>
            <a:r>
              <a:t>CHƯƠNG II: QUY MÔ &amp; ĐỘI NGŨ</a:t>
            </a:r>
          </a:p>
        </p:txBody>
      </p:sp>
      <p:sp>
        <p:nvSpPr>
          <p:cNvPr id="4" name="TextBox 3"/>
          <p:cNvSpPr txBox="1"/>
          <p:nvPr/>
        </p:nvSpPr>
        <p:spPr>
          <a:xfrm>
            <a:off x="731520" y="566928"/>
            <a:ext cx="9601200" cy="594360"/>
          </a:xfrm>
          <a:prstGeom prst="rect">
            <a:avLst/>
          </a:prstGeom>
          <a:noFill/>
        </p:spPr>
        <p:txBody>
          <a:bodyPr wrap="none">
            <a:spAutoFit/>
          </a:bodyPr>
          <a:lstStyle/>
          <a:p>
            <a:pPr>
              <a:defRPr sz="2000" b="1">
                <a:solidFill>
                  <a:srgbClr val="0B2545"/>
                </a:solidFill>
                <a:latin typeface="Arial"/>
              </a:defRPr>
            </a:pPr>
            <a:r>
              <a:t>CƠ CẤU TỔ CHỨC VÀ SƠ ĐỒ BỘ MÁY QUẢN LÝ (ORGANIZATIONAL CHART)</a:t>
            </a:r>
          </a:p>
        </p:txBody>
      </p:sp>
      <p:sp>
        <p:nvSpPr>
          <p:cNvPr id="5" name="TextBox 4"/>
          <p:cNvSpPr txBox="1"/>
          <p:nvPr/>
        </p:nvSpPr>
        <p:spPr>
          <a:xfrm>
            <a:off x="10058400" y="292608"/>
            <a:ext cx="1463040" cy="320040"/>
          </a:xfrm>
          <a:prstGeom prst="rect">
            <a:avLst/>
          </a:prstGeom>
          <a:noFill/>
        </p:spPr>
        <p:txBody>
          <a:bodyPr wrap="none">
            <a:spAutoFit/>
          </a:bodyPr>
          <a:lstStyle/>
          <a:p>
            <a:pPr algn="r">
              <a:defRPr sz="1100" b="1">
                <a:solidFill>
                  <a:srgbClr val="64748B"/>
                </a:solidFill>
                <a:latin typeface="Arial"/>
              </a:defRPr>
            </a:pPr>
            <a:r>
              <a:t>10 / 30</a:t>
            </a:r>
          </a:p>
        </p:txBody>
      </p:sp>
      <p:sp>
        <p:nvSpPr>
          <p:cNvPr id="6" name="Rounded Rectangle 5"/>
          <p:cNvSpPr/>
          <p:nvPr/>
        </p:nvSpPr>
        <p:spPr>
          <a:xfrm>
            <a:off x="731520" y="1280160"/>
            <a:ext cx="10698480" cy="1188720"/>
          </a:xfrm>
          <a:prstGeom prst="roundRect">
            <a:avLst/>
          </a:prstGeom>
          <a:solidFill>
            <a:srgbClr val="0B2545"/>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EE9B00"/>
                </a:solidFill>
              </a:defRPr>
            </a:pPr>
            <a:r>
              <a:t>🏛️ LÃNH ĐẠO CAO NHẤT: CHI BỘ ĐẢNG (53 ĐẢNG VIÊN) ➔ BAN GIÁM HIỆU NHÀ TRƯỜNG</a:t>
            </a:r>
          </a:p>
          <a:p>
            <a:pPr>
              <a:spcBef>
                <a:spcPts val="400"/>
              </a:spcBef>
              <a:defRPr sz="1200">
                <a:solidFill>
                  <a:srgbClr val="FFFFFF"/>
                </a:solidFill>
              </a:defRPr>
            </a:pPr>
            <a:r>
              <a:t>Định hướng chiến lược phát triển, quản lý toàn diện công tác chuyên môn, kiểm định chất lượng và phong trào thi đua.</a:t>
            </a:r>
          </a:p>
        </p:txBody>
      </p:sp>
      <p:sp>
        <p:nvSpPr>
          <p:cNvPr id="7" name="Rounded Rectangle 6"/>
          <p:cNvSpPr/>
          <p:nvPr/>
        </p:nvSpPr>
        <p:spPr>
          <a:xfrm>
            <a:off x="731520" y="2651760"/>
            <a:ext cx="10698480" cy="34747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0077B6"/>
                </a:solidFill>
              </a:defRPr>
            </a:pPr>
            <a:r>
              <a:t>⚙️ HỆ THỐNG 10 TỔ CÔNG TÁC (09 TỔ CHUYÊN MÔN &amp; 01 TỔ VĂN PHÒNG)</a:t>
            </a:r>
          </a:p>
          <a:p>
            <a:pPr>
              <a:spcBef>
                <a:spcPts val="800"/>
              </a:spcBef>
              <a:defRPr sz="1200" b="1">
                <a:solidFill>
                  <a:srgbClr val="0B2545"/>
                </a:solidFill>
              </a:defRPr>
            </a:pPr>
            <a:r>
              <a:t>• 09 Tổ Chuyên môn: 1. Tổ Toán  |  2. Tổ Vật lý  |  3. Tổ Hóa học  |  4. Tổ Sinh học  |  5. Tổ Tin học</a:t>
            </a:r>
            <a:br/>
            <a:r>
              <a:t>                                   6. Tổ Ngữ văn  |  7. Tổ Lịch sử  |  8. Tổ Địa lý  |  9. Tổ Tiếng Anh</a:t>
            </a:r>
          </a:p>
          <a:p>
            <a:pPr>
              <a:spcBef>
                <a:spcPts val="800"/>
              </a:spcBef>
              <a:defRPr sz="1200">
                <a:solidFill>
                  <a:srgbClr val="0F172A"/>
                </a:solidFill>
              </a:defRPr>
            </a:pPr>
            <a:r>
              <a:t>• 01 Tổ Văn phòng: Đảm nhận công tác hành chính, giáo vụ, tài chính, cơ sở vật chất, y tế và phục vụ hậu cần.</a:t>
            </a:r>
          </a:p>
          <a:p>
            <a:pPr>
              <a:spcBef>
                <a:spcPts val="600"/>
              </a:spcBef>
              <a:defRPr sz="1200">
                <a:solidFill>
                  <a:srgbClr val="0F172A"/>
                </a:solidFill>
              </a:defRPr>
            </a:pPr>
            <a:r>
              <a:t>• Đoàn thể &amp; Dân chủ: Công đoàn cơ sở (92 đoàn viên), Hội Khuyến học, Ban đại diện Cha mẹ học sinh.</a:t>
            </a:r>
          </a:p>
          <a:p>
            <a:pPr>
              <a:spcBef>
                <a:spcPts val="600"/>
              </a:spcBef>
              <a:defRPr sz="1200">
                <a:solidFill>
                  <a:srgbClr val="0F172A"/>
                </a:solidFill>
              </a:defRPr>
            </a:pPr>
            <a:r>
              <a:t>• Đoàn Thanh niên TNCS Hồ Chí Minh: Gồm 01 Chi đoàn Giáo viên và 28 Chi đoàn Học sinh (&gt;900 đoàn viên năng động).</a:t>
            </a:r>
          </a:p>
        </p:txBody>
      </p:sp>
      <p:sp>
        <p:nvSpPr>
          <p:cNvPr id="8" name="TextBox 7"/>
          <p:cNvSpPr txBox="1"/>
          <p:nvPr/>
        </p:nvSpPr>
        <p:spPr>
          <a:xfrm>
            <a:off x="731520" y="6446520"/>
            <a:ext cx="10698480" cy="320040"/>
          </a:xfrm>
          <a:prstGeom prst="rect">
            <a:avLst/>
          </a:prstGeom>
          <a:noFill/>
        </p:spPr>
        <p:txBody>
          <a:bodyPr wrap="none">
            <a:spAutoFit/>
          </a:bodyPr>
          <a:lstStyle/>
          <a:p>
            <a:pPr>
              <a:defRPr sz="1000">
                <a:solidFill>
                  <a:srgbClr val="64748B"/>
                </a:solidFill>
                <a:latin typeface="Arial"/>
              </a:defRPr>
            </a:pPr>
            <a:r>
              <a:t>Báo cáo &amp; Thuyết trình Tổng quan THPT Chuyên Hùng Vương | Đơn vị thực hiện: Nhóm Lớp 9A12  •  Slide 10/30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8229600" cy="320040"/>
          </a:xfrm>
          <a:prstGeom prst="rect">
            <a:avLst/>
          </a:prstGeom>
          <a:noFill/>
        </p:spPr>
        <p:txBody>
          <a:bodyPr wrap="none">
            <a:spAutoFit/>
          </a:bodyPr>
          <a:lstStyle/>
          <a:p>
            <a:pPr>
              <a:defRPr sz="1100" b="1">
                <a:solidFill>
                  <a:srgbClr val="0077B6"/>
                </a:solidFill>
                <a:latin typeface="Arial"/>
              </a:defRPr>
            </a:pPr>
            <a:r>
              <a:t>CHƯƠNG III: CƠ SỞ VẬT CHẤT</a:t>
            </a:r>
          </a:p>
        </p:txBody>
      </p:sp>
      <p:sp>
        <p:nvSpPr>
          <p:cNvPr id="4" name="TextBox 3"/>
          <p:cNvSpPr txBox="1"/>
          <p:nvPr/>
        </p:nvSpPr>
        <p:spPr>
          <a:xfrm>
            <a:off x="731520" y="566928"/>
            <a:ext cx="9601200" cy="594360"/>
          </a:xfrm>
          <a:prstGeom prst="rect">
            <a:avLst/>
          </a:prstGeom>
          <a:noFill/>
        </p:spPr>
        <p:txBody>
          <a:bodyPr wrap="none">
            <a:spAutoFit/>
          </a:bodyPr>
          <a:lstStyle/>
          <a:p>
            <a:pPr>
              <a:defRPr sz="2000" b="1">
                <a:solidFill>
                  <a:srgbClr val="0B2545"/>
                </a:solidFill>
                <a:latin typeface="Arial"/>
              </a:defRPr>
            </a:pPr>
            <a:r>
              <a:t>CƠ SỞ VẬT CHẤT VÀ KHUÔN VIÊN NHÀ TRƯỜNG</a:t>
            </a:r>
          </a:p>
        </p:txBody>
      </p:sp>
      <p:sp>
        <p:nvSpPr>
          <p:cNvPr id="5" name="TextBox 4"/>
          <p:cNvSpPr txBox="1"/>
          <p:nvPr/>
        </p:nvSpPr>
        <p:spPr>
          <a:xfrm>
            <a:off x="10058400" y="292608"/>
            <a:ext cx="1463040" cy="320040"/>
          </a:xfrm>
          <a:prstGeom prst="rect">
            <a:avLst/>
          </a:prstGeom>
          <a:noFill/>
        </p:spPr>
        <p:txBody>
          <a:bodyPr wrap="none">
            <a:spAutoFit/>
          </a:bodyPr>
          <a:lstStyle/>
          <a:p>
            <a:pPr algn="r">
              <a:defRPr sz="1100" b="1">
                <a:solidFill>
                  <a:srgbClr val="64748B"/>
                </a:solidFill>
                <a:latin typeface="Arial"/>
              </a:defRPr>
            </a:pPr>
            <a:r>
              <a:t>11 / 30</a:t>
            </a:r>
          </a:p>
        </p:txBody>
      </p:sp>
      <p:sp>
        <p:nvSpPr>
          <p:cNvPr id="6" name="Rounded Rectangle 5"/>
          <p:cNvSpPr/>
          <p:nvPr/>
        </p:nvSpPr>
        <p:spPr>
          <a:xfrm>
            <a:off x="731520" y="1280160"/>
            <a:ext cx="5943600"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0077B6"/>
                </a:solidFill>
              </a:defRPr>
            </a:pPr>
            <a:r>
              <a:t>🏫 HỆ THỐNG TRANG THIẾT BỊ DẠY HỌC HIỆN ĐẠI</a:t>
            </a:r>
          </a:p>
          <a:p>
            <a:pPr>
              <a:spcBef>
                <a:spcPts val="800"/>
              </a:spcBef>
              <a:defRPr sz="1200">
                <a:solidFill>
                  <a:srgbClr val="0F172A"/>
                </a:solidFill>
              </a:defRPr>
            </a:pPr>
            <a:r>
              <a:t>• Vị trí &amp; Khuôn viên: Tọa lạc tại số 593 Đại lộ Bình Dương, Phường Thủ Dầu Một; sở hữu không gian học đường xanh - sạch - đẹp, an toàn và chuẩn mực sư phạm.</a:t>
            </a:r>
          </a:p>
          <a:p>
            <a:pPr>
              <a:spcBef>
                <a:spcPts val="800"/>
              </a:spcBef>
              <a:defRPr sz="1200">
                <a:solidFill>
                  <a:srgbClr val="0F172A"/>
                </a:solidFill>
              </a:defRPr>
            </a:pPr>
            <a:r>
              <a:t>• Phòng học Lý thuyết: Trang bị đầy đủ máy chiếu tương tác, màn hình LED, điều hòa không khí, bàn ghế tiêu chuẩn và kết nối mạng Internet tốc độ cao.</a:t>
            </a:r>
          </a:p>
          <a:p>
            <a:pPr>
              <a:spcBef>
                <a:spcPts val="800"/>
              </a:spcBef>
              <a:defRPr sz="1200">
                <a:solidFill>
                  <a:srgbClr val="0F172A"/>
                </a:solidFill>
              </a:defRPr>
            </a:pPr>
            <a:r>
              <a:t>• Phòng Thí nghiệm Chuyên dùng: Phòng Thực hành Vật lý, Hóa học, Sinh học đạt chuẩn, có đầy đủ hóa chất tinh khiết và thiết bị đo lường độ chính xác cao.</a:t>
            </a:r>
          </a:p>
          <a:p>
            <a:pPr>
              <a:spcBef>
                <a:spcPts val="800"/>
              </a:spcBef>
              <a:defRPr sz="1200">
                <a:solidFill>
                  <a:srgbClr val="0F172A"/>
                </a:solidFill>
              </a:defRPr>
            </a:pPr>
            <a:r>
              <a:t>• Phòng Tin học &amp; Thư viện: Dàn máy vi tính cấu hình cao phục vụ lập trình thuật toán; Thư viện đạt chuẩn quốc gia với kho sách học thuật phong phú và hệ thống tra cứu số hóa.</a:t>
            </a:r>
          </a:p>
        </p:txBody>
      </p:sp>
      <p:sp>
        <p:nvSpPr>
          <p:cNvPr id="7" name="Rounded Rectangle 6"/>
          <p:cNvSpPr/>
          <p:nvPr/>
        </p:nvSpPr>
        <p:spPr>
          <a:xfrm>
            <a:off x="7040880" y="1280160"/>
            <a:ext cx="4389120" cy="4846320"/>
          </a:xfrm>
          <a:prstGeom prst="roundRect">
            <a:avLst/>
          </a:prstGeom>
          <a:solidFill>
            <a:srgbClr val="F1F5F9"/>
          </a:solidFill>
          <a:ln w="19050">
            <a:solidFill>
              <a:srgbClr val="0077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077B6"/>
                </a:solidFill>
              </a:defRPr>
            </a:pPr>
            <a:r>
              <a:t>📷 KHUNG ẢNH THẬT CHÍNH THỨC</a:t>
            </a:r>
          </a:p>
          <a:p>
            <a:pPr algn="ctr">
              <a:spcBef>
                <a:spcPts val="1400"/>
              </a:spcBef>
              <a:defRPr sz="1050">
                <a:solidFill>
                  <a:srgbClr val="64748B"/>
                </a:solidFill>
              </a:defRPr>
            </a:pPr>
            <a:r>
              <a:t>[Ảnh Thật: Mặt tiền Cổng trường / Sân trường / Dãy phòng học]</a:t>
            </a:r>
            <a:br/>
            <a:br/>
            <a:r>
              <a:t>Ảnh chụp cổng trường khang trang tại 593 Đại lộ Bình Dương hoặc dãy phòng học rợp bóng cây xanh.</a:t>
            </a:r>
            <a:br/>
            <a:r>
              <a:t>(Nhấp chuột phải -&gt; Change Picture để chèn ảnh thật)</a:t>
            </a:r>
          </a:p>
          <a:p>
            <a:pPr algn="ctr">
              <a:spcBef>
                <a:spcPts val="2000"/>
              </a:spcBef>
              <a:defRPr sz="950" i="1">
                <a:solidFill>
                  <a:srgbClr val="64748B"/>
                </a:solidFill>
              </a:defRPr>
            </a:pPr>
            <a:r>
              <a:t>Nguồn ảnh: THPT Chuyên Hùng Vương – thptchv.edu.vn</a:t>
            </a:r>
          </a:p>
        </p:txBody>
      </p:sp>
      <p:sp>
        <p:nvSpPr>
          <p:cNvPr id="8" name="TextBox 7"/>
          <p:cNvSpPr txBox="1"/>
          <p:nvPr/>
        </p:nvSpPr>
        <p:spPr>
          <a:xfrm>
            <a:off x="731520" y="6446520"/>
            <a:ext cx="10698480" cy="320040"/>
          </a:xfrm>
          <a:prstGeom prst="rect">
            <a:avLst/>
          </a:prstGeom>
          <a:noFill/>
        </p:spPr>
        <p:txBody>
          <a:bodyPr wrap="none">
            <a:spAutoFit/>
          </a:bodyPr>
          <a:lstStyle/>
          <a:p>
            <a:pPr>
              <a:defRPr sz="1000">
                <a:solidFill>
                  <a:srgbClr val="64748B"/>
                </a:solidFill>
                <a:latin typeface="Arial"/>
              </a:defRPr>
            </a:pPr>
            <a:r>
              <a:t>Báo cáo &amp; Thuyết trình Tổng quan THPT Chuyên Hùng Vương | Đơn vị thực hiện: Nhóm Lớp 9A12  •  Slide 11/30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8229600" cy="320040"/>
          </a:xfrm>
          <a:prstGeom prst="rect">
            <a:avLst/>
          </a:prstGeom>
          <a:noFill/>
        </p:spPr>
        <p:txBody>
          <a:bodyPr wrap="none">
            <a:spAutoFit/>
          </a:bodyPr>
          <a:lstStyle/>
          <a:p>
            <a:pPr>
              <a:defRPr sz="1100" b="1">
                <a:solidFill>
                  <a:srgbClr val="0077B6"/>
                </a:solidFill>
                <a:latin typeface="Arial"/>
              </a:defRPr>
            </a:pPr>
            <a:r>
              <a:t>CHƯƠNG III: CƠ SỞ VẬT CHẤT</a:t>
            </a:r>
          </a:p>
        </p:txBody>
      </p:sp>
      <p:sp>
        <p:nvSpPr>
          <p:cNvPr id="4" name="TextBox 3"/>
          <p:cNvSpPr txBox="1"/>
          <p:nvPr/>
        </p:nvSpPr>
        <p:spPr>
          <a:xfrm>
            <a:off x="731520" y="566928"/>
            <a:ext cx="9601200" cy="594360"/>
          </a:xfrm>
          <a:prstGeom prst="rect">
            <a:avLst/>
          </a:prstGeom>
          <a:noFill/>
        </p:spPr>
        <p:txBody>
          <a:bodyPr wrap="none">
            <a:spAutoFit/>
          </a:bodyPr>
          <a:lstStyle/>
          <a:p>
            <a:pPr>
              <a:defRPr sz="2000" b="1">
                <a:solidFill>
                  <a:srgbClr val="0B2545"/>
                </a:solidFill>
                <a:latin typeface="Arial"/>
              </a:defRPr>
            </a:pPr>
            <a:r>
              <a:t>NGHIÊN CỨU KHOA HỌC &amp; GIÁO DỤC STEM</a:t>
            </a:r>
          </a:p>
        </p:txBody>
      </p:sp>
      <p:sp>
        <p:nvSpPr>
          <p:cNvPr id="5" name="TextBox 4"/>
          <p:cNvSpPr txBox="1"/>
          <p:nvPr/>
        </p:nvSpPr>
        <p:spPr>
          <a:xfrm>
            <a:off x="10058400" y="292608"/>
            <a:ext cx="1463040" cy="320040"/>
          </a:xfrm>
          <a:prstGeom prst="rect">
            <a:avLst/>
          </a:prstGeom>
          <a:noFill/>
        </p:spPr>
        <p:txBody>
          <a:bodyPr wrap="none">
            <a:spAutoFit/>
          </a:bodyPr>
          <a:lstStyle/>
          <a:p>
            <a:pPr algn="r">
              <a:defRPr sz="1100" b="1">
                <a:solidFill>
                  <a:srgbClr val="64748B"/>
                </a:solidFill>
                <a:latin typeface="Arial"/>
              </a:defRPr>
            </a:pPr>
            <a:r>
              <a:t>12 / 30</a:t>
            </a:r>
          </a:p>
        </p:txBody>
      </p:sp>
      <p:sp>
        <p:nvSpPr>
          <p:cNvPr id="6" name="Rounded Rectangle 5"/>
          <p:cNvSpPr/>
          <p:nvPr/>
        </p:nvSpPr>
        <p:spPr>
          <a:xfrm>
            <a:off x="731520" y="1280160"/>
            <a:ext cx="5943600"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0077B6"/>
                </a:solidFill>
              </a:defRPr>
            </a:pPr>
            <a:r>
              <a:t>🔬 SẢN PHẨM SÁNG TẠO &amp; HOẠT ĐỘNG THỰC NGHIỆM STEM</a:t>
            </a:r>
          </a:p>
          <a:p>
            <a:pPr>
              <a:spcBef>
                <a:spcPts val="800"/>
              </a:spcBef>
              <a:defRPr sz="1200">
                <a:solidFill>
                  <a:srgbClr val="0F172A"/>
                </a:solidFill>
              </a:defRPr>
            </a:pPr>
            <a:r>
              <a:t>• Không gian Sáng chế STEM: Hướng dẫn học sinh tiếp cận phương pháp giáo dục STEM liên môn, làm chủ công nghệ tự động hóa, robot và tư duy giải quyết vấn đề đời sống.</a:t>
            </a:r>
          </a:p>
          <a:p>
            <a:pPr>
              <a:spcBef>
                <a:spcPts val="800"/>
              </a:spcBef>
              <a:defRPr sz="1200">
                <a:solidFill>
                  <a:srgbClr val="0F172A"/>
                </a:solidFill>
              </a:defRPr>
            </a:pPr>
            <a:r>
              <a:t>• DỰ ÁN TIÊU BIỂU: Thiết kế 'Máy phun sát khuẩn tay tự động' do chính học sinh chuyên Hùng Vương nghiên cứu, lập trình và chế tạo, ứng dụng thực tế phòng dịch trong trường.</a:t>
            </a:r>
          </a:p>
          <a:p>
            <a:pPr>
              <a:spcBef>
                <a:spcPts val="800"/>
              </a:spcBef>
              <a:defRPr sz="1200">
                <a:solidFill>
                  <a:srgbClr val="0F172A"/>
                </a:solidFill>
              </a:defRPr>
            </a:pPr>
            <a:r>
              <a:t>• Sân chơi KHKT Đỉnh cao: Đạt nhiều giải thưởng danh giá trong các cuộc thi Nghiên cứu Khoa học Kỹ thuật (KHKT) dành cho học sinh trung học cấp tỉnh và toàn quốc.</a:t>
            </a:r>
          </a:p>
          <a:p>
            <a:pPr>
              <a:spcBef>
                <a:spcPts val="800"/>
              </a:spcBef>
              <a:defRPr sz="1200">
                <a:solidFill>
                  <a:srgbClr val="0F172A"/>
                </a:solidFill>
              </a:defRPr>
            </a:pPr>
            <a:r>
              <a:t>• Khơi nguồn Đam mê: Tạo bệ phóng vững chắc cho học sinh nuôi dưỡng đam mê sáng tạo khoa học và kỹ thuật công nghệ từ ghế nhà trường.</a:t>
            </a:r>
          </a:p>
        </p:txBody>
      </p:sp>
      <p:sp>
        <p:nvSpPr>
          <p:cNvPr id="7" name="Rounded Rectangle 6"/>
          <p:cNvSpPr/>
          <p:nvPr/>
        </p:nvSpPr>
        <p:spPr>
          <a:xfrm>
            <a:off x="7040880" y="1280160"/>
            <a:ext cx="4389120" cy="4846320"/>
          </a:xfrm>
          <a:prstGeom prst="roundRect">
            <a:avLst/>
          </a:prstGeom>
          <a:solidFill>
            <a:srgbClr val="F1F5F9"/>
          </a:solidFill>
          <a:ln w="19050">
            <a:solidFill>
              <a:srgbClr val="0077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077B6"/>
                </a:solidFill>
              </a:defRPr>
            </a:pPr>
            <a:r>
              <a:t>📷 KHUNG ẢNH THẬT CHÍNH THỨC</a:t>
            </a:r>
          </a:p>
          <a:p>
            <a:pPr algn="ctr">
              <a:spcBef>
                <a:spcPts val="1400"/>
              </a:spcBef>
              <a:defRPr sz="1050">
                <a:solidFill>
                  <a:srgbClr val="64748B"/>
                </a:solidFill>
              </a:defRPr>
            </a:pPr>
            <a:r>
              <a:t>[Ảnh Thật: Học sinh làm thực hành STEM / Máy sát khuẩn tự động]</a:t>
            </a:r>
            <a:br/>
            <a:br/>
            <a:r>
              <a:t>Hình ảnh học sinh câu lạc bộ STEM đang lắp ráp mô hình hoặc sản phẩm máy sát khuẩn tay tự động đoạt giải.</a:t>
            </a:r>
            <a:br/>
            <a:r>
              <a:t>(Nhấp chuột phải -&gt; Change Picture để chèn ảnh thật)</a:t>
            </a:r>
          </a:p>
          <a:p>
            <a:pPr algn="ctr">
              <a:spcBef>
                <a:spcPts val="2000"/>
              </a:spcBef>
              <a:defRPr sz="950" i="1">
                <a:solidFill>
                  <a:srgbClr val="64748B"/>
                </a:solidFill>
              </a:defRPr>
            </a:pPr>
            <a:r>
              <a:t>Nguồn ảnh: THPT Chuyên Hùng Vương – thptchv.edu.vn</a:t>
            </a:r>
          </a:p>
        </p:txBody>
      </p:sp>
      <p:sp>
        <p:nvSpPr>
          <p:cNvPr id="8" name="TextBox 7"/>
          <p:cNvSpPr txBox="1"/>
          <p:nvPr/>
        </p:nvSpPr>
        <p:spPr>
          <a:xfrm>
            <a:off x="731520" y="6446520"/>
            <a:ext cx="10698480" cy="320040"/>
          </a:xfrm>
          <a:prstGeom prst="rect">
            <a:avLst/>
          </a:prstGeom>
          <a:noFill/>
        </p:spPr>
        <p:txBody>
          <a:bodyPr wrap="none">
            <a:spAutoFit/>
          </a:bodyPr>
          <a:lstStyle/>
          <a:p>
            <a:pPr>
              <a:defRPr sz="1000">
                <a:solidFill>
                  <a:srgbClr val="64748B"/>
                </a:solidFill>
                <a:latin typeface="Arial"/>
              </a:defRPr>
            </a:pPr>
            <a:r>
              <a:t>Báo cáo &amp; Thuyết trình Tổng quan THPT Chuyên Hùng Vương | Đơn vị thực hiện: Nhóm Lớp 9A12  •  Slide 12/30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8229600" cy="320040"/>
          </a:xfrm>
          <a:prstGeom prst="rect">
            <a:avLst/>
          </a:prstGeom>
          <a:noFill/>
        </p:spPr>
        <p:txBody>
          <a:bodyPr wrap="none">
            <a:spAutoFit/>
          </a:bodyPr>
          <a:lstStyle/>
          <a:p>
            <a:pPr>
              <a:defRPr sz="1100" b="1">
                <a:solidFill>
                  <a:srgbClr val="0077B6"/>
                </a:solidFill>
                <a:latin typeface="Arial"/>
              </a:defRPr>
            </a:pPr>
            <a:r>
              <a:t>CHƯƠNG IV: BẢNG VÀNG THÀNH TÍCH</a:t>
            </a:r>
          </a:p>
        </p:txBody>
      </p:sp>
      <p:sp>
        <p:nvSpPr>
          <p:cNvPr id="4" name="TextBox 3"/>
          <p:cNvSpPr txBox="1"/>
          <p:nvPr/>
        </p:nvSpPr>
        <p:spPr>
          <a:xfrm>
            <a:off x="731520" y="566928"/>
            <a:ext cx="9601200" cy="594360"/>
          </a:xfrm>
          <a:prstGeom prst="rect">
            <a:avLst/>
          </a:prstGeom>
          <a:noFill/>
        </p:spPr>
        <p:txBody>
          <a:bodyPr wrap="none">
            <a:spAutoFit/>
          </a:bodyPr>
          <a:lstStyle/>
          <a:p>
            <a:pPr>
              <a:defRPr sz="2000" b="1">
                <a:solidFill>
                  <a:srgbClr val="0B2545"/>
                </a:solidFill>
                <a:latin typeface="Arial"/>
              </a:defRPr>
            </a:pPr>
            <a:r>
              <a:t>THÀNH TÍCH ĐÀO TẠO MŨI NHỌN &amp; THI MÔN CHUYÊN</a:t>
            </a:r>
          </a:p>
        </p:txBody>
      </p:sp>
      <p:sp>
        <p:nvSpPr>
          <p:cNvPr id="5" name="TextBox 4"/>
          <p:cNvSpPr txBox="1"/>
          <p:nvPr/>
        </p:nvSpPr>
        <p:spPr>
          <a:xfrm>
            <a:off x="10058400" y="292608"/>
            <a:ext cx="1463040" cy="320040"/>
          </a:xfrm>
          <a:prstGeom prst="rect">
            <a:avLst/>
          </a:prstGeom>
          <a:noFill/>
        </p:spPr>
        <p:txBody>
          <a:bodyPr wrap="none">
            <a:spAutoFit/>
          </a:bodyPr>
          <a:lstStyle/>
          <a:p>
            <a:pPr algn="r">
              <a:defRPr sz="1100" b="1">
                <a:solidFill>
                  <a:srgbClr val="64748B"/>
                </a:solidFill>
                <a:latin typeface="Arial"/>
              </a:defRPr>
            </a:pPr>
            <a:r>
              <a:t>13 / 30</a:t>
            </a:r>
          </a:p>
        </p:txBody>
      </p:sp>
      <p:sp>
        <p:nvSpPr>
          <p:cNvPr id="6" name="Rounded Rectangle 5"/>
          <p:cNvSpPr/>
          <p:nvPr/>
        </p:nvSpPr>
        <p:spPr>
          <a:xfrm>
            <a:off x="731520" y="1280160"/>
            <a:ext cx="10698480"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0077B6"/>
                </a:solidFill>
              </a:defRPr>
            </a:pPr>
            <a:r>
              <a:t>🏆 KẾT QUẢ BỒI DƯỠNG HỌC SINH GIỎI VÀ THÀNH TÍCH MŨI NHỌN</a:t>
            </a:r>
          </a:p>
          <a:p>
            <a:pPr>
              <a:spcBef>
                <a:spcPts val="800"/>
              </a:spcBef>
              <a:defRPr sz="1200">
                <a:solidFill>
                  <a:srgbClr val="0F172A"/>
                </a:solidFill>
              </a:defRPr>
            </a:pPr>
            <a:r>
              <a:t>• Học sinh giỏi Quốc gia: Duy trì ổn định cả về số lượng và chất lượng giải thưởng học sinh giỏi THPT cấp Quốc gia hàng năm; khẳng định vị thế môn Toán, Tin, Ngoại ngữ, KHTN.</a:t>
            </a:r>
          </a:p>
          <a:p>
            <a:pPr>
              <a:spcBef>
                <a:spcPts val="800"/>
              </a:spcBef>
              <a:defRPr sz="1200">
                <a:solidFill>
                  <a:srgbClr val="0F172A"/>
                </a:solidFill>
              </a:defRPr>
            </a:pPr>
            <a:r>
              <a:t>• Cuộc thi Olympic &amp; Quốc tế: Tự hào có học sinh xuất sắc được tuyển chọn vào Đội tuyển Quốc gia tham dự các kỳ thi Olympic Quốc tế và khu vực.</a:t>
            </a:r>
          </a:p>
          <a:p>
            <a:pPr>
              <a:spcBef>
                <a:spcPts val="800"/>
              </a:spcBef>
              <a:defRPr sz="1200">
                <a:solidFill>
                  <a:srgbClr val="0F172A"/>
                </a:solidFill>
              </a:defRPr>
            </a:pPr>
            <a:r>
              <a:t>• Tỷ lệ Đỗ Tốt nghiệp &amp; Đại học 100%: 100% học sinh đỗ tốt nghiệp THPT và trúng tuyển vào các trường đại học uy tín tốp đầu cả nước và các trường đại học quốc tế.</a:t>
            </a:r>
          </a:p>
          <a:p>
            <a:pPr>
              <a:spcBef>
                <a:spcPts val="800"/>
              </a:spcBef>
              <a:defRPr sz="1200">
                <a:solidFill>
                  <a:srgbClr val="0F172A"/>
                </a:solidFill>
              </a:defRPr>
            </a:pPr>
            <a:r>
              <a:t>• Cờ Thi đua của Bộ GD&amp;ĐT: Nhận cờ thi đua trong phong trào 'Đổi mới sáng tạo trong quản lý, giảng dạy và học tập' của ngành giáo dục.</a:t>
            </a:r>
          </a:p>
          <a:p>
            <a:pPr>
              <a:spcBef>
                <a:spcPts val="800"/>
              </a:spcBef>
              <a:defRPr sz="1200">
                <a:solidFill>
                  <a:srgbClr val="0F172A"/>
                </a:solidFill>
              </a:defRPr>
            </a:pPr>
            <a:r>
              <a:t>• Lá cờ đầu Ngành Giáo dục: Được Sở Giáo dục và Đào tạo vinh danh là đơn vị tiên phong, dẫn đầu cụm thi đua khối trường THPT chuyên.</a:t>
            </a:r>
          </a:p>
        </p:txBody>
      </p:sp>
      <p:sp>
        <p:nvSpPr>
          <p:cNvPr id="7" name="TextBox 6"/>
          <p:cNvSpPr txBox="1"/>
          <p:nvPr/>
        </p:nvSpPr>
        <p:spPr>
          <a:xfrm>
            <a:off x="731520" y="6446520"/>
            <a:ext cx="10698480" cy="320040"/>
          </a:xfrm>
          <a:prstGeom prst="rect">
            <a:avLst/>
          </a:prstGeom>
          <a:noFill/>
        </p:spPr>
        <p:txBody>
          <a:bodyPr wrap="none">
            <a:spAutoFit/>
          </a:bodyPr>
          <a:lstStyle/>
          <a:p>
            <a:pPr>
              <a:defRPr sz="1000">
                <a:solidFill>
                  <a:srgbClr val="64748B"/>
                </a:solidFill>
                <a:latin typeface="Arial"/>
              </a:defRPr>
            </a:pPr>
            <a:r>
              <a:t>Báo cáo &amp; Thuyết trình Tổng quan THPT Chuyên Hùng Vương | Đơn vị thực hiện: Nhóm Lớp 9A12  •  Slide 13/30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8229600" cy="320040"/>
          </a:xfrm>
          <a:prstGeom prst="rect">
            <a:avLst/>
          </a:prstGeom>
          <a:noFill/>
        </p:spPr>
        <p:txBody>
          <a:bodyPr wrap="none">
            <a:spAutoFit/>
          </a:bodyPr>
          <a:lstStyle/>
          <a:p>
            <a:pPr>
              <a:defRPr sz="1100" b="1">
                <a:solidFill>
                  <a:srgbClr val="0077B6"/>
                </a:solidFill>
                <a:latin typeface="Arial"/>
              </a:defRPr>
            </a:pPr>
            <a:r>
              <a:t>CHƯƠNG IV: BẢNG VÀNG THÀNH TÍCH</a:t>
            </a:r>
          </a:p>
        </p:txBody>
      </p:sp>
      <p:sp>
        <p:nvSpPr>
          <p:cNvPr id="4" name="TextBox 3"/>
          <p:cNvSpPr txBox="1"/>
          <p:nvPr/>
        </p:nvSpPr>
        <p:spPr>
          <a:xfrm>
            <a:off x="731520" y="566928"/>
            <a:ext cx="9601200" cy="594360"/>
          </a:xfrm>
          <a:prstGeom prst="rect">
            <a:avLst/>
          </a:prstGeom>
          <a:noFill/>
        </p:spPr>
        <p:txBody>
          <a:bodyPr wrap="none">
            <a:spAutoFit/>
          </a:bodyPr>
          <a:lstStyle/>
          <a:p>
            <a:pPr>
              <a:defRPr sz="2000" b="1">
                <a:solidFill>
                  <a:srgbClr val="0B2545"/>
                </a:solidFill>
                <a:latin typeface="Arial"/>
              </a:defRPr>
            </a:pPr>
            <a:r>
              <a:t>KẾT QUẢ XUẤT SẮC KỲ THI TỐT NGHIỆP THPT 2026</a:t>
            </a:r>
          </a:p>
        </p:txBody>
      </p:sp>
      <p:sp>
        <p:nvSpPr>
          <p:cNvPr id="5" name="TextBox 4"/>
          <p:cNvSpPr txBox="1"/>
          <p:nvPr/>
        </p:nvSpPr>
        <p:spPr>
          <a:xfrm>
            <a:off x="10058400" y="292608"/>
            <a:ext cx="1463040" cy="320040"/>
          </a:xfrm>
          <a:prstGeom prst="rect">
            <a:avLst/>
          </a:prstGeom>
          <a:noFill/>
        </p:spPr>
        <p:txBody>
          <a:bodyPr wrap="none">
            <a:spAutoFit/>
          </a:bodyPr>
          <a:lstStyle/>
          <a:p>
            <a:pPr algn="r">
              <a:defRPr sz="1100" b="1">
                <a:solidFill>
                  <a:srgbClr val="64748B"/>
                </a:solidFill>
                <a:latin typeface="Arial"/>
              </a:defRPr>
            </a:pPr>
            <a:r>
              <a:t>14 / 30</a:t>
            </a:r>
          </a:p>
        </p:txBody>
      </p:sp>
      <p:sp>
        <p:nvSpPr>
          <p:cNvPr id="6" name="Rounded Rectangle 5"/>
          <p:cNvSpPr/>
          <p:nvPr/>
        </p:nvSpPr>
        <p:spPr>
          <a:xfrm>
            <a:off x="731520" y="1280160"/>
            <a:ext cx="5943600"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0077B6"/>
                </a:solidFill>
              </a:defRPr>
            </a:pPr>
            <a:r>
              <a:t>🌟 SỐ LIỆU TỐT NGHIỆP THPT NĂM 2026 (CÔNG BỐ 01/07/2026)</a:t>
            </a:r>
          </a:p>
          <a:p>
            <a:pPr>
              <a:spcBef>
                <a:spcPts val="800"/>
              </a:spcBef>
              <a:defRPr sz="1200">
                <a:solidFill>
                  <a:srgbClr val="0F172A"/>
                </a:solidFill>
              </a:defRPr>
            </a:pPr>
            <a:r>
              <a:t>• Tổng số Học sinh Khối 12: 265 học sinh hoàn thành chương trình cấp THPT.</a:t>
            </a:r>
          </a:p>
          <a:p>
            <a:pPr>
              <a:spcBef>
                <a:spcPts val="800"/>
              </a:spcBef>
              <a:defRPr sz="1200">
                <a:solidFill>
                  <a:srgbClr val="0F172A"/>
                </a:solidFill>
              </a:defRPr>
            </a:pPr>
            <a:r>
              <a:t>• Số Học sinh Tham gia dự thi: 264 học sinh (01 học sinh đặc cách miễn thi do thuộc Đội tuyển Olympic Quốc tế).</a:t>
            </a:r>
          </a:p>
          <a:p>
            <a:pPr>
              <a:spcBef>
                <a:spcPts val="800"/>
              </a:spcBef>
              <a:defRPr sz="1200">
                <a:solidFill>
                  <a:srgbClr val="0F172A"/>
                </a:solidFill>
              </a:defRPr>
            </a:pPr>
            <a:r>
              <a:t>• Tỷ lệ Đỗ Tốt nghiệp THPT: Đạt 100% tuyệt đối.</a:t>
            </a:r>
          </a:p>
          <a:p>
            <a:pPr>
              <a:spcBef>
                <a:spcPts val="800"/>
              </a:spcBef>
              <a:defRPr sz="1200">
                <a:solidFill>
                  <a:srgbClr val="0F172A"/>
                </a:solidFill>
              </a:defRPr>
            </a:pPr>
            <a:r>
              <a:t>• CƠN MƯA ĐIỂM 10 TUYỆT ĐỐI (14 LƯỢT):   - Môn Toán: 09 điểm 10 tuyệt đối (Áp đảo)</a:t>
            </a:r>
            <a:br/>
            <a:r>
              <a:t>  - Môn Lịch sử: 03 điểm 10 tuyệt đối</a:t>
            </a:r>
            <a:br/>
            <a:r>
              <a:t>  - Môn Sinh học: 02 điểm 10 tuyệt đối</a:t>
            </a:r>
          </a:p>
          <a:p>
            <a:pPr>
              <a:spcBef>
                <a:spcPts val="800"/>
              </a:spcBef>
              <a:defRPr sz="1200">
                <a:solidFill>
                  <a:srgbClr val="0F172A"/>
                </a:solidFill>
              </a:defRPr>
            </a:pPr>
            <a:r>
              <a:t>• Tỷ lệ Trúng tuyển Đại học: 100% học sinh trúng tuyển vào các trường đại học uy tín trong và ngoài nước.</a:t>
            </a:r>
          </a:p>
        </p:txBody>
      </p:sp>
      <p:sp>
        <p:nvSpPr>
          <p:cNvPr id="7" name="Rounded Rectangle 6"/>
          <p:cNvSpPr/>
          <p:nvPr/>
        </p:nvSpPr>
        <p:spPr>
          <a:xfrm>
            <a:off x="7040880" y="1280160"/>
            <a:ext cx="4389120" cy="4846320"/>
          </a:xfrm>
          <a:prstGeom prst="roundRect">
            <a:avLst/>
          </a:prstGeom>
          <a:solidFill>
            <a:srgbClr val="F1F5F9"/>
          </a:solidFill>
          <a:ln w="19050">
            <a:solidFill>
              <a:srgbClr val="0077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077B6"/>
                </a:solidFill>
              </a:defRPr>
            </a:pPr>
            <a:r>
              <a:t>📷 KHUNG ẢNH THẬT CHÍNH THỨC</a:t>
            </a:r>
          </a:p>
          <a:p>
            <a:pPr algn="ctr">
              <a:spcBef>
                <a:spcPts val="1400"/>
              </a:spcBef>
              <a:defRPr sz="1050">
                <a:solidFill>
                  <a:srgbClr val="64748B"/>
                </a:solidFill>
              </a:defRPr>
            </a:pPr>
            <a:r>
              <a:t>[Ảnh Thật: Lễ Vinh danh Học sinh Xuất sắc Kỳ thi Tốt nghiệp THPT 2026]</a:t>
            </a:r>
            <a:br/>
            <a:br/>
            <a:r>
              <a:t>Ảnh chụp buổi lễ tuyên dương, khen thưởng các học sinh đạt điểm 10 và thủ khoa kỳ thi tốt nghiệp THPT 2026.</a:t>
            </a:r>
            <a:br/>
            <a:r>
              <a:t>(Nhấp chuột phải -&gt; Change Picture để chèn ảnh thật)</a:t>
            </a:r>
          </a:p>
          <a:p>
            <a:pPr algn="ctr">
              <a:spcBef>
                <a:spcPts val="2000"/>
              </a:spcBef>
              <a:defRPr sz="950" i="1">
                <a:solidFill>
                  <a:srgbClr val="64748B"/>
                </a:solidFill>
              </a:defRPr>
            </a:pPr>
            <a:r>
              <a:t>Nguồn ảnh: THPT Chuyên Hùng Vương – thptchv.edu.vn</a:t>
            </a:r>
          </a:p>
        </p:txBody>
      </p:sp>
      <p:sp>
        <p:nvSpPr>
          <p:cNvPr id="8" name="TextBox 7"/>
          <p:cNvSpPr txBox="1"/>
          <p:nvPr/>
        </p:nvSpPr>
        <p:spPr>
          <a:xfrm>
            <a:off x="731520" y="6446520"/>
            <a:ext cx="10698480" cy="320040"/>
          </a:xfrm>
          <a:prstGeom prst="rect">
            <a:avLst/>
          </a:prstGeom>
          <a:noFill/>
        </p:spPr>
        <p:txBody>
          <a:bodyPr wrap="none">
            <a:spAutoFit/>
          </a:bodyPr>
          <a:lstStyle/>
          <a:p>
            <a:pPr>
              <a:defRPr sz="1000">
                <a:solidFill>
                  <a:srgbClr val="64748B"/>
                </a:solidFill>
                <a:latin typeface="Arial"/>
              </a:defRPr>
            </a:pPr>
            <a:r>
              <a:t>Báo cáo &amp; Thuyết trình Tổng quan THPT Chuyên Hùng Vương | Đơn vị thực hiện: Nhóm Lớp 9A12  •  Slide 14/30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8229600" cy="320040"/>
          </a:xfrm>
          <a:prstGeom prst="rect">
            <a:avLst/>
          </a:prstGeom>
          <a:noFill/>
        </p:spPr>
        <p:txBody>
          <a:bodyPr wrap="none">
            <a:spAutoFit/>
          </a:bodyPr>
          <a:lstStyle/>
          <a:p>
            <a:pPr>
              <a:defRPr sz="1100" b="1">
                <a:solidFill>
                  <a:srgbClr val="0077B6"/>
                </a:solidFill>
                <a:latin typeface="Arial"/>
              </a:defRPr>
            </a:pPr>
            <a:r>
              <a:t>CHƯƠNG IV: BẢNG VÀNG THÀNH TÍCH</a:t>
            </a:r>
          </a:p>
        </p:txBody>
      </p:sp>
      <p:sp>
        <p:nvSpPr>
          <p:cNvPr id="4" name="TextBox 3"/>
          <p:cNvSpPr txBox="1"/>
          <p:nvPr/>
        </p:nvSpPr>
        <p:spPr>
          <a:xfrm>
            <a:off x="731520" y="566928"/>
            <a:ext cx="9601200" cy="594360"/>
          </a:xfrm>
          <a:prstGeom prst="rect">
            <a:avLst/>
          </a:prstGeom>
          <a:noFill/>
        </p:spPr>
        <p:txBody>
          <a:bodyPr wrap="none">
            <a:spAutoFit/>
          </a:bodyPr>
          <a:lstStyle/>
          <a:p>
            <a:pPr>
              <a:defRPr sz="2000" b="1">
                <a:solidFill>
                  <a:srgbClr val="0B2545"/>
                </a:solidFill>
                <a:latin typeface="Arial"/>
              </a:defRPr>
            </a:pPr>
            <a:r>
              <a:t>ĐIỂM TRUNG BÌNH CÁC MÔN THI THPT 2026 (BAR CHART)</a:t>
            </a:r>
          </a:p>
        </p:txBody>
      </p:sp>
      <p:sp>
        <p:nvSpPr>
          <p:cNvPr id="5" name="TextBox 4"/>
          <p:cNvSpPr txBox="1"/>
          <p:nvPr/>
        </p:nvSpPr>
        <p:spPr>
          <a:xfrm>
            <a:off x="10058400" y="292608"/>
            <a:ext cx="1463040" cy="320040"/>
          </a:xfrm>
          <a:prstGeom prst="rect">
            <a:avLst/>
          </a:prstGeom>
          <a:noFill/>
        </p:spPr>
        <p:txBody>
          <a:bodyPr wrap="none">
            <a:spAutoFit/>
          </a:bodyPr>
          <a:lstStyle/>
          <a:p>
            <a:pPr algn="r">
              <a:defRPr sz="1100" b="1">
                <a:solidFill>
                  <a:srgbClr val="64748B"/>
                </a:solidFill>
                <a:latin typeface="Arial"/>
              </a:defRPr>
            </a:pPr>
            <a:r>
              <a:t>15 / 30</a:t>
            </a:r>
          </a:p>
        </p:txBody>
      </p:sp>
      <p:sp>
        <p:nvSpPr>
          <p:cNvPr id="6" name="Rounded Rectangle 5"/>
          <p:cNvSpPr/>
          <p:nvPr/>
        </p:nvSpPr>
        <p:spPr>
          <a:xfrm>
            <a:off x="731520" y="1280160"/>
            <a:ext cx="10698480"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0077B6"/>
                </a:solidFill>
              </a:defRPr>
            </a:pPr>
            <a:r>
              <a:t>📊 PHÂN TÍCH ĐIỂM BÌNH QUÂN NỔI BẬT (KỲ THI TỐT NGHIỆP THPT 2026)</a:t>
            </a:r>
          </a:p>
          <a:p>
            <a:pPr>
              <a:spcBef>
                <a:spcPts val="800"/>
              </a:spcBef>
              <a:defRPr sz="1250" b="1">
                <a:solidFill>
                  <a:srgbClr val="0B2545"/>
                </a:solidFill>
              </a:defRPr>
            </a:pPr>
            <a:r>
              <a:t>• Môn Tin học: 8,64 điểm  —  Dẫn đầu toàn trường về điểm trung bình thi tốt nghiệp; năng lực tin học vượt trội.</a:t>
            </a:r>
          </a:p>
          <a:p>
            <a:pPr>
              <a:spcBef>
                <a:spcPts val="800"/>
              </a:spcBef>
              <a:defRPr sz="1250" b="1">
                <a:solidFill>
                  <a:srgbClr val="0B2545"/>
                </a:solidFill>
              </a:defRPr>
            </a:pPr>
            <a:r>
              <a:t>• Môn Lịch sử: 8,57 điểm  —  Điểm số ấn tượng kỷ lục của khối khoa học xã hội; khẳng định phương pháp dạy học sáng tạo.</a:t>
            </a:r>
          </a:p>
          <a:p>
            <a:pPr>
              <a:spcBef>
                <a:spcPts val="800"/>
              </a:spcBef>
              <a:defRPr sz="1250" b="1">
                <a:solidFill>
                  <a:srgbClr val="0B2545"/>
                </a:solidFill>
              </a:defRPr>
            </a:pPr>
            <a:r>
              <a:t>• Môn Hóa học: 8,11 điểm  —  Chất lượng chuyên môn sâu sắc, đồng đều ở tất cả các lớp tự nhiên.</a:t>
            </a:r>
          </a:p>
          <a:p>
            <a:pPr>
              <a:spcBef>
                <a:spcPts val="800"/>
              </a:spcBef>
              <a:defRPr sz="1250" b="1">
                <a:solidFill>
                  <a:srgbClr val="0B2545"/>
                </a:solidFill>
              </a:defRPr>
            </a:pPr>
            <a:r>
              <a:t>• Môn Toán: 8,10 điểm  —  Khối chuyên Toán vững chắc, đi kèm 9 bài thi đạt điểm 10 tuyệt đối.</a:t>
            </a:r>
          </a:p>
          <a:p>
            <a:pPr>
              <a:spcBef>
                <a:spcPts val="800"/>
              </a:spcBef>
              <a:defRPr sz="1250" b="1">
                <a:solidFill>
                  <a:srgbClr val="0B2545"/>
                </a:solidFill>
              </a:defRPr>
            </a:pPr>
            <a:r>
              <a:t>• Môn Sinh học: 7,71 điểm  —  Nền tảng vững chắc cho khối thi Y Dược và Công nghệ Sinh học.</a:t>
            </a:r>
          </a:p>
          <a:p>
            <a:pPr>
              <a:spcBef>
                <a:spcPts val="1400"/>
              </a:spcBef>
              <a:defRPr sz="1200" i="1">
                <a:solidFill>
                  <a:srgbClr val="64748B"/>
                </a:solidFill>
              </a:defRPr>
            </a:pPr>
            <a:r>
              <a:t>🎯 Đánh giá chung: Chất lượng điểm thi tốt nghiệp năm 2026 đồng đều xuất sắc ở cả hai nhóm môn Khoa học Tự nhiên và Khoa học Xã hội, giữ vững danh hiệu trường THPT hàng đầu khu vực.</a:t>
            </a:r>
          </a:p>
        </p:txBody>
      </p:sp>
      <p:sp>
        <p:nvSpPr>
          <p:cNvPr id="7" name="TextBox 6"/>
          <p:cNvSpPr txBox="1"/>
          <p:nvPr/>
        </p:nvSpPr>
        <p:spPr>
          <a:xfrm>
            <a:off x="731520" y="6446520"/>
            <a:ext cx="10698480" cy="320040"/>
          </a:xfrm>
          <a:prstGeom prst="rect">
            <a:avLst/>
          </a:prstGeom>
          <a:noFill/>
        </p:spPr>
        <p:txBody>
          <a:bodyPr wrap="none">
            <a:spAutoFit/>
          </a:bodyPr>
          <a:lstStyle/>
          <a:p>
            <a:pPr>
              <a:defRPr sz="1000">
                <a:solidFill>
                  <a:srgbClr val="64748B"/>
                </a:solidFill>
                <a:latin typeface="Arial"/>
              </a:defRPr>
            </a:pPr>
            <a:r>
              <a:t>Báo cáo &amp; Thuyết trình Tổng quan THPT Chuyên Hùng Vương | Đơn vị thực hiện: Nhóm Lớp 9A12  •  Slide 15/30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8229600" cy="320040"/>
          </a:xfrm>
          <a:prstGeom prst="rect">
            <a:avLst/>
          </a:prstGeom>
          <a:noFill/>
        </p:spPr>
        <p:txBody>
          <a:bodyPr wrap="none">
            <a:spAutoFit/>
          </a:bodyPr>
          <a:lstStyle/>
          <a:p>
            <a:pPr>
              <a:defRPr sz="1100" b="1">
                <a:solidFill>
                  <a:srgbClr val="0077B6"/>
                </a:solidFill>
                <a:latin typeface="Arial"/>
              </a:defRPr>
            </a:pPr>
            <a:r>
              <a:t>CHƯƠNG IV: BẢNG VÀNG THÀNH TÍCH</a:t>
            </a:r>
          </a:p>
        </p:txBody>
      </p:sp>
      <p:sp>
        <p:nvSpPr>
          <p:cNvPr id="4" name="TextBox 3"/>
          <p:cNvSpPr txBox="1"/>
          <p:nvPr/>
        </p:nvSpPr>
        <p:spPr>
          <a:xfrm>
            <a:off x="731520" y="566928"/>
            <a:ext cx="9601200" cy="594360"/>
          </a:xfrm>
          <a:prstGeom prst="rect">
            <a:avLst/>
          </a:prstGeom>
          <a:noFill/>
        </p:spPr>
        <p:txBody>
          <a:bodyPr wrap="none">
            <a:spAutoFit/>
          </a:bodyPr>
          <a:lstStyle/>
          <a:p>
            <a:pPr>
              <a:defRPr sz="2000" b="1">
                <a:solidFill>
                  <a:srgbClr val="0B2545"/>
                </a:solidFill>
                <a:latin typeface="Arial"/>
              </a:defRPr>
            </a:pPr>
            <a:r>
              <a:t>VINH DANH HỌC SINH TIÊU BIỂU &amp; THỦ KHOA CÁC KHỐI THI 2026</a:t>
            </a:r>
          </a:p>
        </p:txBody>
      </p:sp>
      <p:sp>
        <p:nvSpPr>
          <p:cNvPr id="5" name="TextBox 4"/>
          <p:cNvSpPr txBox="1"/>
          <p:nvPr/>
        </p:nvSpPr>
        <p:spPr>
          <a:xfrm>
            <a:off x="10058400" y="292608"/>
            <a:ext cx="1463040" cy="320040"/>
          </a:xfrm>
          <a:prstGeom prst="rect">
            <a:avLst/>
          </a:prstGeom>
          <a:noFill/>
        </p:spPr>
        <p:txBody>
          <a:bodyPr wrap="none">
            <a:spAutoFit/>
          </a:bodyPr>
          <a:lstStyle/>
          <a:p>
            <a:pPr algn="r">
              <a:defRPr sz="1100" b="1">
                <a:solidFill>
                  <a:srgbClr val="64748B"/>
                </a:solidFill>
                <a:latin typeface="Arial"/>
              </a:defRPr>
            </a:pPr>
            <a:r>
              <a:t>16 / 30</a:t>
            </a:r>
          </a:p>
        </p:txBody>
      </p:sp>
      <p:sp>
        <p:nvSpPr>
          <p:cNvPr id="6" name="Rounded Rectangle 5"/>
          <p:cNvSpPr/>
          <p:nvPr/>
        </p:nvSpPr>
        <p:spPr>
          <a:xfrm>
            <a:off x="731520" y="1280160"/>
            <a:ext cx="10698480"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0077B6"/>
                </a:solidFill>
              </a:defRPr>
            </a:pPr>
            <a:r>
              <a:t>🏅 DANH SÁCH THỦ KHOA VÀ THÀNH TÍCH ĐIỂM SỐ NỔI BẬT KỲ THI THPT 2026</a:t>
            </a:r>
          </a:p>
          <a:p>
            <a:pPr>
              <a:spcBef>
                <a:spcPts val="600"/>
              </a:spcBef>
              <a:defRPr sz="1200" b="1">
                <a:solidFill>
                  <a:srgbClr val="0B2545"/>
                </a:solidFill>
              </a:defRPr>
            </a:pPr>
            <a:r>
              <a:t>• Khối A00 (Toán–Lý–Hóa):  Hoàng Minh Dương (Lớp 12H)  —  28,50 điểm (Thủ khoa cao nhất toàn trường)</a:t>
            </a:r>
          </a:p>
          <a:p>
            <a:pPr>
              <a:spcBef>
                <a:spcPts val="600"/>
              </a:spcBef>
              <a:defRPr sz="1200" b="1">
                <a:solidFill>
                  <a:srgbClr val="0B2545"/>
                </a:solidFill>
              </a:defRPr>
            </a:pPr>
            <a:r>
              <a:t>• Khối A01 (Toán–Lý–Anh):  Trần Hữu Đạt &amp; Đinh Quốc Trí (12Ti &amp; 12A2)  —  28,25 điểm (Đồng điểm cao nhất khối A01)</a:t>
            </a:r>
          </a:p>
          <a:p>
            <a:pPr>
              <a:spcBef>
                <a:spcPts val="600"/>
              </a:spcBef>
              <a:defRPr sz="1200" b="1">
                <a:solidFill>
                  <a:srgbClr val="0B2545"/>
                </a:solidFill>
              </a:defRPr>
            </a:pPr>
            <a:r>
              <a:t>• Khối B00 (Toán–Hóa–Sinh):  Huỳnh Quốc Đại &amp; Phạm Thiên Ngân (12Si &amp; 12H)  —  27,75 điểm (Quốc Đại xuất sắc đạt điểm 10 Sinh)</a:t>
            </a:r>
          </a:p>
          <a:p>
            <a:pPr>
              <a:spcBef>
                <a:spcPts val="600"/>
              </a:spcBef>
              <a:defRPr sz="1200" b="1">
                <a:solidFill>
                  <a:srgbClr val="0B2545"/>
                </a:solidFill>
              </a:defRPr>
            </a:pPr>
            <a:r>
              <a:t>• Khối C03 (Toán–Văn–Sử):  Nguyễn Thị Mai Phương (Lớp 12A2)  —  27,25 điểm (Mai Phương đạt điểm 10 tuyệt đối môn Sử)</a:t>
            </a:r>
          </a:p>
          <a:p>
            <a:pPr>
              <a:spcBef>
                <a:spcPts val="600"/>
              </a:spcBef>
              <a:defRPr sz="1200" b="1">
                <a:solidFill>
                  <a:srgbClr val="0B2545"/>
                </a:solidFill>
              </a:defRPr>
            </a:pPr>
            <a:r>
              <a:t>• Khối D01 (Toán–Văn–Anh):  Đinh Quốc Trí &amp; Nguyễn Huỳnh Khánh Ngọc (12A2 &amp; 12A1)  —  27,25 điểm (Quốc Trí đạt điểm 10 tuyệt đối môn Toán)</a:t>
            </a:r>
          </a:p>
          <a:p>
            <a:pPr>
              <a:spcBef>
                <a:spcPts val="600"/>
              </a:spcBef>
              <a:defRPr sz="1200" b="1">
                <a:solidFill>
                  <a:srgbClr val="0B2545"/>
                </a:solidFill>
              </a:defRPr>
            </a:pPr>
            <a:r>
              <a:t>• Khối D07 (Toán–Hóa–Anh):  Dương Thị Khánh Ninh (Lớp 12T2)  —  26,50 điểm (Thủ khoa khối D07)</a:t>
            </a:r>
          </a:p>
          <a:p>
            <a:pPr>
              <a:spcBef>
                <a:spcPts val="600"/>
              </a:spcBef>
              <a:defRPr sz="1200" b="1">
                <a:solidFill>
                  <a:srgbClr val="0B2545"/>
                </a:solidFill>
              </a:defRPr>
            </a:pPr>
            <a:r>
              <a:t>• Khối X06 (Toán–Lý–Tin):  Nguyễn Hữu Đại &amp; Nguyễn Mạnh Hùng (Lớp 12Ti)  —  27,25 điểm (Hữu Đại xuất sắc đạt điểm 10 môn Toán)</a:t>
            </a:r>
          </a:p>
        </p:txBody>
      </p:sp>
      <p:sp>
        <p:nvSpPr>
          <p:cNvPr id="7" name="TextBox 6"/>
          <p:cNvSpPr txBox="1"/>
          <p:nvPr/>
        </p:nvSpPr>
        <p:spPr>
          <a:xfrm>
            <a:off x="731520" y="6446520"/>
            <a:ext cx="10698480" cy="320040"/>
          </a:xfrm>
          <a:prstGeom prst="rect">
            <a:avLst/>
          </a:prstGeom>
          <a:noFill/>
        </p:spPr>
        <p:txBody>
          <a:bodyPr wrap="none">
            <a:spAutoFit/>
          </a:bodyPr>
          <a:lstStyle/>
          <a:p>
            <a:pPr>
              <a:defRPr sz="1000">
                <a:solidFill>
                  <a:srgbClr val="64748B"/>
                </a:solidFill>
                <a:latin typeface="Arial"/>
              </a:defRPr>
            </a:pPr>
            <a:r>
              <a:t>Báo cáo &amp; Thuyết trình Tổng quan THPT Chuyên Hùng Vương | Đơn vị thực hiện: Nhóm Lớp 9A12  •  Slide 16/30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8229600" cy="320040"/>
          </a:xfrm>
          <a:prstGeom prst="rect">
            <a:avLst/>
          </a:prstGeom>
          <a:noFill/>
        </p:spPr>
        <p:txBody>
          <a:bodyPr wrap="none">
            <a:spAutoFit/>
          </a:bodyPr>
          <a:lstStyle/>
          <a:p>
            <a:pPr>
              <a:defRPr sz="1100" b="1">
                <a:solidFill>
                  <a:srgbClr val="0077B6"/>
                </a:solidFill>
                <a:latin typeface="Arial"/>
              </a:defRPr>
            </a:pPr>
            <a:r>
              <a:t>CHƯƠNG V: TỔNG QUAN TUYỂN SINH</a:t>
            </a:r>
          </a:p>
        </p:txBody>
      </p:sp>
      <p:sp>
        <p:nvSpPr>
          <p:cNvPr id="4" name="TextBox 3"/>
          <p:cNvSpPr txBox="1"/>
          <p:nvPr/>
        </p:nvSpPr>
        <p:spPr>
          <a:xfrm>
            <a:off x="731520" y="566928"/>
            <a:ext cx="9601200" cy="594360"/>
          </a:xfrm>
          <a:prstGeom prst="rect">
            <a:avLst/>
          </a:prstGeom>
          <a:noFill/>
        </p:spPr>
        <p:txBody>
          <a:bodyPr wrap="none">
            <a:spAutoFit/>
          </a:bodyPr>
          <a:lstStyle/>
          <a:p>
            <a:pPr>
              <a:defRPr sz="2000" b="1">
                <a:solidFill>
                  <a:srgbClr val="0B2545"/>
                </a:solidFill>
                <a:latin typeface="Arial"/>
              </a:defRPr>
            </a:pPr>
            <a:r>
              <a:t>TỔNG QUAN HỆ THỐNG TUYỂN SINH LỚP 10 CHUYÊN</a:t>
            </a:r>
          </a:p>
        </p:txBody>
      </p:sp>
      <p:sp>
        <p:nvSpPr>
          <p:cNvPr id="5" name="TextBox 4"/>
          <p:cNvSpPr txBox="1"/>
          <p:nvPr/>
        </p:nvSpPr>
        <p:spPr>
          <a:xfrm>
            <a:off x="10058400" y="292608"/>
            <a:ext cx="1463040" cy="320040"/>
          </a:xfrm>
          <a:prstGeom prst="rect">
            <a:avLst/>
          </a:prstGeom>
          <a:noFill/>
        </p:spPr>
        <p:txBody>
          <a:bodyPr wrap="none">
            <a:spAutoFit/>
          </a:bodyPr>
          <a:lstStyle/>
          <a:p>
            <a:pPr algn="r">
              <a:defRPr sz="1100" b="1">
                <a:solidFill>
                  <a:srgbClr val="64748B"/>
                </a:solidFill>
                <a:latin typeface="Arial"/>
              </a:defRPr>
            </a:pPr>
            <a:r>
              <a:t>17 / 30</a:t>
            </a:r>
          </a:p>
        </p:txBody>
      </p:sp>
      <p:sp>
        <p:nvSpPr>
          <p:cNvPr id="6" name="Rounded Rectangle 5"/>
          <p:cNvSpPr/>
          <p:nvPr/>
        </p:nvSpPr>
        <p:spPr>
          <a:xfrm>
            <a:off x="731520" y="1280160"/>
            <a:ext cx="10698480"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0077B6"/>
                </a:solidFill>
              </a:defRPr>
            </a:pPr>
            <a:r>
              <a:t>📋 PHƯƠNG THỨC TUYỂN SINH VÀ QUY ĐỊNH XÉT TUYỂN VÀO LỚP 10</a:t>
            </a:r>
          </a:p>
          <a:p>
            <a:pPr>
              <a:spcBef>
                <a:spcPts val="800"/>
              </a:spcBef>
              <a:defRPr sz="1200">
                <a:solidFill>
                  <a:srgbClr val="0F172A"/>
                </a:solidFill>
              </a:defRPr>
            </a:pPr>
            <a:r>
              <a:t>• Phương thức Tuyển sinh: Thi tuyển kết hợp giữa các môn thi chung (Toán, Ngữ văn, Tiếng Anh) và bài thi môn Chuyên theo nguyện vọng đăng ký của thí sinh.</a:t>
            </a:r>
          </a:p>
          <a:p>
            <a:pPr>
              <a:spcBef>
                <a:spcPts val="800"/>
              </a:spcBef>
              <a:defRPr sz="1200">
                <a:solidFill>
                  <a:srgbClr val="0F172A"/>
                </a:solidFill>
              </a:defRPr>
            </a:pPr>
            <a:r>
              <a:t>• CÔNG THỨC TÍNH ĐIỂM XÉT TUYỂN:</a:t>
            </a:r>
            <a:br/>
            <a:r>
              <a:t>   Điểm Xét Tuyển = (Điểm Toán + Điểm Ngữ văn + Điểm Tiếng Anh) + (Điểm môn Chuyên x 2)</a:t>
            </a:r>
          </a:p>
          <a:p>
            <a:pPr>
              <a:spcBef>
                <a:spcPts val="800"/>
              </a:spcBef>
              <a:defRPr sz="1200">
                <a:solidFill>
                  <a:srgbClr val="0F172A"/>
                </a:solidFill>
              </a:defRPr>
            </a:pPr>
            <a:r>
              <a:t>• Phân biệt rõ 4 Thuật ngữ Tuyển sinh then chốt:</a:t>
            </a:r>
            <a:br/>
            <a:r>
              <a:t>     • Chỉ tiêu tuyển sinh: Số lượng học sinh tối đa nhà trường được phép tiếp nhận theo quyết định phê duyệt của Sở GD&amp;ĐT.</a:t>
            </a:r>
            <a:br/>
            <a:r>
              <a:t>  • Điểm thi thực tế: Điểm số các bài thi thí sinh đạt được.</a:t>
            </a:r>
            <a:br/>
            <a:r>
              <a:t>  • Điểm xét tuyển: Tổng điểm sau khi nhân hệ số môn chuyên theo công thức quy định.</a:t>
            </a:r>
            <a:br/>
            <a:r>
              <a:t>  • Điểm chuẩn (Điểm trúng tuyển): Mức điểm xét tuyển tối thiểu để thí sinh đạt điều kiện trúng tuyển vào từng môn chuyên.</a:t>
            </a:r>
          </a:p>
          <a:p>
            <a:pPr>
              <a:spcBef>
                <a:spcPts val="800"/>
              </a:spcBef>
              <a:defRPr sz="1200">
                <a:solidFill>
                  <a:srgbClr val="0F172A"/>
                </a:solidFill>
              </a:defRPr>
            </a:pPr>
            <a:r>
              <a:t>• Cơ quan Thẩm quyền: Sở Giáo dục và Đào tạo công bố chỉ tiêu, hướng dẫn xét tuyển và phê duyệt điểm chuẩn chính thức hàng năm.</a:t>
            </a:r>
          </a:p>
        </p:txBody>
      </p:sp>
      <p:sp>
        <p:nvSpPr>
          <p:cNvPr id="7" name="TextBox 6"/>
          <p:cNvSpPr txBox="1"/>
          <p:nvPr/>
        </p:nvSpPr>
        <p:spPr>
          <a:xfrm>
            <a:off x="731520" y="6446520"/>
            <a:ext cx="10698480" cy="320040"/>
          </a:xfrm>
          <a:prstGeom prst="rect">
            <a:avLst/>
          </a:prstGeom>
          <a:noFill/>
        </p:spPr>
        <p:txBody>
          <a:bodyPr wrap="none">
            <a:spAutoFit/>
          </a:bodyPr>
          <a:lstStyle/>
          <a:p>
            <a:pPr>
              <a:defRPr sz="1000">
                <a:solidFill>
                  <a:srgbClr val="64748B"/>
                </a:solidFill>
                <a:latin typeface="Arial"/>
              </a:defRPr>
            </a:pPr>
            <a:r>
              <a:t>Báo cáo &amp; Thuyết trình Tổng quan THPT Chuyên Hùng Vương | Đơn vị thực hiện: Nhóm Lớp 9A12  •  Slide 17/30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8229600" cy="320040"/>
          </a:xfrm>
          <a:prstGeom prst="rect">
            <a:avLst/>
          </a:prstGeom>
          <a:noFill/>
        </p:spPr>
        <p:txBody>
          <a:bodyPr wrap="none">
            <a:spAutoFit/>
          </a:bodyPr>
          <a:lstStyle/>
          <a:p>
            <a:pPr>
              <a:defRPr sz="1100" b="1">
                <a:solidFill>
                  <a:srgbClr val="0077B6"/>
                </a:solidFill>
                <a:latin typeface="Arial"/>
              </a:defRPr>
            </a:pPr>
            <a:r>
              <a:t>CHƯƠNG V: TỔNG QUAN TUYỂN SINH</a:t>
            </a:r>
          </a:p>
        </p:txBody>
      </p:sp>
      <p:sp>
        <p:nvSpPr>
          <p:cNvPr id="4" name="TextBox 3"/>
          <p:cNvSpPr txBox="1"/>
          <p:nvPr/>
        </p:nvSpPr>
        <p:spPr>
          <a:xfrm>
            <a:off x="731520" y="566928"/>
            <a:ext cx="9601200" cy="594360"/>
          </a:xfrm>
          <a:prstGeom prst="rect">
            <a:avLst/>
          </a:prstGeom>
          <a:noFill/>
        </p:spPr>
        <p:txBody>
          <a:bodyPr wrap="none">
            <a:spAutoFit/>
          </a:bodyPr>
          <a:lstStyle/>
          <a:p>
            <a:pPr>
              <a:defRPr sz="2000" b="1">
                <a:solidFill>
                  <a:srgbClr val="0B2545"/>
                </a:solidFill>
                <a:latin typeface="Arial"/>
              </a:defRPr>
            </a:pPr>
            <a:r>
              <a:t>ĐIỂM CHUẨN TUYỂN SINH NĂM HỌC 2024 – 2025</a:t>
            </a:r>
          </a:p>
        </p:txBody>
      </p:sp>
      <p:sp>
        <p:nvSpPr>
          <p:cNvPr id="5" name="TextBox 4"/>
          <p:cNvSpPr txBox="1"/>
          <p:nvPr/>
        </p:nvSpPr>
        <p:spPr>
          <a:xfrm>
            <a:off x="10058400" y="292608"/>
            <a:ext cx="1463040" cy="320040"/>
          </a:xfrm>
          <a:prstGeom prst="rect">
            <a:avLst/>
          </a:prstGeom>
          <a:noFill/>
        </p:spPr>
        <p:txBody>
          <a:bodyPr wrap="none">
            <a:spAutoFit/>
          </a:bodyPr>
          <a:lstStyle/>
          <a:p>
            <a:pPr algn="r">
              <a:defRPr sz="1100" b="1">
                <a:solidFill>
                  <a:srgbClr val="64748B"/>
                </a:solidFill>
                <a:latin typeface="Arial"/>
              </a:defRPr>
            </a:pPr>
            <a:r>
              <a:t>18 / 30</a:t>
            </a:r>
          </a:p>
        </p:txBody>
      </p:sp>
      <p:sp>
        <p:nvSpPr>
          <p:cNvPr id="6" name="Rounded Rectangle 5"/>
          <p:cNvSpPr/>
          <p:nvPr/>
        </p:nvSpPr>
        <p:spPr>
          <a:xfrm>
            <a:off x="731520" y="1280160"/>
            <a:ext cx="10698480"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0077B6"/>
                </a:solidFill>
              </a:defRPr>
            </a:pPr>
            <a:r>
              <a:t>📈 CHI TIẾT ĐIỂM CHUẨN TRÚNG TUYỂN 2024 – 2025 (CÔNG BỐ NGÀY 24/07/2024)</a:t>
            </a:r>
          </a:p>
          <a:p>
            <a:pPr>
              <a:spcBef>
                <a:spcPts val="800"/>
              </a:spcBef>
              <a:defRPr sz="1300" b="1">
                <a:solidFill>
                  <a:srgbClr val="0B2545"/>
                </a:solidFill>
              </a:defRPr>
            </a:pPr>
            <a:r>
              <a:t>• Chuyên Toán: 34,10 điểm  —  Mức điểm chuẩn cao nhất toàn trường khối KHTN.</a:t>
            </a:r>
          </a:p>
          <a:p>
            <a:pPr>
              <a:spcBef>
                <a:spcPts val="800"/>
              </a:spcBef>
              <a:defRPr sz="1300" b="1">
                <a:solidFill>
                  <a:srgbClr val="0B2545"/>
                </a:solidFill>
              </a:defRPr>
            </a:pPr>
            <a:r>
              <a:t>• Chuyên Tiếng Anh: 34,05 điểm  —  Đứng vị trí thứ hai về độ cạnh tranh điểm số trúng tuyển.</a:t>
            </a:r>
          </a:p>
          <a:p>
            <a:pPr>
              <a:spcBef>
                <a:spcPts val="800"/>
              </a:spcBef>
              <a:defRPr sz="1300" b="1">
                <a:solidFill>
                  <a:srgbClr val="0B2545"/>
                </a:solidFill>
              </a:defRPr>
            </a:pPr>
            <a:r>
              <a:t>• Chuyên Lịch sử: 29,85 điểm  —  Thuộc nhóm lớp Chuyên Lịch sử - Địa lý.</a:t>
            </a:r>
          </a:p>
          <a:p>
            <a:pPr>
              <a:spcBef>
                <a:spcPts val="800"/>
              </a:spcBef>
              <a:defRPr sz="1300" b="1">
                <a:solidFill>
                  <a:srgbClr val="0B2545"/>
                </a:solidFill>
              </a:defRPr>
            </a:pPr>
            <a:r>
              <a:t>• Các môn chuyên còn lại (Lý, Hóa, Sinh, Tin, Văn, Địa): 29,85 – 34,05 điểm  —  Phổ điểm ổn định, bảo đảm chất lượng đầu vào cao.</a:t>
            </a:r>
          </a:p>
          <a:p>
            <a:pPr>
              <a:spcBef>
                <a:spcPts val="1400"/>
              </a:spcBef>
              <a:defRPr sz="1200">
                <a:solidFill>
                  <a:srgbClr val="0F172A"/>
                </a:solidFill>
              </a:defRPr>
            </a:pPr>
            <a:r>
              <a:t>• Tổng số học sinh trúng tuyển thực tế năm 2024: 315 học sinh.</a:t>
            </a:r>
            <a:br/>
            <a:r>
              <a:t>• Nguồn văn bản pháp lý: Báo Bình Dương (23/07/2024) &amp; Cổng thông tin THPT Chuyên Hùng Vương (24/07/2024).</a:t>
            </a:r>
          </a:p>
        </p:txBody>
      </p:sp>
      <p:sp>
        <p:nvSpPr>
          <p:cNvPr id="7" name="TextBox 6"/>
          <p:cNvSpPr txBox="1"/>
          <p:nvPr/>
        </p:nvSpPr>
        <p:spPr>
          <a:xfrm>
            <a:off x="731520" y="6446520"/>
            <a:ext cx="10698480" cy="320040"/>
          </a:xfrm>
          <a:prstGeom prst="rect">
            <a:avLst/>
          </a:prstGeom>
          <a:noFill/>
        </p:spPr>
        <p:txBody>
          <a:bodyPr wrap="none">
            <a:spAutoFit/>
          </a:bodyPr>
          <a:lstStyle/>
          <a:p>
            <a:pPr>
              <a:defRPr sz="1000">
                <a:solidFill>
                  <a:srgbClr val="64748B"/>
                </a:solidFill>
                <a:latin typeface="Arial"/>
              </a:defRPr>
            </a:pPr>
            <a:r>
              <a:t>Báo cáo &amp; Thuyết trình Tổng quan THPT Chuyên Hùng Vương | Đơn vị thực hiện: Nhóm Lớp 9A12  •  Slide 18/30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8229600" cy="320040"/>
          </a:xfrm>
          <a:prstGeom prst="rect">
            <a:avLst/>
          </a:prstGeom>
          <a:noFill/>
        </p:spPr>
        <p:txBody>
          <a:bodyPr wrap="none">
            <a:spAutoFit/>
          </a:bodyPr>
          <a:lstStyle/>
          <a:p>
            <a:pPr>
              <a:defRPr sz="1100" b="1">
                <a:solidFill>
                  <a:srgbClr val="0077B6"/>
                </a:solidFill>
                <a:latin typeface="Arial"/>
              </a:defRPr>
            </a:pPr>
            <a:r>
              <a:t>CHƯƠNG V: TỔNG QUAN TUYỂN SINH</a:t>
            </a:r>
          </a:p>
        </p:txBody>
      </p:sp>
      <p:sp>
        <p:nvSpPr>
          <p:cNvPr id="4" name="TextBox 3"/>
          <p:cNvSpPr txBox="1"/>
          <p:nvPr/>
        </p:nvSpPr>
        <p:spPr>
          <a:xfrm>
            <a:off x="731520" y="566928"/>
            <a:ext cx="9601200" cy="594360"/>
          </a:xfrm>
          <a:prstGeom prst="rect">
            <a:avLst/>
          </a:prstGeom>
          <a:noFill/>
        </p:spPr>
        <p:txBody>
          <a:bodyPr wrap="none">
            <a:spAutoFit/>
          </a:bodyPr>
          <a:lstStyle/>
          <a:p>
            <a:pPr>
              <a:defRPr sz="2000" b="1">
                <a:solidFill>
                  <a:srgbClr val="0B2545"/>
                </a:solidFill>
                <a:latin typeface="Arial"/>
              </a:defRPr>
            </a:pPr>
            <a:r>
              <a:t>CHỈ TIÊU VÀ CƠ CẤU LỚP CHUYÊN NĂM HỌC 2024 – 2025</a:t>
            </a:r>
          </a:p>
        </p:txBody>
      </p:sp>
      <p:sp>
        <p:nvSpPr>
          <p:cNvPr id="5" name="TextBox 4"/>
          <p:cNvSpPr txBox="1"/>
          <p:nvPr/>
        </p:nvSpPr>
        <p:spPr>
          <a:xfrm>
            <a:off x="10058400" y="292608"/>
            <a:ext cx="1463040" cy="320040"/>
          </a:xfrm>
          <a:prstGeom prst="rect">
            <a:avLst/>
          </a:prstGeom>
          <a:noFill/>
        </p:spPr>
        <p:txBody>
          <a:bodyPr wrap="none">
            <a:spAutoFit/>
          </a:bodyPr>
          <a:lstStyle/>
          <a:p>
            <a:pPr algn="r">
              <a:defRPr sz="1100" b="1">
                <a:solidFill>
                  <a:srgbClr val="64748B"/>
                </a:solidFill>
                <a:latin typeface="Arial"/>
              </a:defRPr>
            </a:pPr>
            <a:r>
              <a:t>19 / 30</a:t>
            </a:r>
          </a:p>
        </p:txBody>
      </p:sp>
      <p:sp>
        <p:nvSpPr>
          <p:cNvPr id="6" name="Rounded Rectangle 5"/>
          <p:cNvSpPr/>
          <p:nvPr/>
        </p:nvSpPr>
        <p:spPr>
          <a:xfrm>
            <a:off x="731520" y="1280160"/>
            <a:ext cx="10698480"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0077B6"/>
                </a:solidFill>
              </a:defRPr>
            </a:pPr>
            <a:r>
              <a:t>🏫 CƠ CẤU 9 LỚP CHUYÊN NĂM HỌC 2024 – 2025 (TỔNG CHỈ TIÊU 315 HỌC SINH)</a:t>
            </a:r>
          </a:p>
          <a:p>
            <a:pPr>
              <a:spcBef>
                <a:spcPts val="800"/>
              </a:spcBef>
              <a:defRPr sz="1300" b="1">
                <a:solidFill>
                  <a:srgbClr val="0B2545"/>
                </a:solidFill>
              </a:defRPr>
            </a:pPr>
            <a:r>
              <a:t>• Tổng chỉ tiêu tuyển sinh: Tuyển mới đúng 315 học sinh vào Khối 10.</a:t>
            </a:r>
          </a:p>
          <a:p>
            <a:pPr>
              <a:spcBef>
                <a:spcPts val="800"/>
              </a:spcBef>
              <a:defRPr sz="1200">
                <a:solidFill>
                  <a:srgbClr val="0F172A"/>
                </a:solidFill>
              </a:defRPr>
            </a:pPr>
            <a:r>
              <a:t>• Chi tiết cơ cấu 09 lớp chuyên toàn trường:</a:t>
            </a:r>
            <a:br/>
            <a:r>
              <a:t>  - 01 lớp Chuyên Toán</a:t>
            </a:r>
            <a:br/>
            <a:r>
              <a:t>  - 01 lớp Chuyên Toán - Tin học (Mô hình lớp chuyên ghép môn Toán và Tin học)</a:t>
            </a:r>
            <a:br/>
            <a:r>
              <a:t>  - 01 lớp Chuyên Vật lý  |  01 lớp Chuyên Hóa học  |  01 lớp Chuyên Sinh học</a:t>
            </a:r>
            <a:br/>
            <a:r>
              <a:t>  - 01 lớp Chuyên Ngữ văn  |  01 lớp Chuyên Lịch sử - Địa lý (Mô hình lớp chuyên ghép Lịch sử và Địa lý)</a:t>
            </a:r>
            <a:br/>
            <a:r>
              <a:t>  - 02 lớp Chuyên Tiếng Anh (Quy mô đào tạo ngoại ngữ lớn nhất)</a:t>
            </a:r>
          </a:p>
          <a:p>
            <a:pPr>
              <a:spcBef>
                <a:spcPts val="1200"/>
              </a:spcBef>
              <a:defRPr sz="1200" i="1">
                <a:solidFill>
                  <a:srgbClr val="64748B"/>
                </a:solidFill>
              </a:defRPr>
            </a:pPr>
            <a:r>
              <a:t>• Đánh giá: Cơ cấu lớp chuyên được duy trì ổn định, bảo đảm nguồn học sinh giỏi kế cận cho các đội tuyển học sinh giỏi quốc gia và các kỳ thi học thuật lớn.</a:t>
            </a:r>
          </a:p>
        </p:txBody>
      </p:sp>
      <p:sp>
        <p:nvSpPr>
          <p:cNvPr id="7" name="TextBox 6"/>
          <p:cNvSpPr txBox="1"/>
          <p:nvPr/>
        </p:nvSpPr>
        <p:spPr>
          <a:xfrm>
            <a:off x="731520" y="6446520"/>
            <a:ext cx="10698480" cy="320040"/>
          </a:xfrm>
          <a:prstGeom prst="rect">
            <a:avLst/>
          </a:prstGeom>
          <a:noFill/>
        </p:spPr>
        <p:txBody>
          <a:bodyPr wrap="none">
            <a:spAutoFit/>
          </a:bodyPr>
          <a:lstStyle/>
          <a:p>
            <a:pPr>
              <a:defRPr sz="1000">
                <a:solidFill>
                  <a:srgbClr val="64748B"/>
                </a:solidFill>
                <a:latin typeface="Arial"/>
              </a:defRPr>
            </a:pPr>
            <a:r>
              <a:t>Báo cáo &amp; Thuyết trình Tổng quan THPT Chuyên Hùng Vương | Đơn vị thực hiện: Nhóm Lớp 9A12  •  Slide 19/30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8229600" cy="320040"/>
          </a:xfrm>
          <a:prstGeom prst="rect">
            <a:avLst/>
          </a:prstGeom>
          <a:noFill/>
        </p:spPr>
        <p:txBody>
          <a:bodyPr wrap="none">
            <a:spAutoFit/>
          </a:bodyPr>
          <a:lstStyle/>
          <a:p>
            <a:pPr>
              <a:defRPr sz="1100" b="1">
                <a:solidFill>
                  <a:srgbClr val="0077B6"/>
                </a:solidFill>
                <a:latin typeface="Arial"/>
              </a:defRPr>
            </a:pPr>
            <a:r>
              <a:t>CHƯƠNG V: TỔNG QUAN TUYỂN SINH</a:t>
            </a:r>
          </a:p>
        </p:txBody>
      </p:sp>
      <p:sp>
        <p:nvSpPr>
          <p:cNvPr id="4" name="TextBox 3"/>
          <p:cNvSpPr txBox="1"/>
          <p:nvPr/>
        </p:nvSpPr>
        <p:spPr>
          <a:xfrm>
            <a:off x="731520" y="566928"/>
            <a:ext cx="9601200" cy="594360"/>
          </a:xfrm>
          <a:prstGeom prst="rect">
            <a:avLst/>
          </a:prstGeom>
          <a:noFill/>
        </p:spPr>
        <p:txBody>
          <a:bodyPr wrap="none">
            <a:spAutoFit/>
          </a:bodyPr>
          <a:lstStyle/>
          <a:p>
            <a:pPr>
              <a:defRPr sz="2000" b="1">
                <a:solidFill>
                  <a:srgbClr val="0B2545"/>
                </a:solidFill>
                <a:latin typeface="Arial"/>
              </a:defRPr>
            </a:pPr>
            <a:r>
              <a:t>BẢNG ĐIỂM CHUẨN TUYỂN SINH NĂM HỌC 2025 – 2026</a:t>
            </a:r>
          </a:p>
        </p:txBody>
      </p:sp>
      <p:sp>
        <p:nvSpPr>
          <p:cNvPr id="5" name="TextBox 4"/>
          <p:cNvSpPr txBox="1"/>
          <p:nvPr/>
        </p:nvSpPr>
        <p:spPr>
          <a:xfrm>
            <a:off x="10058400" y="292608"/>
            <a:ext cx="1463040" cy="320040"/>
          </a:xfrm>
          <a:prstGeom prst="rect">
            <a:avLst/>
          </a:prstGeom>
          <a:noFill/>
        </p:spPr>
        <p:txBody>
          <a:bodyPr wrap="none">
            <a:spAutoFit/>
          </a:bodyPr>
          <a:lstStyle/>
          <a:p>
            <a:pPr algn="r">
              <a:defRPr sz="1100" b="1">
                <a:solidFill>
                  <a:srgbClr val="64748B"/>
                </a:solidFill>
                <a:latin typeface="Arial"/>
              </a:defRPr>
            </a:pPr>
            <a:r>
              <a:t>20 / 30</a:t>
            </a:r>
          </a:p>
        </p:txBody>
      </p:sp>
      <p:sp>
        <p:nvSpPr>
          <p:cNvPr id="6" name="Rounded Rectangle 5"/>
          <p:cNvSpPr/>
          <p:nvPr/>
        </p:nvSpPr>
        <p:spPr>
          <a:xfrm>
            <a:off x="731520" y="1280160"/>
            <a:ext cx="10698480"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0077B6"/>
                </a:solidFill>
              </a:defRPr>
            </a:pPr>
            <a:r>
              <a:t>📊 SỐ LIỆU ĐIỂM CHUẨN 2025 (SỞ GD&amp;ĐT CÔNG BỐ 28/06/2025)</a:t>
            </a:r>
          </a:p>
          <a:p>
            <a:pPr>
              <a:spcBef>
                <a:spcPts val="300"/>
              </a:spcBef>
              <a:defRPr sz="1100" b="1">
                <a:solidFill>
                  <a:srgbClr val="0B2545"/>
                </a:solidFill>
              </a:defRPr>
            </a:pPr>
            <a:r>
              <a:t>• 1. Chuyên Toán: 36,45 điểm  (Cao nhất toàn trường, kỷ lục cạnh tranh)</a:t>
            </a:r>
          </a:p>
          <a:p>
            <a:pPr>
              <a:spcBef>
                <a:spcPts val="300"/>
              </a:spcBef>
              <a:defRPr sz="1100" b="1">
                <a:solidFill>
                  <a:srgbClr val="0B2545"/>
                </a:solidFill>
              </a:defRPr>
            </a:pPr>
            <a:r>
              <a:t>• 2. Chuyên Hóa học: 34,55 điểm  (Đứng vị trí thứ hai toàn trường)</a:t>
            </a:r>
          </a:p>
          <a:p>
            <a:pPr>
              <a:spcBef>
                <a:spcPts val="300"/>
              </a:spcBef>
              <a:defRPr sz="1100" b="1">
                <a:solidFill>
                  <a:srgbClr val="0B2545"/>
                </a:solidFill>
              </a:defRPr>
            </a:pPr>
            <a:r>
              <a:t>• 3. Chuyên Tiếng Anh: 34,40 điểm  (Duy trì sức hút lớn)</a:t>
            </a:r>
          </a:p>
          <a:p>
            <a:pPr>
              <a:spcBef>
                <a:spcPts val="300"/>
              </a:spcBef>
              <a:defRPr sz="1100" b="1">
                <a:solidFill>
                  <a:srgbClr val="0B2545"/>
                </a:solidFill>
              </a:defRPr>
            </a:pPr>
            <a:r>
              <a:t>• 4. Chuyên Ngữ văn: 31,40 điểm  (Điểm chuẩn khối xã hội vững vàng)</a:t>
            </a:r>
          </a:p>
          <a:p>
            <a:pPr>
              <a:spcBef>
                <a:spcPts val="300"/>
              </a:spcBef>
              <a:defRPr sz="1100" b="1">
                <a:solidFill>
                  <a:srgbClr val="0B2545"/>
                </a:solidFill>
              </a:defRPr>
            </a:pPr>
            <a:r>
              <a:t>• 5. Chuyên Vật lý: 30,15 điểm  (Ngưỡng điểm trên 30)</a:t>
            </a:r>
          </a:p>
          <a:p>
            <a:pPr>
              <a:spcBef>
                <a:spcPts val="300"/>
              </a:spcBef>
              <a:defRPr sz="1100" b="1">
                <a:solidFill>
                  <a:srgbClr val="0B2545"/>
                </a:solidFill>
              </a:defRPr>
            </a:pPr>
            <a:r>
              <a:t>• 6. Chuyên Tin học: 29,45 điểm  (Đào tạo thuật toán chuyên sâu)</a:t>
            </a:r>
          </a:p>
          <a:p>
            <a:pPr>
              <a:spcBef>
                <a:spcPts val="300"/>
              </a:spcBef>
              <a:defRPr sz="1100" b="1">
                <a:solidFill>
                  <a:srgbClr val="0B2545"/>
                </a:solidFill>
              </a:defRPr>
            </a:pPr>
            <a:r>
              <a:t>• 7. Chuyên Sinh học: 28,475 điểm  (Xác thực chi tiết 3 chữ số thập phân)</a:t>
            </a:r>
          </a:p>
          <a:p>
            <a:pPr>
              <a:spcBef>
                <a:spcPts val="300"/>
              </a:spcBef>
              <a:defRPr sz="1100" b="1">
                <a:solidFill>
                  <a:srgbClr val="0B2545"/>
                </a:solidFill>
              </a:defRPr>
            </a:pPr>
            <a:r>
              <a:t>• 8. Chuyên Địa lý: 26,00 điểm  (Tách riêng lớp độc lập)</a:t>
            </a:r>
          </a:p>
          <a:p>
            <a:pPr>
              <a:spcBef>
                <a:spcPts val="300"/>
              </a:spcBef>
              <a:defRPr sz="1100" b="1">
                <a:solidFill>
                  <a:srgbClr val="0B2545"/>
                </a:solidFill>
              </a:defRPr>
            </a:pPr>
            <a:r>
              <a:t>• 9. Chuyên Lịch sử: 24,30 điểm  (Tách riêng lớp độc lập)</a:t>
            </a:r>
          </a:p>
          <a:p>
            <a:pPr>
              <a:spcBef>
                <a:spcPts val="800"/>
              </a:spcBef>
              <a:defRPr sz="1200" b="1">
                <a:solidFill>
                  <a:srgbClr val="EE9B00"/>
                </a:solidFill>
              </a:defRPr>
            </a:pPr>
            <a:r>
              <a:t>• Tổng thí sinh trúng tuyển chính thức: 357 học sinh (tăng quy mô so với năm học trước).</a:t>
            </a:r>
          </a:p>
        </p:txBody>
      </p:sp>
      <p:sp>
        <p:nvSpPr>
          <p:cNvPr id="7" name="TextBox 6"/>
          <p:cNvSpPr txBox="1"/>
          <p:nvPr/>
        </p:nvSpPr>
        <p:spPr>
          <a:xfrm>
            <a:off x="731520" y="6446520"/>
            <a:ext cx="10698480" cy="320040"/>
          </a:xfrm>
          <a:prstGeom prst="rect">
            <a:avLst/>
          </a:prstGeom>
          <a:noFill/>
        </p:spPr>
        <p:txBody>
          <a:bodyPr wrap="none">
            <a:spAutoFit/>
          </a:bodyPr>
          <a:lstStyle/>
          <a:p>
            <a:pPr>
              <a:defRPr sz="1000">
                <a:solidFill>
                  <a:srgbClr val="64748B"/>
                </a:solidFill>
                <a:latin typeface="Arial"/>
              </a:defRPr>
            </a:pPr>
            <a:r>
              <a:t>Báo cáo &amp; Thuyết trình Tổng quan THPT Chuyên Hùng Vương | Đơn vị thực hiện: Nhóm Lớp 9A12  •  Slide 20/30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8229600" cy="320040"/>
          </a:xfrm>
          <a:prstGeom prst="rect">
            <a:avLst/>
          </a:prstGeom>
          <a:noFill/>
        </p:spPr>
        <p:txBody>
          <a:bodyPr wrap="none">
            <a:spAutoFit/>
          </a:bodyPr>
          <a:lstStyle/>
          <a:p>
            <a:pPr>
              <a:defRPr sz="1100" b="1">
                <a:solidFill>
                  <a:srgbClr val="0077B6"/>
                </a:solidFill>
                <a:latin typeface="Arial"/>
              </a:defRPr>
            </a:pPr>
            <a:r>
              <a:t>CHƯƠNG V: TỔNG QUAN TUYỂN SINH</a:t>
            </a:r>
          </a:p>
        </p:txBody>
      </p:sp>
      <p:sp>
        <p:nvSpPr>
          <p:cNvPr id="4" name="TextBox 3"/>
          <p:cNvSpPr txBox="1"/>
          <p:nvPr/>
        </p:nvSpPr>
        <p:spPr>
          <a:xfrm>
            <a:off x="731520" y="566928"/>
            <a:ext cx="9601200" cy="594360"/>
          </a:xfrm>
          <a:prstGeom prst="rect">
            <a:avLst/>
          </a:prstGeom>
          <a:noFill/>
        </p:spPr>
        <p:txBody>
          <a:bodyPr wrap="none">
            <a:spAutoFit/>
          </a:bodyPr>
          <a:lstStyle/>
          <a:p>
            <a:pPr>
              <a:defRPr sz="2000" b="1">
                <a:solidFill>
                  <a:srgbClr val="0B2545"/>
                </a:solidFill>
                <a:latin typeface="Arial"/>
              </a:defRPr>
            </a:pPr>
            <a:r>
              <a:t>MỞ RỘNG CƠ CẤU 11 LỚP CHUYÊN NĂM HỌC 2025 – 2026</a:t>
            </a:r>
          </a:p>
        </p:txBody>
      </p:sp>
      <p:sp>
        <p:nvSpPr>
          <p:cNvPr id="5" name="TextBox 4"/>
          <p:cNvSpPr txBox="1"/>
          <p:nvPr/>
        </p:nvSpPr>
        <p:spPr>
          <a:xfrm>
            <a:off x="10058400" y="292608"/>
            <a:ext cx="1463040" cy="320040"/>
          </a:xfrm>
          <a:prstGeom prst="rect">
            <a:avLst/>
          </a:prstGeom>
          <a:noFill/>
        </p:spPr>
        <p:txBody>
          <a:bodyPr wrap="none">
            <a:spAutoFit/>
          </a:bodyPr>
          <a:lstStyle/>
          <a:p>
            <a:pPr algn="r">
              <a:defRPr sz="1100" b="1">
                <a:solidFill>
                  <a:srgbClr val="64748B"/>
                </a:solidFill>
                <a:latin typeface="Arial"/>
              </a:defRPr>
            </a:pPr>
            <a:r>
              <a:t>21 / 30</a:t>
            </a:r>
          </a:p>
        </p:txBody>
      </p:sp>
      <p:sp>
        <p:nvSpPr>
          <p:cNvPr id="6" name="Rounded Rectangle 5"/>
          <p:cNvSpPr/>
          <p:nvPr/>
        </p:nvSpPr>
        <p:spPr>
          <a:xfrm>
            <a:off x="731520" y="1280160"/>
            <a:ext cx="10698480"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0077B6"/>
                </a:solidFill>
              </a:defRPr>
            </a:pPr>
            <a:r>
              <a:t>🏛️ TỔNG CHỈ TIÊU VÀ CƠ CẤU 11 LỚP CHUYÊN ĐỘC LẬP NĂM 2025</a:t>
            </a:r>
          </a:p>
          <a:p>
            <a:pPr>
              <a:spcBef>
                <a:spcPts val="800"/>
              </a:spcBef>
              <a:defRPr sz="1300" b="1">
                <a:solidFill>
                  <a:srgbClr val="0B2545"/>
                </a:solidFill>
              </a:defRPr>
            </a:pPr>
            <a:r>
              <a:t>• Tổng số học sinh trúng tuyển: 357 học sinh (tăng so với 315 học sinh năm 2024).</a:t>
            </a:r>
          </a:p>
          <a:p>
            <a:pPr>
              <a:spcBef>
                <a:spcPts val="800"/>
              </a:spcBef>
              <a:defRPr sz="1200">
                <a:solidFill>
                  <a:srgbClr val="0F172A"/>
                </a:solidFill>
              </a:defRPr>
            </a:pPr>
            <a:r>
              <a:t>• Cơ cấu lớp chuyên được tách riêng độc lập (11 lớp):</a:t>
            </a:r>
            <a:br/>
            <a:r>
              <a:t>  - 02 lớp Chuyên Toán (Mở rộng thêm 01 lớp chuyên Toán)</a:t>
            </a:r>
            <a:br/>
            <a:r>
              <a:t>  - 01 lớp Chuyên Tin học (Tách riêng biệt khỏi lớp Toán-Tin năm trước)</a:t>
            </a:r>
            <a:br/>
            <a:r>
              <a:t>  - 01 lớp Chuyên Vật lý  |  01 lớp Chuyên Hóa học  |  01 lớp Chuyên Sinh học</a:t>
            </a:r>
            <a:br/>
            <a:r>
              <a:t>  - 01 lớp Chuyên Ngữ văn</a:t>
            </a:r>
            <a:br/>
            <a:r>
              <a:t>  - 01 lớp Chuyên Lịch sử  |  01 lớp Chuyên Địa lý (Tách riêng biệt khỏi lớp Sử-Địa năm trước)</a:t>
            </a:r>
            <a:br/>
            <a:r>
              <a:t>  - 02 lớp Chuyên Tiếng Anh</a:t>
            </a:r>
          </a:p>
          <a:p>
            <a:pPr>
              <a:spcBef>
                <a:spcPts val="1000"/>
              </a:spcBef>
              <a:defRPr sz="1200" i="1">
                <a:solidFill>
                  <a:srgbClr val="64748B"/>
                </a:solidFill>
              </a:defRPr>
            </a:pPr>
            <a:r>
              <a:t>• Kế hoạch Tuyển sinh Bổ sung: Tổ chức kỳ thi tuyển sinh bổ sung cho Lớp 11 chuyên, tạo cơ hội cho những học sinh có năng lực vượt trội chuyển tiếp vào trường.</a:t>
            </a:r>
          </a:p>
        </p:txBody>
      </p:sp>
      <p:sp>
        <p:nvSpPr>
          <p:cNvPr id="7" name="TextBox 6"/>
          <p:cNvSpPr txBox="1"/>
          <p:nvPr/>
        </p:nvSpPr>
        <p:spPr>
          <a:xfrm>
            <a:off x="731520" y="6446520"/>
            <a:ext cx="10698480" cy="320040"/>
          </a:xfrm>
          <a:prstGeom prst="rect">
            <a:avLst/>
          </a:prstGeom>
          <a:noFill/>
        </p:spPr>
        <p:txBody>
          <a:bodyPr wrap="none">
            <a:spAutoFit/>
          </a:bodyPr>
          <a:lstStyle/>
          <a:p>
            <a:pPr>
              <a:defRPr sz="1000">
                <a:solidFill>
                  <a:srgbClr val="64748B"/>
                </a:solidFill>
                <a:latin typeface="Arial"/>
              </a:defRPr>
            </a:pPr>
            <a:r>
              <a:t>Báo cáo &amp; Thuyết trình Tổng quan THPT Chuyên Hùng Vương | Đơn vị thực hiện: Nhóm Lớp 9A12  •  Slide 21/30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8229600" cy="320040"/>
          </a:xfrm>
          <a:prstGeom prst="rect">
            <a:avLst/>
          </a:prstGeom>
          <a:noFill/>
        </p:spPr>
        <p:txBody>
          <a:bodyPr wrap="none">
            <a:spAutoFit/>
          </a:bodyPr>
          <a:lstStyle/>
          <a:p>
            <a:pPr>
              <a:defRPr sz="1100" b="1">
                <a:solidFill>
                  <a:srgbClr val="0077B6"/>
                </a:solidFill>
                <a:latin typeface="Arial"/>
              </a:defRPr>
            </a:pPr>
            <a:r>
              <a:t>CHƯƠNG V: TỔNG QUAN TUYỂN SINH</a:t>
            </a:r>
          </a:p>
        </p:txBody>
      </p:sp>
      <p:sp>
        <p:nvSpPr>
          <p:cNvPr id="4" name="TextBox 3"/>
          <p:cNvSpPr txBox="1"/>
          <p:nvPr/>
        </p:nvSpPr>
        <p:spPr>
          <a:xfrm>
            <a:off x="731520" y="566928"/>
            <a:ext cx="9601200" cy="594360"/>
          </a:xfrm>
          <a:prstGeom prst="rect">
            <a:avLst/>
          </a:prstGeom>
          <a:noFill/>
        </p:spPr>
        <p:txBody>
          <a:bodyPr wrap="none">
            <a:spAutoFit/>
          </a:bodyPr>
          <a:lstStyle/>
          <a:p>
            <a:pPr>
              <a:defRPr sz="2000" b="1">
                <a:solidFill>
                  <a:srgbClr val="0B2545"/>
                </a:solidFill>
                <a:latin typeface="Arial"/>
              </a:defRPr>
            </a:pPr>
            <a:r>
              <a:t>KẾ HOẠCH TUYỂN SINH NĂM HỌC 2026 – 2027 (13 LỚP CHUYÊN)</a:t>
            </a:r>
          </a:p>
        </p:txBody>
      </p:sp>
      <p:sp>
        <p:nvSpPr>
          <p:cNvPr id="5" name="TextBox 4"/>
          <p:cNvSpPr txBox="1"/>
          <p:nvPr/>
        </p:nvSpPr>
        <p:spPr>
          <a:xfrm>
            <a:off x="10058400" y="292608"/>
            <a:ext cx="1463040" cy="320040"/>
          </a:xfrm>
          <a:prstGeom prst="rect">
            <a:avLst/>
          </a:prstGeom>
          <a:noFill/>
        </p:spPr>
        <p:txBody>
          <a:bodyPr wrap="none">
            <a:spAutoFit/>
          </a:bodyPr>
          <a:lstStyle/>
          <a:p>
            <a:pPr algn="r">
              <a:defRPr sz="1100" b="1">
                <a:solidFill>
                  <a:srgbClr val="64748B"/>
                </a:solidFill>
                <a:latin typeface="Arial"/>
              </a:defRPr>
            </a:pPr>
            <a:r>
              <a:t>22 / 30</a:t>
            </a:r>
          </a:p>
        </p:txBody>
      </p:sp>
      <p:sp>
        <p:nvSpPr>
          <p:cNvPr id="6" name="Rounded Rectangle 5"/>
          <p:cNvSpPr/>
          <p:nvPr/>
        </p:nvSpPr>
        <p:spPr>
          <a:xfrm>
            <a:off x="731520" y="1280160"/>
            <a:ext cx="10698480"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0077B6"/>
                </a:solidFill>
              </a:defRPr>
            </a:pPr>
            <a:r>
              <a:t>📢 CƠ CẤU PHÁT TRIỂN VỚI LỚP TIẾNG ANH ĐỀ ÁN 5695</a:t>
            </a:r>
          </a:p>
          <a:p>
            <a:pPr>
              <a:spcBef>
                <a:spcPts val="800"/>
              </a:spcBef>
              <a:defRPr sz="1300" b="1">
                <a:solidFill>
                  <a:srgbClr val="0B2545"/>
                </a:solidFill>
              </a:defRPr>
            </a:pPr>
            <a:r>
              <a:t>• Thông báo chính thức: Văn bản số 233/TB-THPTCHV ngày 20/04/2026 của trường THPT Chuyên Hùng Vương.</a:t>
            </a:r>
          </a:p>
          <a:p>
            <a:pPr>
              <a:spcBef>
                <a:spcPts val="800"/>
              </a:spcBef>
              <a:defRPr sz="1200">
                <a:solidFill>
                  <a:srgbClr val="0F172A"/>
                </a:solidFill>
              </a:defRPr>
            </a:pPr>
            <a:r>
              <a:t>• Mở rộng quy mô lên 13 lớp chuyên toàn trường:</a:t>
            </a:r>
            <a:br/>
            <a:r>
              <a:t>  - 02 lớp Chuyên Toán</a:t>
            </a:r>
            <a:br/>
            <a:r>
              <a:t>  - 03 lớp Chuyên Tiếng Anh (Gồm 02 lớp Chuyên Tiếng Anh truyền thống + 01 Lớp Tiếng Anh Đề án 5695)</a:t>
            </a:r>
            <a:br/>
            <a:r>
              <a:t>  - Các môn chuyên khác (Lý, Hóa, Sinh, Tin, Văn, Sử, Địa): Mỗi môn 01 lớp chuyên.</a:t>
            </a:r>
          </a:p>
          <a:p>
            <a:pPr>
              <a:spcBef>
                <a:spcPts val="1000"/>
              </a:spcBef>
              <a:defRPr sz="1200" i="1">
                <a:solidFill>
                  <a:srgbClr val="64748B"/>
                </a:solidFill>
              </a:defRPr>
            </a:pPr>
            <a:r>
              <a:t>• Đánh giá đột phá: Việc bổ sung lớp Tiếng Anh Đề án 5695 đánh dấu bước đột phá trong định hướng hội nhập quốc tế của nhà trường, chuẩn hóa năng lực ngoại ngữ học thuật theo chuẩn toàn cầu.</a:t>
            </a:r>
          </a:p>
        </p:txBody>
      </p:sp>
      <p:sp>
        <p:nvSpPr>
          <p:cNvPr id="7" name="TextBox 6"/>
          <p:cNvSpPr txBox="1"/>
          <p:nvPr/>
        </p:nvSpPr>
        <p:spPr>
          <a:xfrm>
            <a:off x="731520" y="6446520"/>
            <a:ext cx="10698480" cy="320040"/>
          </a:xfrm>
          <a:prstGeom prst="rect">
            <a:avLst/>
          </a:prstGeom>
          <a:noFill/>
        </p:spPr>
        <p:txBody>
          <a:bodyPr wrap="none">
            <a:spAutoFit/>
          </a:bodyPr>
          <a:lstStyle/>
          <a:p>
            <a:pPr>
              <a:defRPr sz="1000">
                <a:solidFill>
                  <a:srgbClr val="64748B"/>
                </a:solidFill>
                <a:latin typeface="Arial"/>
              </a:defRPr>
            </a:pPr>
            <a:r>
              <a:t>Báo cáo &amp; Thuyết trình Tổng quan THPT Chuyên Hùng Vương | Đơn vị thực hiện: Nhóm Lớp 9A12  •  Slide 22/30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8229600" cy="320040"/>
          </a:xfrm>
          <a:prstGeom prst="rect">
            <a:avLst/>
          </a:prstGeom>
          <a:noFill/>
        </p:spPr>
        <p:txBody>
          <a:bodyPr wrap="none">
            <a:spAutoFit/>
          </a:bodyPr>
          <a:lstStyle/>
          <a:p>
            <a:pPr>
              <a:defRPr sz="1100" b="1">
                <a:solidFill>
                  <a:srgbClr val="0077B6"/>
                </a:solidFill>
                <a:latin typeface="Arial"/>
              </a:defRPr>
            </a:pPr>
            <a:r>
              <a:t>CHƯƠNG V: TỔNG QUAN TUYỂN SINH</a:t>
            </a:r>
          </a:p>
        </p:txBody>
      </p:sp>
      <p:sp>
        <p:nvSpPr>
          <p:cNvPr id="4" name="TextBox 3"/>
          <p:cNvSpPr txBox="1"/>
          <p:nvPr/>
        </p:nvSpPr>
        <p:spPr>
          <a:xfrm>
            <a:off x="731520" y="566928"/>
            <a:ext cx="9601200" cy="594360"/>
          </a:xfrm>
          <a:prstGeom prst="rect">
            <a:avLst/>
          </a:prstGeom>
          <a:noFill/>
        </p:spPr>
        <p:txBody>
          <a:bodyPr wrap="none">
            <a:spAutoFit/>
          </a:bodyPr>
          <a:lstStyle/>
          <a:p>
            <a:pPr>
              <a:defRPr sz="2000" b="1">
                <a:solidFill>
                  <a:srgbClr val="0B2545"/>
                </a:solidFill>
                <a:latin typeface="Arial"/>
              </a:defRPr>
            </a:pPr>
            <a:r>
              <a:t>THÔNG BÁO ĐIỂM CHUẨN NĂM HỌC 2026 – 2027</a:t>
            </a:r>
          </a:p>
        </p:txBody>
      </p:sp>
      <p:sp>
        <p:nvSpPr>
          <p:cNvPr id="5" name="TextBox 4"/>
          <p:cNvSpPr txBox="1"/>
          <p:nvPr/>
        </p:nvSpPr>
        <p:spPr>
          <a:xfrm>
            <a:off x="10058400" y="292608"/>
            <a:ext cx="1463040" cy="320040"/>
          </a:xfrm>
          <a:prstGeom prst="rect">
            <a:avLst/>
          </a:prstGeom>
          <a:noFill/>
        </p:spPr>
        <p:txBody>
          <a:bodyPr wrap="none">
            <a:spAutoFit/>
          </a:bodyPr>
          <a:lstStyle/>
          <a:p>
            <a:pPr algn="r">
              <a:defRPr sz="1100" b="1">
                <a:solidFill>
                  <a:srgbClr val="64748B"/>
                </a:solidFill>
                <a:latin typeface="Arial"/>
              </a:defRPr>
            </a:pPr>
            <a:r>
              <a:t>23 / 30</a:t>
            </a:r>
          </a:p>
        </p:txBody>
      </p:sp>
      <p:sp>
        <p:nvSpPr>
          <p:cNvPr id="6" name="Rounded Rectangle 5"/>
          <p:cNvSpPr/>
          <p:nvPr/>
        </p:nvSpPr>
        <p:spPr>
          <a:xfrm>
            <a:off x="731520" y="1280160"/>
            <a:ext cx="10698480"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0077B6"/>
                </a:solidFill>
              </a:defRPr>
            </a:pPr>
            <a:r>
              <a:t>📑 XÁC NHẬN VĂN BẢN VÀ THÔNG BÁO ĐIỂM CHUẨN 2026</a:t>
            </a:r>
          </a:p>
          <a:p>
            <a:pPr>
              <a:spcBef>
                <a:spcPts val="800"/>
              </a:spcBef>
              <a:defRPr sz="1250" b="1">
                <a:solidFill>
                  <a:srgbClr val="0B2545"/>
                </a:solidFill>
              </a:defRPr>
            </a:pPr>
            <a:r>
              <a:t>• Ngày công bố chính thức: Ngày 19/06/2026.</a:t>
            </a:r>
          </a:p>
          <a:p>
            <a:pPr>
              <a:spcBef>
                <a:spcPts val="600"/>
              </a:spcBef>
              <a:defRPr sz="1250" b="1">
                <a:solidFill>
                  <a:srgbClr val="0B2545"/>
                </a:solidFill>
              </a:defRPr>
            </a:pPr>
            <a:r>
              <a:t>• Cơ quan công bố: Sở Giáo dục và Đào tạo TP. Hồ Chí Minh.</a:t>
            </a:r>
          </a:p>
          <a:p>
            <a:pPr>
              <a:spcBef>
                <a:spcPts val="600"/>
              </a:spcBef>
              <a:defRPr sz="1200">
                <a:solidFill>
                  <a:srgbClr val="0F172A"/>
                </a:solidFill>
              </a:defRPr>
            </a:pPr>
            <a:r>
              <a:t>• Văn bản đính kèm: Quyết định / Thông báo điểm chuẩn tuyển sinh vào Lớp 10 Chuyên và Tiếng Anh Đề án 5695 (File PDF đính kèm ngày 19/06/2026).</a:t>
            </a:r>
          </a:p>
          <a:p>
            <a:pPr>
              <a:spcBef>
                <a:spcPts val="600"/>
              </a:spcBef>
              <a:defRPr sz="1200">
                <a:solidFill>
                  <a:srgbClr val="0F172A"/>
                </a:solidFill>
              </a:defRPr>
            </a:pPr>
            <a:r>
              <a:t>• Quy trình nhập học: Thí sinh trúng tuyển xác nhận nhập học trực tuyến và nộp hồ sơ theo Thông báo 482/TB-THPTCHV ngày 20/06/2026 của trường THPT Chuyên Hùng Vương.</a:t>
            </a:r>
          </a:p>
        </p:txBody>
      </p:sp>
      <p:sp>
        <p:nvSpPr>
          <p:cNvPr id="7" name="TextBox 6"/>
          <p:cNvSpPr txBox="1"/>
          <p:nvPr/>
        </p:nvSpPr>
        <p:spPr>
          <a:xfrm>
            <a:off x="731520" y="6446520"/>
            <a:ext cx="10698480" cy="320040"/>
          </a:xfrm>
          <a:prstGeom prst="rect">
            <a:avLst/>
          </a:prstGeom>
          <a:noFill/>
        </p:spPr>
        <p:txBody>
          <a:bodyPr wrap="none">
            <a:spAutoFit/>
          </a:bodyPr>
          <a:lstStyle/>
          <a:p>
            <a:pPr>
              <a:defRPr sz="1000">
                <a:solidFill>
                  <a:srgbClr val="64748B"/>
                </a:solidFill>
                <a:latin typeface="Arial"/>
              </a:defRPr>
            </a:pPr>
            <a:r>
              <a:t>Báo cáo &amp; Thuyết trình Tổng quan THPT Chuyên Hùng Vương | Đơn vị thực hiện: Nhóm Lớp 9A12  •  Slide 23/30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8229600" cy="320040"/>
          </a:xfrm>
          <a:prstGeom prst="rect">
            <a:avLst/>
          </a:prstGeom>
          <a:noFill/>
        </p:spPr>
        <p:txBody>
          <a:bodyPr wrap="none">
            <a:spAutoFit/>
          </a:bodyPr>
          <a:lstStyle/>
          <a:p>
            <a:pPr>
              <a:defRPr sz="1100" b="1">
                <a:solidFill>
                  <a:srgbClr val="0077B6"/>
                </a:solidFill>
                <a:latin typeface="Arial"/>
              </a:defRPr>
            </a:pPr>
            <a:r>
              <a:t>CHƯƠNG V: TỔNG QUAN TUYỂN SINH</a:t>
            </a:r>
          </a:p>
        </p:txBody>
      </p:sp>
      <p:sp>
        <p:nvSpPr>
          <p:cNvPr id="4" name="TextBox 3"/>
          <p:cNvSpPr txBox="1"/>
          <p:nvPr/>
        </p:nvSpPr>
        <p:spPr>
          <a:xfrm>
            <a:off x="731520" y="566928"/>
            <a:ext cx="9601200" cy="594360"/>
          </a:xfrm>
          <a:prstGeom prst="rect">
            <a:avLst/>
          </a:prstGeom>
          <a:noFill/>
        </p:spPr>
        <p:txBody>
          <a:bodyPr wrap="none">
            <a:spAutoFit/>
          </a:bodyPr>
          <a:lstStyle/>
          <a:p>
            <a:pPr>
              <a:defRPr sz="2000" b="1">
                <a:solidFill>
                  <a:srgbClr val="0B2545"/>
                </a:solidFill>
                <a:latin typeface="Arial"/>
              </a:defRPr>
            </a:pPr>
            <a:r>
              <a:t>KIỂM CHỨNG DỮ LIỆU &amp; ĐỐI CHIẾU SỐ LIỆU (DATA VERIFICATION)</a:t>
            </a:r>
          </a:p>
        </p:txBody>
      </p:sp>
      <p:sp>
        <p:nvSpPr>
          <p:cNvPr id="5" name="TextBox 4"/>
          <p:cNvSpPr txBox="1"/>
          <p:nvPr/>
        </p:nvSpPr>
        <p:spPr>
          <a:xfrm>
            <a:off x="10058400" y="292608"/>
            <a:ext cx="1463040" cy="320040"/>
          </a:xfrm>
          <a:prstGeom prst="rect">
            <a:avLst/>
          </a:prstGeom>
          <a:noFill/>
        </p:spPr>
        <p:txBody>
          <a:bodyPr wrap="none">
            <a:spAutoFit/>
          </a:bodyPr>
          <a:lstStyle/>
          <a:p>
            <a:pPr algn="r">
              <a:defRPr sz="1100" b="1">
                <a:solidFill>
                  <a:srgbClr val="64748B"/>
                </a:solidFill>
                <a:latin typeface="Arial"/>
              </a:defRPr>
            </a:pPr>
            <a:r>
              <a:t>24 / 30</a:t>
            </a:r>
          </a:p>
        </p:txBody>
      </p:sp>
      <p:sp>
        <p:nvSpPr>
          <p:cNvPr id="6" name="Rounded Rectangle 5"/>
          <p:cNvSpPr/>
          <p:nvPr/>
        </p:nvSpPr>
        <p:spPr>
          <a:xfrm>
            <a:off x="731520" y="1280160"/>
            <a:ext cx="10698480"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0077B6"/>
                </a:solidFill>
              </a:defRPr>
            </a:pPr>
            <a:r>
              <a:t>🔍 QUY TẮC KIỂM CHỨNG NGUỒN CHÍNH THỨC &amp; XU HƯỚNG MỞ RỘNG QUY MÔ</a:t>
            </a:r>
          </a:p>
          <a:p>
            <a:pPr>
              <a:spcBef>
                <a:spcPts val="800"/>
              </a:spcBef>
              <a:defRPr sz="1200">
                <a:solidFill>
                  <a:srgbClr val="0F172A"/>
                </a:solidFill>
              </a:defRPr>
            </a:pPr>
            <a:r>
              <a:t>• Nguyên tắc chống bịa số liệu: Nhóm nghiên cứu chỉ ghi nhận con số chính thức khi có văn bản đối chứng của Sở GD&amp;ĐT hoặc Cổng TTĐT nhà trường.</a:t>
            </a:r>
          </a:p>
          <a:p>
            <a:pPr>
              <a:spcBef>
                <a:spcPts val="600"/>
              </a:spcBef>
              <a:defRPr sz="1200">
                <a:solidFill>
                  <a:srgbClr val="0F172A"/>
                </a:solidFill>
              </a:defRPr>
            </a:pPr>
            <a:r>
              <a:t>• Phân tích con số 455 học sinh: Dữ liệu 455 học sinh (ước tính 13 lớp x 35 HS) từ nguồn thứ cấp (itt.edu.vn) được ghi rõ 'Theo nguồn tham khảo', không khẳng định khi chưa có file PDF văn bản gốc công bố chi tiết.</a:t>
            </a:r>
          </a:p>
          <a:p>
            <a:pPr>
              <a:spcBef>
                <a:spcPts val="800"/>
              </a:spcBef>
              <a:defRPr sz="1200" b="1">
                <a:solidFill>
                  <a:srgbClr val="0B2545"/>
                </a:solidFill>
              </a:defRPr>
            </a:pPr>
            <a:r>
              <a:t>• Xu hướng tuyển sinh 3 năm liên tiếp:</a:t>
            </a:r>
            <a:br/>
            <a:r>
              <a:t>  - Năm 2024: 09 lớp chuyên — Tuyển mới 315 học sinh</a:t>
            </a:r>
            <a:br/>
            <a:r>
              <a:t>  - Năm 2025: 11 lớp chuyên — Tuyển mới 357 học sinh</a:t>
            </a:r>
            <a:br/>
            <a:r>
              <a:t>  - Năm 2026: 13 lớp chuyên — Quy mô mở rộng ước tính khoảng 455 học sinh</a:t>
            </a:r>
          </a:p>
        </p:txBody>
      </p:sp>
      <p:sp>
        <p:nvSpPr>
          <p:cNvPr id="7" name="TextBox 6"/>
          <p:cNvSpPr txBox="1"/>
          <p:nvPr/>
        </p:nvSpPr>
        <p:spPr>
          <a:xfrm>
            <a:off x="731520" y="6446520"/>
            <a:ext cx="10698480" cy="320040"/>
          </a:xfrm>
          <a:prstGeom prst="rect">
            <a:avLst/>
          </a:prstGeom>
          <a:noFill/>
        </p:spPr>
        <p:txBody>
          <a:bodyPr wrap="none">
            <a:spAutoFit/>
          </a:bodyPr>
          <a:lstStyle/>
          <a:p>
            <a:pPr>
              <a:defRPr sz="1000">
                <a:solidFill>
                  <a:srgbClr val="64748B"/>
                </a:solidFill>
                <a:latin typeface="Arial"/>
              </a:defRPr>
            </a:pPr>
            <a:r>
              <a:t>Báo cáo &amp; Thuyết trình Tổng quan THPT Chuyên Hùng Vương | Đơn vị thực hiện: Nhóm Lớp 9A12  •  Slide 24/30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8229600" cy="320040"/>
          </a:xfrm>
          <a:prstGeom prst="rect">
            <a:avLst/>
          </a:prstGeom>
          <a:noFill/>
        </p:spPr>
        <p:txBody>
          <a:bodyPr wrap="none">
            <a:spAutoFit/>
          </a:bodyPr>
          <a:lstStyle/>
          <a:p>
            <a:pPr>
              <a:defRPr sz="1100" b="1">
                <a:solidFill>
                  <a:srgbClr val="0077B6"/>
                </a:solidFill>
                <a:latin typeface="Arial"/>
              </a:defRPr>
            </a:pPr>
            <a:r>
              <a:t>CHƯƠNG VI: MÔI TRƯỜNG &amp; GDPT 2018</a:t>
            </a:r>
          </a:p>
        </p:txBody>
      </p:sp>
      <p:sp>
        <p:nvSpPr>
          <p:cNvPr id="4" name="TextBox 3"/>
          <p:cNvSpPr txBox="1"/>
          <p:nvPr/>
        </p:nvSpPr>
        <p:spPr>
          <a:xfrm>
            <a:off x="731520" y="566928"/>
            <a:ext cx="9601200" cy="594360"/>
          </a:xfrm>
          <a:prstGeom prst="rect">
            <a:avLst/>
          </a:prstGeom>
          <a:noFill/>
        </p:spPr>
        <p:txBody>
          <a:bodyPr wrap="none">
            <a:spAutoFit/>
          </a:bodyPr>
          <a:lstStyle/>
          <a:p>
            <a:pPr>
              <a:defRPr sz="2000" b="1">
                <a:solidFill>
                  <a:srgbClr val="0B2545"/>
                </a:solidFill>
                <a:latin typeface="Arial"/>
              </a:defRPr>
            </a:pPr>
            <a:r>
              <a:t>MÔI TRƯỜNG HỌC TẬP TÍCH CỰC VÀ VĂN HÓA HỌC THUẬT</a:t>
            </a:r>
          </a:p>
        </p:txBody>
      </p:sp>
      <p:sp>
        <p:nvSpPr>
          <p:cNvPr id="5" name="TextBox 4"/>
          <p:cNvSpPr txBox="1"/>
          <p:nvPr/>
        </p:nvSpPr>
        <p:spPr>
          <a:xfrm>
            <a:off x="10058400" y="292608"/>
            <a:ext cx="1463040" cy="320040"/>
          </a:xfrm>
          <a:prstGeom prst="rect">
            <a:avLst/>
          </a:prstGeom>
          <a:noFill/>
        </p:spPr>
        <p:txBody>
          <a:bodyPr wrap="none">
            <a:spAutoFit/>
          </a:bodyPr>
          <a:lstStyle/>
          <a:p>
            <a:pPr algn="r">
              <a:defRPr sz="1100" b="1">
                <a:solidFill>
                  <a:srgbClr val="64748B"/>
                </a:solidFill>
                <a:latin typeface="Arial"/>
              </a:defRPr>
            </a:pPr>
            <a:r>
              <a:t>25 / 30</a:t>
            </a:r>
          </a:p>
        </p:txBody>
      </p:sp>
      <p:sp>
        <p:nvSpPr>
          <p:cNvPr id="6" name="Rounded Rectangle 5"/>
          <p:cNvSpPr/>
          <p:nvPr/>
        </p:nvSpPr>
        <p:spPr>
          <a:xfrm>
            <a:off x="731520" y="1280160"/>
            <a:ext cx="5943600"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0077B6"/>
                </a:solidFill>
              </a:defRPr>
            </a:pPr>
            <a:r>
              <a:t>🌟 CHƯƠNG TRÌNH GIAO LƯU VÀ PHONG TRÀO HỌC THUẬT</a:t>
            </a:r>
          </a:p>
          <a:p>
            <a:pPr>
              <a:spcBef>
                <a:spcPts val="800"/>
              </a:spcBef>
              <a:defRPr sz="1200">
                <a:solidFill>
                  <a:srgbClr val="0F172A"/>
                </a:solidFill>
              </a:defRPr>
            </a:pPr>
            <a:r>
              <a:t>• Chương trình 'Nhịp cầu ngôn ngữ' (08/02/2026): Giao lưu văn hóa định kỳ, tạo cơ hội rèn luyện phản xạ ngoại ngữ với người bản xứ.</a:t>
            </a:r>
          </a:p>
          <a:p>
            <a:pPr>
              <a:spcBef>
                <a:spcPts val="800"/>
              </a:spcBef>
              <a:defRPr sz="1200">
                <a:solidFill>
                  <a:srgbClr val="0F172A"/>
                </a:solidFill>
              </a:defRPr>
            </a:pPr>
            <a:r>
              <a:t>• Văn hóa Tự học và Nghiên cứu: Học sinh được trang bị phương pháp tự nghiên cứu tài liệu, thuyết trình, làm việc nhóm và tư duy phản biện độc lập.</a:t>
            </a:r>
          </a:p>
          <a:p>
            <a:pPr>
              <a:spcBef>
                <a:spcPts val="800"/>
              </a:spcBef>
              <a:defRPr sz="1200">
                <a:solidFill>
                  <a:srgbClr val="0F172A"/>
                </a:solidFill>
              </a:defRPr>
            </a:pPr>
            <a:r>
              <a:t>• Môi trường Kỷ luật &amp; Thân thiện: Xây dựng văn hóa ứng xử chuẩn mực, tôn trọng sự khác biệt và cổ vũ tinh thần học hỏi lẫn nhau.</a:t>
            </a:r>
          </a:p>
        </p:txBody>
      </p:sp>
      <p:sp>
        <p:nvSpPr>
          <p:cNvPr id="7" name="Rounded Rectangle 6"/>
          <p:cNvSpPr/>
          <p:nvPr/>
        </p:nvSpPr>
        <p:spPr>
          <a:xfrm>
            <a:off x="7040880" y="1280160"/>
            <a:ext cx="4389120" cy="4846320"/>
          </a:xfrm>
          <a:prstGeom prst="roundRect">
            <a:avLst/>
          </a:prstGeom>
          <a:solidFill>
            <a:srgbClr val="F1F5F9"/>
          </a:solidFill>
          <a:ln w="19050">
            <a:solidFill>
              <a:srgbClr val="0077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077B6"/>
                </a:solidFill>
              </a:defRPr>
            </a:pPr>
            <a:r>
              <a:t>📷 KHUNG ẢNH THẬT CHÍNH THỨC</a:t>
            </a:r>
          </a:p>
          <a:p>
            <a:pPr algn="ctr">
              <a:spcBef>
                <a:spcPts val="1400"/>
              </a:spcBef>
              <a:defRPr sz="1050">
                <a:solidFill>
                  <a:srgbClr val="64748B"/>
                </a:solidFill>
              </a:defRPr>
            </a:pPr>
            <a:r>
              <a:t>[Ảnh Thật: Học sinh THPT Chuyên Hùng Vương trong chương trình Nhịp cầu ngôn ngữ]</a:t>
            </a:r>
            <a:br/>
            <a:br/>
            <a:r>
              <a:t>Ảnh chụp hoạt động giao lưu văn hóa quốc tế, học sinh giao tiếp tự tin bằng tiếng Anh.</a:t>
            </a:r>
            <a:br/>
            <a:r>
              <a:t>(Nhấp chuột phải -&gt; Change Picture để chèn ảnh thật)</a:t>
            </a:r>
          </a:p>
          <a:p>
            <a:pPr algn="ctr">
              <a:spcBef>
                <a:spcPts val="2000"/>
              </a:spcBef>
              <a:defRPr sz="950" i="1">
                <a:solidFill>
                  <a:srgbClr val="64748B"/>
                </a:solidFill>
              </a:defRPr>
            </a:pPr>
            <a:r>
              <a:t>Nguồn ảnh: THPT Chuyên Hùng Vương – thptchv.edu.vn</a:t>
            </a:r>
          </a:p>
        </p:txBody>
      </p:sp>
      <p:sp>
        <p:nvSpPr>
          <p:cNvPr id="8" name="TextBox 7"/>
          <p:cNvSpPr txBox="1"/>
          <p:nvPr/>
        </p:nvSpPr>
        <p:spPr>
          <a:xfrm>
            <a:off x="731520" y="6446520"/>
            <a:ext cx="10698480" cy="320040"/>
          </a:xfrm>
          <a:prstGeom prst="rect">
            <a:avLst/>
          </a:prstGeom>
          <a:noFill/>
        </p:spPr>
        <p:txBody>
          <a:bodyPr wrap="none">
            <a:spAutoFit/>
          </a:bodyPr>
          <a:lstStyle/>
          <a:p>
            <a:pPr>
              <a:defRPr sz="1000">
                <a:solidFill>
                  <a:srgbClr val="64748B"/>
                </a:solidFill>
                <a:latin typeface="Arial"/>
              </a:defRPr>
            </a:pPr>
            <a:r>
              <a:t>Báo cáo &amp; Thuyết trình Tổng quan THPT Chuyên Hùng Vương | Đơn vị thực hiện: Nhóm Lớp 9A12  •  Slide 25/30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8229600" cy="320040"/>
          </a:xfrm>
          <a:prstGeom prst="rect">
            <a:avLst/>
          </a:prstGeom>
          <a:noFill/>
        </p:spPr>
        <p:txBody>
          <a:bodyPr wrap="none">
            <a:spAutoFit/>
          </a:bodyPr>
          <a:lstStyle/>
          <a:p>
            <a:pPr>
              <a:defRPr sz="1100" b="1">
                <a:solidFill>
                  <a:srgbClr val="0077B6"/>
                </a:solidFill>
                <a:latin typeface="Arial"/>
              </a:defRPr>
            </a:pPr>
            <a:r>
              <a:t>CHƯƠNG VI: MÔI TRƯỜNG &amp; GDPT 2018</a:t>
            </a:r>
          </a:p>
        </p:txBody>
      </p:sp>
      <p:sp>
        <p:nvSpPr>
          <p:cNvPr id="4" name="TextBox 3"/>
          <p:cNvSpPr txBox="1"/>
          <p:nvPr/>
        </p:nvSpPr>
        <p:spPr>
          <a:xfrm>
            <a:off x="731520" y="566928"/>
            <a:ext cx="9601200" cy="594360"/>
          </a:xfrm>
          <a:prstGeom prst="rect">
            <a:avLst/>
          </a:prstGeom>
          <a:noFill/>
        </p:spPr>
        <p:txBody>
          <a:bodyPr wrap="none">
            <a:spAutoFit/>
          </a:bodyPr>
          <a:lstStyle/>
          <a:p>
            <a:pPr>
              <a:defRPr sz="2000" b="1">
                <a:solidFill>
                  <a:srgbClr val="0B2545"/>
                </a:solidFill>
                <a:latin typeface="Arial"/>
              </a:defRPr>
            </a:pPr>
            <a:r>
              <a:t>HOẠT ĐỘNG NGOẠI KHÓA &amp; DỰ ÁN CỘNG ĐỒNG</a:t>
            </a:r>
          </a:p>
        </p:txBody>
      </p:sp>
      <p:sp>
        <p:nvSpPr>
          <p:cNvPr id="5" name="TextBox 4"/>
          <p:cNvSpPr txBox="1"/>
          <p:nvPr/>
        </p:nvSpPr>
        <p:spPr>
          <a:xfrm>
            <a:off x="10058400" y="292608"/>
            <a:ext cx="1463040" cy="320040"/>
          </a:xfrm>
          <a:prstGeom prst="rect">
            <a:avLst/>
          </a:prstGeom>
          <a:noFill/>
        </p:spPr>
        <p:txBody>
          <a:bodyPr wrap="none">
            <a:spAutoFit/>
          </a:bodyPr>
          <a:lstStyle/>
          <a:p>
            <a:pPr algn="r">
              <a:defRPr sz="1100" b="1">
                <a:solidFill>
                  <a:srgbClr val="64748B"/>
                </a:solidFill>
                <a:latin typeface="Arial"/>
              </a:defRPr>
            </a:pPr>
            <a:r>
              <a:t>26 / 30</a:t>
            </a:r>
          </a:p>
        </p:txBody>
      </p:sp>
      <p:sp>
        <p:nvSpPr>
          <p:cNvPr id="6" name="Rounded Rectangle 5"/>
          <p:cNvSpPr/>
          <p:nvPr/>
        </p:nvSpPr>
        <p:spPr>
          <a:xfrm>
            <a:off x="731520" y="1280160"/>
            <a:ext cx="5943600"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0077B6"/>
                </a:solidFill>
              </a:defRPr>
            </a:pPr>
            <a:r>
              <a:t>🚀 CÁC DỰ ÁN VÀ SÂN CHƠI LỚN CỦA HỌC SINH</a:t>
            </a:r>
          </a:p>
          <a:p>
            <a:pPr>
              <a:spcBef>
                <a:spcPts val="600"/>
              </a:spcBef>
              <a:defRPr sz="1150">
                <a:solidFill>
                  <a:srgbClr val="0F172A"/>
                </a:solidFill>
              </a:defRPr>
            </a:pPr>
            <a:r>
              <a:t>• Cuộc thi Tin học: Tham gia 'The EIU Programming Contest Season 1' (27/09/2024) và Hội thi Tin học trẻ các cấp đạt thành tích cao.</a:t>
            </a:r>
          </a:p>
          <a:p>
            <a:pPr>
              <a:spcBef>
                <a:spcPts val="600"/>
              </a:spcBef>
              <a:defRPr sz="1150" b="1">
                <a:solidFill>
                  <a:srgbClr val="134074"/>
                </a:solidFill>
              </a:defRPr>
            </a:pPr>
            <a:r>
              <a:t>• Dự án Cộng đồng 'Seed of Community - Athena': Dự án do học sinh chuyên Hùng Vương trực tiếp sáng lập và vận hành vì sự phát triển xã hội.</a:t>
            </a:r>
          </a:p>
          <a:p>
            <a:pPr>
              <a:spcBef>
                <a:spcPts val="600"/>
              </a:spcBef>
              <a:defRPr sz="1150">
                <a:solidFill>
                  <a:srgbClr val="0F172A"/>
                </a:solidFill>
              </a:defRPr>
            </a:pPr>
            <a:r>
              <a:t>• Hoạt động Tình nguyện: Chiến dịch 'Tiếp sức mùa thi', ngoại khóa 'Thành phố hoa Đà Lạt — Lễ kết nạp Đoàn viên mới' và Ngày hội Trải nghiệm Khởi nghiệp (KH 37).</a:t>
            </a:r>
          </a:p>
          <a:p>
            <a:pPr>
              <a:spcBef>
                <a:spcPts val="600"/>
              </a:spcBef>
              <a:defRPr sz="1150">
                <a:solidFill>
                  <a:srgbClr val="0F172A"/>
                </a:solidFill>
              </a:defRPr>
            </a:pPr>
            <a:r>
              <a:t>• Sân chơi Quốc tế &amp; Đại sứ Văn hóa đọc: Tham gia 'Asia Youth Leaders Program 2026' tại Nhật Bản và Cuộc thi Đại sứ Văn hóa đọc TP.HCM.</a:t>
            </a:r>
          </a:p>
        </p:txBody>
      </p:sp>
      <p:sp>
        <p:nvSpPr>
          <p:cNvPr id="7" name="Rounded Rectangle 6"/>
          <p:cNvSpPr/>
          <p:nvPr/>
        </p:nvSpPr>
        <p:spPr>
          <a:xfrm>
            <a:off x="7040880" y="1280160"/>
            <a:ext cx="4389120" cy="4846320"/>
          </a:xfrm>
          <a:prstGeom prst="roundRect">
            <a:avLst/>
          </a:prstGeom>
          <a:solidFill>
            <a:srgbClr val="F1F5F9"/>
          </a:solidFill>
          <a:ln w="19050">
            <a:solidFill>
              <a:srgbClr val="0077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077B6"/>
                </a:solidFill>
              </a:defRPr>
            </a:pPr>
            <a:r>
              <a:t>📷 KHUNG ẢNH THẬT CHÍNH THỨC</a:t>
            </a:r>
          </a:p>
          <a:p>
            <a:pPr algn="ctr">
              <a:spcBef>
                <a:spcPts val="1400"/>
              </a:spcBef>
              <a:defRPr sz="1050">
                <a:solidFill>
                  <a:srgbClr val="64748B"/>
                </a:solidFill>
              </a:defRPr>
            </a:pPr>
            <a:r>
              <a:t>[Ảnh Thật: Hoạt động Ngoại khóa / Dự án Athena / Tiếp sức mùa thi]</a:t>
            </a:r>
            <a:br/>
            <a:br/>
            <a:r>
              <a:t>Ảnh chụp học sinh trong hoạt động thiện nguyện cộng đồng Athena hoặc chương trình Tiếp sức mùa thi.</a:t>
            </a:r>
            <a:br/>
            <a:r>
              <a:t>(Nhấp chuột phải -&gt; Change Picture để chèn ảnh thật)</a:t>
            </a:r>
          </a:p>
          <a:p>
            <a:pPr algn="ctr">
              <a:spcBef>
                <a:spcPts val="2000"/>
              </a:spcBef>
              <a:defRPr sz="950" i="1">
                <a:solidFill>
                  <a:srgbClr val="64748B"/>
                </a:solidFill>
              </a:defRPr>
            </a:pPr>
            <a:r>
              <a:t>Nguồn ảnh: THPT Chuyên Hùng Vương – thptchv.edu.vn</a:t>
            </a:r>
          </a:p>
        </p:txBody>
      </p:sp>
      <p:sp>
        <p:nvSpPr>
          <p:cNvPr id="8" name="TextBox 7"/>
          <p:cNvSpPr txBox="1"/>
          <p:nvPr/>
        </p:nvSpPr>
        <p:spPr>
          <a:xfrm>
            <a:off x="731520" y="6446520"/>
            <a:ext cx="10698480" cy="320040"/>
          </a:xfrm>
          <a:prstGeom prst="rect">
            <a:avLst/>
          </a:prstGeom>
          <a:noFill/>
        </p:spPr>
        <p:txBody>
          <a:bodyPr wrap="none">
            <a:spAutoFit/>
          </a:bodyPr>
          <a:lstStyle/>
          <a:p>
            <a:pPr>
              <a:defRPr sz="1000">
                <a:solidFill>
                  <a:srgbClr val="64748B"/>
                </a:solidFill>
                <a:latin typeface="Arial"/>
              </a:defRPr>
            </a:pPr>
            <a:r>
              <a:t>Báo cáo &amp; Thuyết trình Tổng quan THPT Chuyên Hùng Vương | Đơn vị thực hiện: Nhóm Lớp 9A12  •  Slide 26/30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8229600" cy="320040"/>
          </a:xfrm>
          <a:prstGeom prst="rect">
            <a:avLst/>
          </a:prstGeom>
          <a:noFill/>
        </p:spPr>
        <p:txBody>
          <a:bodyPr wrap="none">
            <a:spAutoFit/>
          </a:bodyPr>
          <a:lstStyle/>
          <a:p>
            <a:pPr>
              <a:defRPr sz="1100" b="1">
                <a:solidFill>
                  <a:srgbClr val="0077B6"/>
                </a:solidFill>
                <a:latin typeface="Arial"/>
              </a:defRPr>
            </a:pPr>
            <a:r>
              <a:t>CHƯƠNG VI: MÔI TRƯỜNG &amp; GDPT 2018</a:t>
            </a:r>
          </a:p>
        </p:txBody>
      </p:sp>
      <p:sp>
        <p:nvSpPr>
          <p:cNvPr id="4" name="TextBox 3"/>
          <p:cNvSpPr txBox="1"/>
          <p:nvPr/>
        </p:nvSpPr>
        <p:spPr>
          <a:xfrm>
            <a:off x="731520" y="566928"/>
            <a:ext cx="9601200" cy="594360"/>
          </a:xfrm>
          <a:prstGeom prst="rect">
            <a:avLst/>
          </a:prstGeom>
          <a:noFill/>
        </p:spPr>
        <p:txBody>
          <a:bodyPr wrap="none">
            <a:spAutoFit/>
          </a:bodyPr>
          <a:lstStyle/>
          <a:p>
            <a:pPr>
              <a:defRPr sz="2000" b="1">
                <a:solidFill>
                  <a:srgbClr val="0B2545"/>
                </a:solidFill>
                <a:latin typeface="Arial"/>
              </a:defRPr>
            </a:pPr>
            <a:r>
              <a:t>CẤU TRÚC MÔN HỌC THEO CHƯƠNG TRÌNH GDPT 2018</a:t>
            </a:r>
          </a:p>
        </p:txBody>
      </p:sp>
      <p:sp>
        <p:nvSpPr>
          <p:cNvPr id="5" name="TextBox 4"/>
          <p:cNvSpPr txBox="1"/>
          <p:nvPr/>
        </p:nvSpPr>
        <p:spPr>
          <a:xfrm>
            <a:off x="10058400" y="292608"/>
            <a:ext cx="1463040" cy="320040"/>
          </a:xfrm>
          <a:prstGeom prst="rect">
            <a:avLst/>
          </a:prstGeom>
          <a:noFill/>
        </p:spPr>
        <p:txBody>
          <a:bodyPr wrap="none">
            <a:spAutoFit/>
          </a:bodyPr>
          <a:lstStyle/>
          <a:p>
            <a:pPr algn="r">
              <a:defRPr sz="1100" b="1">
                <a:solidFill>
                  <a:srgbClr val="64748B"/>
                </a:solidFill>
                <a:latin typeface="Arial"/>
              </a:defRPr>
            </a:pPr>
            <a:r>
              <a:t>27 / 30</a:t>
            </a:r>
          </a:p>
        </p:txBody>
      </p:sp>
      <p:sp>
        <p:nvSpPr>
          <p:cNvPr id="6" name="Rounded Rectangle 5"/>
          <p:cNvSpPr/>
          <p:nvPr/>
        </p:nvSpPr>
        <p:spPr>
          <a:xfrm>
            <a:off x="731520" y="1280160"/>
            <a:ext cx="10698480"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0077B6"/>
                </a:solidFill>
              </a:defRPr>
            </a:pPr>
            <a:r>
              <a:t>📚 PHÂN BỔ MÔN HỌC BẮT BUỘC VÀ MÔN LỰA CHỌN KHỐI 10 (KẾ HOẠCH 212/KH-THPTCHV)</a:t>
            </a:r>
          </a:p>
          <a:p>
            <a:pPr>
              <a:spcBef>
                <a:spcPts val="800"/>
              </a:spcBef>
              <a:defRPr sz="1200">
                <a:solidFill>
                  <a:srgbClr val="0F172A"/>
                </a:solidFill>
              </a:defRPr>
            </a:pPr>
            <a:r>
              <a:t>• MÔN HỌC BẮT BUỘC (8 môn/hoạt động): Ngữ văn, Toán, Ngoại ngữ 1 (Tiếng Anh), Lịch sử, Giáo dục thể chất, Giáo dục quốc phòng và an ninh, Hoạt động trải nghiệm - hướng nghiệp, Nội dung giáo dục địa phương.</a:t>
            </a:r>
          </a:p>
          <a:p>
            <a:pPr>
              <a:spcBef>
                <a:spcPts val="800"/>
              </a:spcBef>
              <a:defRPr sz="1200">
                <a:solidFill>
                  <a:srgbClr val="0F172A"/>
                </a:solidFill>
              </a:defRPr>
            </a:pPr>
            <a:r>
              <a:t>• MÔN HỌC LỰA CHỌN: Học sinh chọn 4 môn từ các nhóm môn Khoa học Tự nhiên (Vật lý, Hóa học, Sinh học, Tin học) và Khoa học Xã hội (Lịch sử, Địa lý, Giáo dục kinh tế và pháp luật).</a:t>
            </a:r>
          </a:p>
          <a:p>
            <a:pPr>
              <a:spcBef>
                <a:spcPts val="800"/>
              </a:spcBef>
              <a:defRPr sz="1200">
                <a:solidFill>
                  <a:srgbClr val="0F172A"/>
                </a:solidFill>
              </a:defRPr>
            </a:pPr>
            <a:r>
              <a:t>• CHUYÊN ĐỀ HỌC TẬP CỤM: Mỗi môn chuyên được tăng cường 3 cụm chuyên đề chuyên sâu phục vụ thi Học sinh giỏi các cấp và Kỳ thi Đánh giá năng lực.</a:t>
            </a:r>
          </a:p>
          <a:p>
            <a:pPr>
              <a:spcBef>
                <a:spcPts val="800"/>
              </a:spcBef>
              <a:defRPr sz="1200">
                <a:solidFill>
                  <a:srgbClr val="0F172A"/>
                </a:solidFill>
              </a:defRPr>
            </a:pPr>
            <a:r>
              <a:t>• THỦ TỤC ĐIỀU CHỈNH TỔ HỢP: Việc điều chỉnh môn học tự chọn được hướng dẫn cụ thể và minh bạch theo Thông báo số 319/TB-THPTCHV ngày 22/05/2026.</a:t>
            </a:r>
          </a:p>
        </p:txBody>
      </p:sp>
      <p:sp>
        <p:nvSpPr>
          <p:cNvPr id="7" name="TextBox 6"/>
          <p:cNvSpPr txBox="1"/>
          <p:nvPr/>
        </p:nvSpPr>
        <p:spPr>
          <a:xfrm>
            <a:off x="731520" y="6446520"/>
            <a:ext cx="10698480" cy="320040"/>
          </a:xfrm>
          <a:prstGeom prst="rect">
            <a:avLst/>
          </a:prstGeom>
          <a:noFill/>
        </p:spPr>
        <p:txBody>
          <a:bodyPr wrap="none">
            <a:spAutoFit/>
          </a:bodyPr>
          <a:lstStyle/>
          <a:p>
            <a:pPr>
              <a:defRPr sz="1000">
                <a:solidFill>
                  <a:srgbClr val="64748B"/>
                </a:solidFill>
                <a:latin typeface="Arial"/>
              </a:defRPr>
            </a:pPr>
            <a:r>
              <a:t>Báo cáo &amp; Thuyết trình Tổng quan THPT Chuyên Hùng Vương | Đơn vị thực hiện: Nhóm Lớp 9A12  •  Slide 27/30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8229600" cy="320040"/>
          </a:xfrm>
          <a:prstGeom prst="rect">
            <a:avLst/>
          </a:prstGeom>
          <a:noFill/>
        </p:spPr>
        <p:txBody>
          <a:bodyPr wrap="none">
            <a:spAutoFit/>
          </a:bodyPr>
          <a:lstStyle/>
          <a:p>
            <a:pPr>
              <a:defRPr sz="1100" b="1">
                <a:solidFill>
                  <a:srgbClr val="0077B6"/>
                </a:solidFill>
                <a:latin typeface="Arial"/>
              </a:defRPr>
            </a:pPr>
            <a:r>
              <a:t>CHƯƠNG VI: MÔI TRƯỜNG &amp; GDPT 2018</a:t>
            </a:r>
          </a:p>
        </p:txBody>
      </p:sp>
      <p:sp>
        <p:nvSpPr>
          <p:cNvPr id="4" name="TextBox 3"/>
          <p:cNvSpPr txBox="1"/>
          <p:nvPr/>
        </p:nvSpPr>
        <p:spPr>
          <a:xfrm>
            <a:off x="731520" y="566928"/>
            <a:ext cx="9601200" cy="594360"/>
          </a:xfrm>
          <a:prstGeom prst="rect">
            <a:avLst/>
          </a:prstGeom>
          <a:noFill/>
        </p:spPr>
        <p:txBody>
          <a:bodyPr wrap="none">
            <a:spAutoFit/>
          </a:bodyPr>
          <a:lstStyle/>
          <a:p>
            <a:pPr>
              <a:defRPr sz="2000" b="1">
                <a:solidFill>
                  <a:srgbClr val="0B2545"/>
                </a:solidFill>
                <a:latin typeface="Arial"/>
              </a:defRPr>
            </a:pPr>
            <a:r>
              <a:t>ĐỊNH HƯỚNG TỔ HỢP MÔN HỌC VÀ KHỐI THI ĐẠI HỌC</a:t>
            </a:r>
          </a:p>
        </p:txBody>
      </p:sp>
      <p:sp>
        <p:nvSpPr>
          <p:cNvPr id="5" name="TextBox 4"/>
          <p:cNvSpPr txBox="1"/>
          <p:nvPr/>
        </p:nvSpPr>
        <p:spPr>
          <a:xfrm>
            <a:off x="10058400" y="292608"/>
            <a:ext cx="1463040" cy="320040"/>
          </a:xfrm>
          <a:prstGeom prst="rect">
            <a:avLst/>
          </a:prstGeom>
          <a:noFill/>
        </p:spPr>
        <p:txBody>
          <a:bodyPr wrap="none">
            <a:spAutoFit/>
          </a:bodyPr>
          <a:lstStyle/>
          <a:p>
            <a:pPr algn="r">
              <a:defRPr sz="1100" b="1">
                <a:solidFill>
                  <a:srgbClr val="64748B"/>
                </a:solidFill>
                <a:latin typeface="Arial"/>
              </a:defRPr>
            </a:pPr>
            <a:r>
              <a:t>28 / 30</a:t>
            </a:r>
          </a:p>
        </p:txBody>
      </p:sp>
      <p:sp>
        <p:nvSpPr>
          <p:cNvPr id="6" name="Rounded Rectangle 5"/>
          <p:cNvSpPr/>
          <p:nvPr/>
        </p:nvSpPr>
        <p:spPr>
          <a:xfrm>
            <a:off x="731520" y="1280160"/>
            <a:ext cx="5120640"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0077B6"/>
                </a:solidFill>
              </a:defRPr>
            </a:pPr>
            <a:r>
              <a:t>🔬 NHÓM KHOA HỌC TỰ NHIÊN (KHTN)</a:t>
            </a:r>
          </a:p>
          <a:p>
            <a:pPr>
              <a:spcBef>
                <a:spcPts val="800"/>
              </a:spcBef>
              <a:defRPr sz="1200">
                <a:solidFill>
                  <a:srgbClr val="0F172A"/>
                </a:solidFill>
              </a:defRPr>
            </a:pPr>
            <a:r>
              <a:t>• Định hướng tổ hợp: Chuyên Toán, Vật lý, Hóa học, Sinh học, Tin học.</a:t>
            </a:r>
          </a:p>
          <a:p>
            <a:pPr>
              <a:spcBef>
                <a:spcPts val="600"/>
              </a:spcBef>
              <a:defRPr sz="1200">
                <a:solidFill>
                  <a:srgbClr val="0F172A"/>
                </a:solidFill>
              </a:defRPr>
            </a:pPr>
            <a:r>
              <a:t>• Môn lựa chọn: Hóa học, Vật lý, Sinh học, Tin học ứng dụng.</a:t>
            </a:r>
          </a:p>
          <a:p>
            <a:pPr>
              <a:spcBef>
                <a:spcPts val="800"/>
              </a:spcBef>
              <a:defRPr sz="1200" b="1">
                <a:solidFill>
                  <a:srgbClr val="0B2545"/>
                </a:solidFill>
              </a:defRPr>
            </a:pPr>
            <a:r>
              <a:t>• Khối thi Đại học tương ứng:</a:t>
            </a:r>
            <a:br/>
            <a:r>
              <a:t>  - A00 (Toán – Vật lí – Hóa học)</a:t>
            </a:r>
            <a:br/>
            <a:r>
              <a:t>  - A01 (Toán – Vật lí – Tiếng Anh)</a:t>
            </a:r>
            <a:br/>
            <a:r>
              <a:t>  - B00 (Toán – Hóa học – Sinh học)</a:t>
            </a:r>
            <a:br/>
            <a:r>
              <a:t>  - X06 (Toán – Vật lí – Tin học)</a:t>
            </a:r>
          </a:p>
          <a:p>
            <a:pPr>
              <a:spcBef>
                <a:spcPts val="600"/>
              </a:spcBef>
              <a:defRPr sz="1100" i="1">
                <a:solidFill>
                  <a:srgbClr val="134074"/>
                </a:solidFill>
              </a:defRPr>
            </a:pPr>
            <a:r>
              <a:t>• Triển khai mô hình 'Dạy Toán bằng Tiếng Anh' (từ 02/10/2026).</a:t>
            </a:r>
          </a:p>
        </p:txBody>
      </p:sp>
      <p:sp>
        <p:nvSpPr>
          <p:cNvPr id="7" name="Rounded Rectangle 6"/>
          <p:cNvSpPr/>
          <p:nvPr/>
        </p:nvSpPr>
        <p:spPr>
          <a:xfrm>
            <a:off x="6217920" y="1280160"/>
            <a:ext cx="5212080"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EE9B00"/>
                </a:solidFill>
              </a:defRPr>
            </a:pPr>
            <a:r>
              <a:t>🌍 NHÓM KH XÃ HỘI VÀ NGOẠI NGỮ</a:t>
            </a:r>
          </a:p>
          <a:p>
            <a:pPr>
              <a:spcBef>
                <a:spcPts val="800"/>
              </a:spcBef>
              <a:defRPr sz="1200">
                <a:solidFill>
                  <a:srgbClr val="0F172A"/>
                </a:solidFill>
              </a:defRPr>
            </a:pPr>
            <a:r>
              <a:t>• Định hướng tổ hợp: Chuyên Ngữ văn, Lịch sử, Địa lý, Tiếng Anh.</a:t>
            </a:r>
          </a:p>
          <a:p>
            <a:pPr>
              <a:spcBef>
                <a:spcPts val="600"/>
              </a:spcBef>
              <a:defRPr sz="1200">
                <a:solidFill>
                  <a:srgbClr val="0F172A"/>
                </a:solidFill>
              </a:defRPr>
            </a:pPr>
            <a:r>
              <a:t>• Môn lựa chọn: Lịch sử, Địa lý, Tiếng Anh Đề án 5695.</a:t>
            </a:r>
          </a:p>
          <a:p>
            <a:pPr>
              <a:spcBef>
                <a:spcPts val="800"/>
              </a:spcBef>
              <a:defRPr sz="1200" b="1">
                <a:solidFill>
                  <a:srgbClr val="0B2545"/>
                </a:solidFill>
              </a:defRPr>
            </a:pPr>
            <a:r>
              <a:t>• Khối thi Đại học tương ứng:</a:t>
            </a:r>
            <a:br/>
            <a:r>
              <a:t>  - C03 (Toán – Ngữ văn – Lịch sử)</a:t>
            </a:r>
            <a:br/>
            <a:r>
              <a:t>  - D01 (Toán – Ngữ văn – Tiếng Anh)</a:t>
            </a:r>
            <a:br/>
            <a:r>
              <a:t>  - D07 (Toán – Hóa học – Tiếng Anh)</a:t>
            </a:r>
            <a:br/>
            <a:r>
              <a:t>  - Phương thức xét tuyển kết hợp chứng chỉ IELTS/SAT</a:t>
            </a:r>
          </a:p>
        </p:txBody>
      </p:sp>
      <p:sp>
        <p:nvSpPr>
          <p:cNvPr id="8" name="TextBox 7"/>
          <p:cNvSpPr txBox="1"/>
          <p:nvPr/>
        </p:nvSpPr>
        <p:spPr>
          <a:xfrm>
            <a:off x="731520" y="6446520"/>
            <a:ext cx="10698480" cy="320040"/>
          </a:xfrm>
          <a:prstGeom prst="rect">
            <a:avLst/>
          </a:prstGeom>
          <a:noFill/>
        </p:spPr>
        <p:txBody>
          <a:bodyPr wrap="none">
            <a:spAutoFit/>
          </a:bodyPr>
          <a:lstStyle/>
          <a:p>
            <a:pPr>
              <a:defRPr sz="1000">
                <a:solidFill>
                  <a:srgbClr val="64748B"/>
                </a:solidFill>
                <a:latin typeface="Arial"/>
              </a:defRPr>
            </a:pPr>
            <a:r>
              <a:t>Báo cáo &amp; Thuyết trình Tổng quan THPT Chuyên Hùng Vương | Đơn vị thực hiện: Nhóm Lớp 9A12  •  Slide 28/30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8229600" cy="320040"/>
          </a:xfrm>
          <a:prstGeom prst="rect">
            <a:avLst/>
          </a:prstGeom>
          <a:noFill/>
        </p:spPr>
        <p:txBody>
          <a:bodyPr wrap="none">
            <a:spAutoFit/>
          </a:bodyPr>
          <a:lstStyle/>
          <a:p>
            <a:pPr>
              <a:defRPr sz="1100" b="1">
                <a:solidFill>
                  <a:srgbClr val="0077B6"/>
                </a:solidFill>
                <a:latin typeface="Arial"/>
              </a:defRPr>
            </a:pPr>
            <a:r>
              <a:t>CHƯƠNG VII: KẾT LUẬN &amp; MINIGAME</a:t>
            </a:r>
          </a:p>
        </p:txBody>
      </p:sp>
      <p:sp>
        <p:nvSpPr>
          <p:cNvPr id="4" name="TextBox 3"/>
          <p:cNvSpPr txBox="1"/>
          <p:nvPr/>
        </p:nvSpPr>
        <p:spPr>
          <a:xfrm>
            <a:off x="731520" y="566928"/>
            <a:ext cx="9601200" cy="594360"/>
          </a:xfrm>
          <a:prstGeom prst="rect">
            <a:avLst/>
          </a:prstGeom>
          <a:noFill/>
        </p:spPr>
        <p:txBody>
          <a:bodyPr wrap="none">
            <a:spAutoFit/>
          </a:bodyPr>
          <a:lstStyle/>
          <a:p>
            <a:pPr>
              <a:defRPr sz="2000" b="1">
                <a:solidFill>
                  <a:srgbClr val="0B2545"/>
                </a:solidFill>
                <a:latin typeface="Arial"/>
              </a:defRPr>
            </a:pPr>
            <a:r>
              <a:t>KẾT LUẬN VÀ TRÒ CHƠI MINIGAME KHEN THƯỞNG TƯƠNG TÁC</a:t>
            </a:r>
          </a:p>
        </p:txBody>
      </p:sp>
      <p:sp>
        <p:nvSpPr>
          <p:cNvPr id="5" name="TextBox 4"/>
          <p:cNvSpPr txBox="1"/>
          <p:nvPr/>
        </p:nvSpPr>
        <p:spPr>
          <a:xfrm>
            <a:off x="10058400" y="292608"/>
            <a:ext cx="1463040" cy="320040"/>
          </a:xfrm>
          <a:prstGeom prst="rect">
            <a:avLst/>
          </a:prstGeom>
          <a:noFill/>
        </p:spPr>
        <p:txBody>
          <a:bodyPr wrap="none">
            <a:spAutoFit/>
          </a:bodyPr>
          <a:lstStyle/>
          <a:p>
            <a:pPr algn="r">
              <a:defRPr sz="1100" b="1">
                <a:solidFill>
                  <a:srgbClr val="64748B"/>
                </a:solidFill>
                <a:latin typeface="Arial"/>
              </a:defRPr>
            </a:pPr>
            <a:r>
              <a:t>29 / 30</a:t>
            </a:r>
          </a:p>
        </p:txBody>
      </p:sp>
      <p:sp>
        <p:nvSpPr>
          <p:cNvPr id="6" name="Rounded Rectangle 5"/>
          <p:cNvSpPr/>
          <p:nvPr/>
        </p:nvSpPr>
        <p:spPr>
          <a:xfrm>
            <a:off x="731520" y="1280160"/>
            <a:ext cx="5120640" cy="4846320"/>
          </a:xfrm>
          <a:prstGeom prst="roundRect">
            <a:avLst/>
          </a:prstGeom>
          <a:solidFill>
            <a:srgbClr val="FFFFFF"/>
          </a:solidFill>
          <a:ln w="19050">
            <a:solidFill>
              <a:srgbClr val="0077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0077B6"/>
                </a:solidFill>
              </a:defRPr>
            </a:pPr>
            <a:r>
              <a:t>🌟 TỔNG KẾT 5 TRỤ CỘT PHÁT TRIỂN 30 NĂM</a:t>
            </a:r>
          </a:p>
          <a:p>
            <a:pPr>
              <a:spcBef>
                <a:spcPts val="600"/>
              </a:spcBef>
              <a:defRPr sz="1100">
                <a:solidFill>
                  <a:srgbClr val="0F172A"/>
                </a:solidFill>
              </a:defRPr>
            </a:pPr>
            <a:r>
              <a:t>• 1. Lịch sử 30 năm (1996–2026): Nền móng truyền thống vẻ vang, bền bỉ đào tạo nhân tài.</a:t>
            </a:r>
          </a:p>
          <a:p>
            <a:pPr>
              <a:spcBef>
                <a:spcPts val="600"/>
              </a:spcBef>
              <a:defRPr sz="1100">
                <a:solidFill>
                  <a:srgbClr val="0F172A"/>
                </a:solidFill>
              </a:defRPr>
            </a:pPr>
            <a:r>
              <a:t>• 2. Đội ngũ 92 CBGVNV: Trình độ cao, tận tâm, Chi bộ 53 đảng viên lãnh đạo toàn diện.</a:t>
            </a:r>
          </a:p>
          <a:p>
            <a:pPr>
              <a:spcBef>
                <a:spcPts val="600"/>
              </a:spcBef>
              <a:defRPr sz="1100">
                <a:solidFill>
                  <a:srgbClr val="0F172A"/>
                </a:solidFill>
              </a:defRPr>
            </a:pPr>
            <a:r>
              <a:t>• 3. Cơ sở vật chất &amp; STEM: Hiện đại, đạt chuẩn quốc gia, tiên phong nghiên cứu thực nghiệm.</a:t>
            </a:r>
          </a:p>
          <a:p>
            <a:pPr>
              <a:spcBef>
                <a:spcPts val="600"/>
              </a:spcBef>
              <a:defRPr sz="1100">
                <a:solidFill>
                  <a:srgbClr val="0F172A"/>
                </a:solidFill>
              </a:defRPr>
            </a:pPr>
            <a:r>
              <a:t>• 4. Thành tích Đỉnh cao: Tốt nghiệp &amp; ĐH 100%, 14 lượt điểm 10 kỳ thi THPT 2026.</a:t>
            </a:r>
          </a:p>
          <a:p>
            <a:pPr>
              <a:spcBef>
                <a:spcPts val="600"/>
              </a:spcBef>
              <a:defRPr sz="1100">
                <a:solidFill>
                  <a:srgbClr val="0F172A"/>
                </a:solidFill>
              </a:defRPr>
            </a:pPr>
            <a:r>
              <a:t>• 5. Tuyển sinh &amp; GDPT 2018: Mở rộng 13 lớp chuyên, đón đầu hội nhập quốc tế.</a:t>
            </a:r>
          </a:p>
        </p:txBody>
      </p:sp>
      <p:sp>
        <p:nvSpPr>
          <p:cNvPr id="7" name="Rounded Rectangle 6"/>
          <p:cNvSpPr/>
          <p:nvPr/>
        </p:nvSpPr>
        <p:spPr>
          <a:xfrm>
            <a:off x="6217920" y="1280160"/>
            <a:ext cx="5212080" cy="4846320"/>
          </a:xfrm>
          <a:prstGeom prst="roundRect">
            <a:avLst/>
          </a:prstGeom>
          <a:solidFill>
            <a:srgbClr val="134074"/>
          </a:solidFill>
          <a:ln w="19050">
            <a:solidFill>
              <a:srgbClr val="EE9B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EE9B00"/>
                </a:solidFill>
              </a:defRPr>
            </a:pPr>
            <a:r>
              <a:t>🎮 CÂU HỎI TRẮC NGHIỆM MINIGAME TƯƠNG TÁC</a:t>
            </a:r>
          </a:p>
          <a:p>
            <a:pPr>
              <a:spcBef>
                <a:spcPts val="600"/>
              </a:spcBef>
              <a:defRPr sz="1100" b="1">
                <a:solidFill>
                  <a:srgbClr val="FFFFFF"/>
                </a:solidFill>
              </a:defRPr>
            </a:pPr>
            <a:r>
              <a:t>• Câu 1: Ngày chính thức đi vào hoạt động của trường?</a:t>
            </a:r>
          </a:p>
          <a:p>
            <a:pPr>
              <a:spcBef>
                <a:spcPts val="100"/>
              </a:spcBef>
              <a:defRPr sz="1050">
                <a:solidFill>
                  <a:srgbClr val="00B4D8"/>
                </a:solidFill>
              </a:defRPr>
            </a:pPr>
            <a:r>
              <a:t>  ➔ Đáp án: 24/04/1996 (Quyết định 4757 ngày 23/10/1995)</a:t>
            </a:r>
          </a:p>
          <a:p>
            <a:pPr>
              <a:spcBef>
                <a:spcPts val="600"/>
              </a:spcBef>
              <a:defRPr sz="1100" b="1">
                <a:solidFill>
                  <a:srgbClr val="FFFFFF"/>
                </a:solidFill>
              </a:defRPr>
            </a:pPr>
            <a:r>
              <a:t>• Câu 2: Số lượt điểm 10 tuyệt đối trường đạt tại Kỳ thi THPT 2026?</a:t>
            </a:r>
          </a:p>
          <a:p>
            <a:pPr>
              <a:spcBef>
                <a:spcPts val="100"/>
              </a:spcBef>
              <a:defRPr sz="1050">
                <a:solidFill>
                  <a:srgbClr val="00B4D8"/>
                </a:solidFill>
              </a:defRPr>
            </a:pPr>
            <a:r>
              <a:t>  ➔ Đáp án: 14 lượt điểm 10 (9 Toán, 3 Sử, 2 Sinh)</a:t>
            </a:r>
          </a:p>
          <a:p>
            <a:pPr>
              <a:spcBef>
                <a:spcPts val="600"/>
              </a:spcBef>
              <a:defRPr sz="1100" b="1">
                <a:solidFill>
                  <a:srgbClr val="FFFFFF"/>
                </a:solidFill>
              </a:defRPr>
            </a:pPr>
            <a:r>
              <a:t>• Câu 3: Môn chuyên có điểm chuẩn 2025 cao nhất?</a:t>
            </a:r>
          </a:p>
          <a:p>
            <a:pPr>
              <a:spcBef>
                <a:spcPts val="100"/>
              </a:spcBef>
              <a:defRPr sz="1050">
                <a:solidFill>
                  <a:srgbClr val="00B4D8"/>
                </a:solidFill>
              </a:defRPr>
            </a:pPr>
            <a:r>
              <a:t>  ➔ Đáp án: Chuyên Toán (36,45 điểm)</a:t>
            </a:r>
          </a:p>
          <a:p>
            <a:pPr>
              <a:spcBef>
                <a:spcPts val="600"/>
              </a:spcBef>
              <a:defRPr sz="1100" b="1">
                <a:solidFill>
                  <a:srgbClr val="FFFFFF"/>
                </a:solidFill>
              </a:defRPr>
            </a:pPr>
            <a:r>
              <a:t>• Câu 4: Tên Lớp thực hiện bài thuyết trình này?</a:t>
            </a:r>
          </a:p>
          <a:p>
            <a:pPr>
              <a:spcBef>
                <a:spcPts val="100"/>
              </a:spcBef>
              <a:defRPr sz="1050">
                <a:solidFill>
                  <a:srgbClr val="00B4D8"/>
                </a:solidFill>
              </a:defRPr>
            </a:pPr>
            <a:r>
              <a:t>  ➔ Đáp án: Nhóm học sinh Lớp 9A12 (gồm 6 thành viên)</a:t>
            </a:r>
          </a:p>
        </p:txBody>
      </p:sp>
      <p:sp>
        <p:nvSpPr>
          <p:cNvPr id="8" name="TextBox 7"/>
          <p:cNvSpPr txBox="1"/>
          <p:nvPr/>
        </p:nvSpPr>
        <p:spPr>
          <a:xfrm>
            <a:off x="731520" y="6446520"/>
            <a:ext cx="10698480" cy="320040"/>
          </a:xfrm>
          <a:prstGeom prst="rect">
            <a:avLst/>
          </a:prstGeom>
          <a:noFill/>
        </p:spPr>
        <p:txBody>
          <a:bodyPr wrap="none">
            <a:spAutoFit/>
          </a:bodyPr>
          <a:lstStyle/>
          <a:p>
            <a:pPr>
              <a:defRPr sz="1000">
                <a:solidFill>
                  <a:srgbClr val="64748B"/>
                </a:solidFill>
                <a:latin typeface="Arial"/>
              </a:defRPr>
            </a:pPr>
            <a:r>
              <a:t>Báo cáo &amp; Thuyết trình Tổng quan THPT Chuyên Hùng Vương | Đơn vị thực hiện: Nhóm Lớp 9A12  •  Slide 29/30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731520"/>
            <a:ext cx="10698480" cy="1645920"/>
          </a:xfrm>
          <a:prstGeom prst="roundRect">
            <a:avLst/>
          </a:prstGeom>
          <a:solidFill>
            <a:srgbClr val="134074"/>
          </a:solidFill>
          <a:ln w="19050">
            <a:solidFill>
              <a:srgbClr val="EE9B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400" b="1">
                <a:solidFill>
                  <a:srgbClr val="EE9B00"/>
                </a:solidFill>
              </a:defRPr>
            </a:pPr>
            <a:r>
              <a:t>XIN CHÂN THÀNH CẢM ƠN THẦY CÔ VÀ CÁC BẠN ĐÃ LẮNG NGHE!</a:t>
            </a:r>
          </a:p>
          <a:p>
            <a:pPr algn="ctr">
              <a:spcBef>
                <a:spcPts val="800"/>
              </a:spcBef>
              <a:defRPr sz="1400" b="1">
                <a:solidFill>
                  <a:srgbClr val="00B4D8"/>
                </a:solidFill>
              </a:defRPr>
            </a:pPr>
            <a:r>
              <a:t>TRƯỜNG THPT CHUYÊN HÙNG VƯƠNG — 30 NĂM ƯƠM MẦM TÀI NĂNG (1996 – 2026)</a:t>
            </a:r>
          </a:p>
        </p:txBody>
      </p:sp>
      <p:sp>
        <p:nvSpPr>
          <p:cNvPr id="4" name="Rounded Rectangle 3"/>
          <p:cNvSpPr/>
          <p:nvPr/>
        </p:nvSpPr>
        <p:spPr>
          <a:xfrm>
            <a:off x="731520" y="2560320"/>
            <a:ext cx="6400800" cy="36576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077B6"/>
                </a:solidFill>
              </a:defRPr>
            </a:pPr>
            <a:r>
              <a:t>📚 DANH MỤC TÀI LIỆU THAM KHẢO CHÍNH THỨC &amp; CĂN CỨ PHÁP LÝ</a:t>
            </a:r>
          </a:p>
          <a:p>
            <a:pPr>
              <a:spcBef>
                <a:spcPts val="300"/>
              </a:spcBef>
              <a:defRPr sz="1000">
                <a:solidFill>
                  <a:srgbClr val="0F172A"/>
                </a:solidFill>
              </a:defRPr>
            </a:pPr>
            <a:r>
              <a:t>1. Cổng thông tin điện tử Trường THPT Chuyên Hùng Vương: https://www.thptchv.edu.vn/</a:t>
            </a:r>
          </a:p>
          <a:p>
            <a:pPr>
              <a:spcBef>
                <a:spcPts val="300"/>
              </a:spcBef>
              <a:defRPr sz="1000">
                <a:solidFill>
                  <a:srgbClr val="0F172A"/>
                </a:solidFill>
              </a:defRPr>
            </a:pPr>
            <a:r>
              <a:t>2. Thông báo Tuyển sinh Lớp 10 năm học 2026–2027: Văn bản 233/TB-THPTCHV ngày 20/04/2026.</a:t>
            </a:r>
          </a:p>
          <a:p>
            <a:pPr>
              <a:spcBef>
                <a:spcPts val="300"/>
              </a:spcBef>
              <a:defRPr sz="1000">
                <a:solidFill>
                  <a:srgbClr val="0F172A"/>
                </a:solidFill>
              </a:defRPr>
            </a:pPr>
            <a:r>
              <a:t>3. Thông báo Điểm chuẩn trúng tuyển Lớp 10 Chuyên năm 2026–2027: Sở GD&amp;ĐT TP.HCM (19/06/2026).</a:t>
            </a:r>
          </a:p>
          <a:p>
            <a:pPr>
              <a:spcBef>
                <a:spcPts val="300"/>
              </a:spcBef>
              <a:defRPr sz="1000">
                <a:solidFill>
                  <a:srgbClr val="0F172A"/>
                </a:solidFill>
              </a:defRPr>
            </a:pPr>
            <a:r>
              <a:t>4. Quyết định Điểm chuẩn trúng tuyển vào Lớp 10 năm học 2025–2026: Sở GD&amp;ĐT Bình Dương (28/06/2025).</a:t>
            </a:r>
          </a:p>
          <a:p>
            <a:pPr>
              <a:spcBef>
                <a:spcPts val="300"/>
              </a:spcBef>
              <a:defRPr sz="1000">
                <a:solidFill>
                  <a:srgbClr val="0F172A"/>
                </a:solidFill>
              </a:defRPr>
            </a:pPr>
            <a:r>
              <a:t>5. Báo cáo Vinh danh Học sinh Xuất sắc Kỳ thi Tốt nghiệp THPT 2026: Ban Truyền thông trường (01/07/2026).</a:t>
            </a:r>
          </a:p>
          <a:p>
            <a:pPr>
              <a:spcBef>
                <a:spcPts val="300"/>
              </a:spcBef>
              <a:defRPr sz="1000">
                <a:solidFill>
                  <a:srgbClr val="0F172A"/>
                </a:solidFill>
              </a:defRPr>
            </a:pPr>
            <a:r>
              <a:t>6. Kế hoạch Kỷ niệm 30 năm Thành lập Trường: Kế hoạch số 111/KH-THPTCHV ngày 12/03/2026.</a:t>
            </a:r>
          </a:p>
          <a:p>
            <a:pPr>
              <a:spcBef>
                <a:spcPts val="300"/>
              </a:spcBef>
              <a:defRPr sz="1000">
                <a:solidFill>
                  <a:srgbClr val="0F172A"/>
                </a:solidFill>
              </a:defRPr>
            </a:pPr>
            <a:r>
              <a:t>7. Kế hoạch Biên chế Lớp 10 và Hướng dẫn Môn tự chọn: KH 212/KH-THPTCHV &amp; TB 319/TB-THPTCHV.</a:t>
            </a:r>
          </a:p>
        </p:txBody>
      </p:sp>
      <p:sp>
        <p:nvSpPr>
          <p:cNvPr id="5" name="Rounded Rectangle 4"/>
          <p:cNvSpPr/>
          <p:nvPr/>
        </p:nvSpPr>
        <p:spPr>
          <a:xfrm>
            <a:off x="7406640" y="2560320"/>
            <a:ext cx="4023360" cy="3657600"/>
          </a:xfrm>
          <a:prstGeom prst="roundRect">
            <a:avLst/>
          </a:prstGeom>
          <a:solidFill>
            <a:srgbClr val="134074"/>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00B4D8"/>
                </a:solidFill>
              </a:defRPr>
            </a:pPr>
            <a:r>
              <a:t>👥 NHÓM HỌC SINH LỚP 9A12</a:t>
            </a:r>
          </a:p>
          <a:p>
            <a:pPr algn="ctr">
              <a:spcBef>
                <a:spcPts val="400"/>
              </a:spcBef>
              <a:defRPr sz="1150" b="1">
                <a:solidFill>
                  <a:srgbClr val="FFFFFF"/>
                </a:solidFill>
              </a:defRPr>
            </a:pPr>
            <a:r>
              <a:t>1. Trần Nguyễn Bảo Linh</a:t>
            </a:r>
          </a:p>
          <a:p>
            <a:pPr algn="ctr">
              <a:spcBef>
                <a:spcPts val="400"/>
              </a:spcBef>
              <a:defRPr sz="1150" b="1">
                <a:solidFill>
                  <a:srgbClr val="FFFFFF"/>
                </a:solidFill>
              </a:defRPr>
            </a:pPr>
            <a:r>
              <a:t>2. Nguyễn Lê Xuân Hương</a:t>
            </a:r>
          </a:p>
          <a:p>
            <a:pPr algn="ctr">
              <a:spcBef>
                <a:spcPts val="400"/>
              </a:spcBef>
              <a:defRPr sz="1150" b="1">
                <a:solidFill>
                  <a:srgbClr val="FFFFFF"/>
                </a:solidFill>
              </a:defRPr>
            </a:pPr>
            <a:r>
              <a:t>3. Hà Kỳ Nhiệm</a:t>
            </a:r>
          </a:p>
          <a:p>
            <a:pPr algn="ctr">
              <a:spcBef>
                <a:spcPts val="400"/>
              </a:spcBef>
              <a:defRPr sz="1150" b="1">
                <a:solidFill>
                  <a:srgbClr val="FFFFFF"/>
                </a:solidFill>
              </a:defRPr>
            </a:pPr>
            <a:r>
              <a:t>4. Nguyễn Hoàng Minh Tuấn</a:t>
            </a:r>
          </a:p>
          <a:p>
            <a:pPr algn="ctr">
              <a:spcBef>
                <a:spcPts val="400"/>
              </a:spcBef>
              <a:defRPr sz="1150" b="1">
                <a:solidFill>
                  <a:srgbClr val="FFFFFF"/>
                </a:solidFill>
              </a:defRPr>
            </a:pPr>
            <a:r>
              <a:t>5. Trần Huỳnh Minh Thư</a:t>
            </a:r>
          </a:p>
          <a:p>
            <a:pPr algn="ctr">
              <a:spcBef>
                <a:spcPts val="400"/>
              </a:spcBef>
              <a:defRPr sz="1150" b="1">
                <a:solidFill>
                  <a:srgbClr val="FFFFFF"/>
                </a:solidFill>
              </a:defRPr>
            </a:pPr>
            <a:r>
              <a:t>6. Đoàn Vương Bảo Ngọc</a:t>
            </a:r>
          </a:p>
          <a:p>
            <a:pPr algn="ctr">
              <a:spcBef>
                <a:spcPts val="1200"/>
              </a:spcBef>
              <a:defRPr sz="1050" i="1">
                <a:solidFill>
                  <a:srgbClr val="EE9B00"/>
                </a:solidFill>
              </a:defRPr>
            </a:pPr>
            <a:r>
              <a:t>Kính chúc Quý Thầy Cô &amp; Các Bạn</a:t>
            </a:r>
            <a:br/>
            <a:r>
              <a:t>sức khỏe, hạnh phúc và thành công!</a:t>
            </a:r>
          </a:p>
        </p:txBody>
      </p:sp>
      <p:sp>
        <p:nvSpPr>
          <p:cNvPr id="6" name="TextBox 5"/>
          <p:cNvSpPr txBox="1"/>
          <p:nvPr/>
        </p:nvSpPr>
        <p:spPr>
          <a:xfrm>
            <a:off x="731520" y="6446520"/>
            <a:ext cx="10698480" cy="320040"/>
          </a:xfrm>
          <a:prstGeom prst="rect">
            <a:avLst/>
          </a:prstGeom>
          <a:noFill/>
        </p:spPr>
        <p:txBody>
          <a:bodyPr wrap="none">
            <a:spAutoFit/>
          </a:bodyPr>
          <a:lstStyle/>
          <a:p>
            <a:pPr>
              <a:defRPr sz="1000">
                <a:solidFill>
                  <a:srgbClr val="94A3B8"/>
                </a:solidFill>
                <a:latin typeface="Arial"/>
              </a:defRPr>
            </a:pPr>
            <a:r>
              <a:t>Báo cáo &amp; Thuyết trình Tổng quan THPT Chuyên Hùng Vương | Đơn vị thực hiện: Nhóm Lớp 9A12  •  Slide 30/30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