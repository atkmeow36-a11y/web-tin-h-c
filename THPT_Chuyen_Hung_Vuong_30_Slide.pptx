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4754880" cy="411480"/>
          </a:xfrm>
          <a:prstGeom prst="round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B4D8"/>
                </a:solidFill>
              </a:defRPr>
            </a:pPr>
            <a:r>
              <a:t>BÁO CÁO THUYẾT TRÌNH TIN HỌC — LỚP 9A12</a:t>
            </a:r>
          </a:p>
        </p:txBody>
      </p:sp>
      <p:sp>
        <p:nvSpPr>
          <p:cNvPr id="4" name="TextBox 3"/>
          <p:cNvSpPr txBox="1"/>
          <p:nvPr/>
        </p:nvSpPr>
        <p:spPr>
          <a:xfrm>
            <a:off x="914400" y="1645920"/>
            <a:ext cx="10332720" cy="1828800"/>
          </a:xfrm>
          <a:prstGeom prst="rect">
            <a:avLst/>
          </a:prstGeom>
          <a:noFill/>
        </p:spPr>
        <p:txBody>
          <a:bodyPr wrap="square">
            <a:spAutoFit/>
          </a:bodyPr>
          <a:lstStyle/>
          <a:p>
            <a:pPr>
              <a:defRPr sz="4000" b="1">
                <a:solidFill>
                  <a:srgbClr val="FFFFFF"/>
                </a:solidFill>
              </a:defRPr>
            </a:pPr>
            <a:r>
              <a:t>TRƯỜNG THPT CHUYÊN HÙNG VƯƠNG</a:t>
            </a:r>
          </a:p>
          <a:p>
            <a:pPr>
              <a:spcBef>
                <a:spcPts val="1400"/>
              </a:spcBef>
              <a:defRPr sz="2000" b="1">
                <a:solidFill>
                  <a:srgbClr val="EE9B00"/>
                </a:solidFill>
              </a:defRPr>
            </a:pPr>
            <a:r>
              <a:t>HÀNH TRÌNH 30 NĂM PHÁT TRIỂN &amp; ĐỊNH HƯỚNG TUYỂN SINH (1996 – 2026)</a:t>
            </a:r>
          </a:p>
        </p:txBody>
      </p:sp>
      <p:sp>
        <p:nvSpPr>
          <p:cNvPr id="5" name="Rounded Rectangle 4"/>
          <p:cNvSpPr/>
          <p:nvPr/>
        </p:nvSpPr>
        <p:spPr>
          <a:xfrm>
            <a:off x="914400" y="3931920"/>
            <a:ext cx="10332720" cy="201168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B4D8"/>
                </a:solidFill>
              </a:defRPr>
            </a:pPr>
            <a:r>
              <a:t>THÔNG TIN ĐƠN VỊ &amp; NHÓM TÁC GIẢ THỰC HIỆN:</a:t>
            </a:r>
          </a:p>
          <a:p>
            <a:pPr>
              <a:spcBef>
                <a:spcPts val="600"/>
              </a:spcBef>
              <a:defRPr sz="1300">
                <a:solidFill>
                  <a:srgbClr val="FFFFFF"/>
                </a:solidFill>
              </a:defRPr>
            </a:pPr>
            <a:r>
              <a:t>• Địa chỉ trường: 593 Đại lộ Bình Dương, Phường Thủ Dầu Một, TP. Hồ Chí Minh</a:t>
            </a:r>
          </a:p>
          <a:p>
            <a:pPr>
              <a:spcBef>
                <a:spcPts val="600"/>
              </a:spcBef>
              <a:defRPr sz="1300">
                <a:solidFill>
                  <a:srgbClr val="FFFFFF"/>
                </a:solidFill>
              </a:defRPr>
            </a:pPr>
            <a:r>
              <a:t>• Thành viên nhóm 9A12: Trần Nguyễn Bảo Linh, Nguyễn Lê Xuân Hương, Hà Kỳ Nhiệm, Nguyễn Hoàng Minh Tuấn, Trần Huỳnh Minh Thư, Đoàn Vương Bảo Ngọc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TỔNG QUAN NỘI DUNG</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SƠ ĐỒ TƯ DUY TOÀN DIỆN (MINDMAP)</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02 / 30</a:t>
            </a:r>
          </a:p>
        </p:txBody>
      </p:sp>
      <p:sp>
        <p:nvSpPr>
          <p:cNvPr id="6" name="Oval 5"/>
          <p:cNvSpPr/>
          <p:nvPr/>
        </p:nvSpPr>
        <p:spPr>
          <a:xfrm>
            <a:off x="4389120" y="2926080"/>
            <a:ext cx="3383280" cy="1463040"/>
          </a:xfrm>
          <a:prstGeom prst="ellipse">
            <a:avLst/>
          </a:prstGeom>
          <a:solidFill>
            <a:srgbClr val="0B2545"/>
          </a:solidFill>
          <a:ln w="3810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THPT CHUYÊN</a:t>
            </a:r>
            <a:br/>
            <a:r>
              <a:t>HÙNG VƯƠNG</a:t>
            </a:r>
          </a:p>
        </p:txBody>
      </p:sp>
      <p:sp>
        <p:nvSpPr>
          <p:cNvPr id="7" name="Rounded Rectangle 6"/>
          <p:cNvSpPr/>
          <p:nvPr/>
        </p:nvSpPr>
        <p:spPr>
          <a:xfrm>
            <a:off x="731520" y="1645920"/>
            <a:ext cx="329184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7B6"/>
                </a:solidFill>
              </a:defRPr>
            </a:pPr>
            <a:r>
              <a:t>1. LỊCH SỬ 30 NĂM</a:t>
            </a:r>
          </a:p>
          <a:p>
            <a:pPr>
              <a:defRPr sz="1100">
                <a:solidFill>
                  <a:srgbClr val="64748B"/>
                </a:solidFill>
              </a:defRPr>
            </a:pPr>
            <a:r>
              <a:t>Slide 03–07</a:t>
            </a:r>
          </a:p>
        </p:txBody>
      </p:sp>
      <p:sp>
        <p:nvSpPr>
          <p:cNvPr id="8" name="Rounded Rectangle 7"/>
          <p:cNvSpPr/>
          <p:nvPr/>
        </p:nvSpPr>
        <p:spPr>
          <a:xfrm>
            <a:off x="4389120" y="1371600"/>
            <a:ext cx="3291840" cy="10972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34074"/>
                </a:solidFill>
              </a:defRPr>
            </a:pPr>
            <a:r>
              <a:t>2. QUY MÔ &amp; ĐỘI NGŨ</a:t>
            </a:r>
          </a:p>
          <a:p>
            <a:pPr>
              <a:defRPr sz="1100">
                <a:solidFill>
                  <a:srgbClr val="64748B"/>
                </a:solidFill>
              </a:defRPr>
            </a:pPr>
            <a:r>
              <a:t>Slide 08–10</a:t>
            </a:r>
          </a:p>
        </p:txBody>
      </p:sp>
      <p:sp>
        <p:nvSpPr>
          <p:cNvPr id="9" name="Rounded Rectangle 8"/>
          <p:cNvSpPr/>
          <p:nvPr/>
        </p:nvSpPr>
        <p:spPr>
          <a:xfrm>
            <a:off x="8046720" y="1645920"/>
            <a:ext cx="329184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7B6"/>
                </a:solidFill>
              </a:defRPr>
            </a:pPr>
            <a:r>
              <a:t>3. CƠ SỞ VẬT CHẤT</a:t>
            </a:r>
          </a:p>
          <a:p>
            <a:pPr>
              <a:defRPr sz="1100">
                <a:solidFill>
                  <a:srgbClr val="64748B"/>
                </a:solidFill>
              </a:defRPr>
            </a:pPr>
            <a:r>
              <a:t>Slide 11–12</a:t>
            </a:r>
          </a:p>
        </p:txBody>
      </p:sp>
      <p:sp>
        <p:nvSpPr>
          <p:cNvPr id="10" name="Rounded Rectangle 9"/>
          <p:cNvSpPr/>
          <p:nvPr/>
        </p:nvSpPr>
        <p:spPr>
          <a:xfrm>
            <a:off x="8046720" y="3108960"/>
            <a:ext cx="3291840" cy="10972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E9B00"/>
                </a:solidFill>
              </a:defRPr>
            </a:pPr>
            <a:r>
              <a:t>4. BẢNG VÀNG THÀNH TÍCH</a:t>
            </a:r>
          </a:p>
          <a:p>
            <a:pPr>
              <a:defRPr sz="1100">
                <a:solidFill>
                  <a:srgbClr val="64748B"/>
                </a:solidFill>
              </a:defRPr>
            </a:pPr>
            <a:r>
              <a:t>Slide 13–16</a:t>
            </a:r>
          </a:p>
        </p:txBody>
      </p:sp>
      <p:sp>
        <p:nvSpPr>
          <p:cNvPr id="11" name="Rounded Rectangle 10"/>
          <p:cNvSpPr/>
          <p:nvPr/>
        </p:nvSpPr>
        <p:spPr>
          <a:xfrm>
            <a:off x="8046720" y="4754880"/>
            <a:ext cx="329184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7B6"/>
                </a:solidFill>
              </a:defRPr>
            </a:pPr>
            <a:r>
              <a:t>5. TUYỂN SINH &amp; ĐIỂM CHUẨN</a:t>
            </a:r>
          </a:p>
          <a:p>
            <a:pPr>
              <a:defRPr sz="1100">
                <a:solidFill>
                  <a:srgbClr val="64748B"/>
                </a:solidFill>
              </a:defRPr>
            </a:pPr>
            <a:r>
              <a:t>Slide 17–24</a:t>
            </a:r>
          </a:p>
        </p:txBody>
      </p:sp>
      <p:sp>
        <p:nvSpPr>
          <p:cNvPr id="12" name="Rounded Rectangle 11"/>
          <p:cNvSpPr/>
          <p:nvPr/>
        </p:nvSpPr>
        <p:spPr>
          <a:xfrm>
            <a:off x="4389120" y="4846320"/>
            <a:ext cx="3291840" cy="10972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34074"/>
                </a:solidFill>
              </a:defRPr>
            </a:pPr>
            <a:r>
              <a:t>6. MÔI TRƯỜNG &amp; GDPT 2018</a:t>
            </a:r>
          </a:p>
          <a:p>
            <a:pPr>
              <a:defRPr sz="1100">
                <a:solidFill>
                  <a:srgbClr val="64748B"/>
                </a:solidFill>
              </a:defRPr>
            </a:pPr>
            <a:r>
              <a:t>Slide 25–28</a:t>
            </a:r>
          </a:p>
        </p:txBody>
      </p:sp>
      <p:sp>
        <p:nvSpPr>
          <p:cNvPr id="13" name="Rounded Rectangle 12"/>
          <p:cNvSpPr/>
          <p:nvPr/>
        </p:nvSpPr>
        <p:spPr>
          <a:xfrm>
            <a:off x="731520" y="4114800"/>
            <a:ext cx="3291840" cy="10972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E9B00"/>
                </a:solidFill>
              </a:defRPr>
            </a:pPr>
            <a:r>
              <a:t>7. KẾT LUẬN &amp; ĐỊNH HƯỚNG</a:t>
            </a:r>
          </a:p>
          <a:p>
            <a:pPr>
              <a:defRPr sz="1100">
                <a:solidFill>
                  <a:srgbClr val="64748B"/>
                </a:solidFill>
              </a:defRPr>
            </a:pPr>
            <a:r>
              <a:t>Slide 29–30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HÀNH TRÌNH 30 NĂM XÂY DỰNG VÀ PHÁT TRIỂN (1996 –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03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34074"/>
                </a:solidFill>
              </a:defRPr>
            </a:pPr>
            <a:r>
              <a:t>🏛️ CHẶNG ĐƯỜNG 3 THẬP KỶ</a:t>
            </a:r>
          </a:p>
          <a:p>
            <a:pPr>
              <a:spcBef>
                <a:spcPts val="1000"/>
              </a:spcBef>
              <a:defRPr sz="1300">
                <a:solidFill>
                  <a:srgbClr val="0F172A"/>
                </a:solidFill>
              </a:defRPr>
            </a:pPr>
            <a:r>
              <a:t>• Thành lập năm 1996, nhà trường đã trải qua tròn 30 năm (1996 – 2026) thực hiện sứ mệnh ươm mầm tài năng trẻ.</a:t>
            </a:r>
          </a:p>
          <a:p>
            <a:pPr>
              <a:spcBef>
                <a:spcPts val="800"/>
              </a:spcBef>
              <a:defRPr sz="1300">
                <a:solidFill>
                  <a:srgbClr val="0F172A"/>
                </a:solidFill>
              </a:defRPr>
            </a:pPr>
            <a:r>
              <a:t>• Là trường THPT chuyên trọng điểm của khu vực, cung cấp nguồn nhân lực tinh hoa cho tỉnh và đất nước.</a:t>
            </a:r>
          </a:p>
          <a:p>
            <a:pPr>
              <a:spcBef>
                <a:spcPts val="800"/>
              </a:spcBef>
              <a:defRPr sz="1300">
                <a:solidFill>
                  <a:srgbClr val="0F172A"/>
                </a:solidFill>
              </a:defRPr>
            </a:pPr>
            <a:r>
              <a:t>• Đại lễ 30 năm được tổ chức theo Kế hoạch số 111/KH-THPTCHV ngày 12/03/2026 khẳng định vị thế vững chắc.</a:t>
            </a:r>
          </a:p>
        </p:txBody>
      </p:sp>
      <p:sp>
        <p:nvSpPr>
          <p:cNvPr id="7" name="Rounded Rectangle 6"/>
          <p:cNvSpPr/>
          <p:nvPr/>
        </p:nvSpPr>
        <p:spPr>
          <a:xfrm>
            <a:off x="6217920" y="1463040"/>
            <a:ext cx="5212080" cy="45720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B4D8"/>
                </a:solidFill>
              </a:defRPr>
            </a:pPr>
            <a:r>
              <a:t>🌟 GIÁ TRỊ VÀ VỊ THẾ KHẲNG ĐỊNH</a:t>
            </a:r>
          </a:p>
          <a:p>
            <a:pPr>
              <a:spcBef>
                <a:spcPts val="1200"/>
              </a:spcBef>
              <a:defRPr sz="1300" b="1">
                <a:solidFill>
                  <a:srgbClr val="FFFFFF"/>
                </a:solidFill>
              </a:defRPr>
            </a:pPr>
            <a:r>
              <a:t>1996: Khai mở truyền thống hiếu học</a:t>
            </a:r>
          </a:p>
          <a:p>
            <a:pPr>
              <a:defRPr sz="1200">
                <a:solidFill>
                  <a:srgbClr val="E2E8F0"/>
                </a:solidFill>
              </a:defRPr>
            </a:pPr>
            <a:r>
              <a:t>Đón những khóa học sinh chuyên đầu tiên với trang thiết bị ban đầu.</a:t>
            </a:r>
          </a:p>
          <a:p>
            <a:pPr>
              <a:spcBef>
                <a:spcPts val="1400"/>
              </a:spcBef>
              <a:defRPr sz="1300" b="1">
                <a:solidFill>
                  <a:srgbClr val="EE9B00"/>
                </a:solidFill>
              </a:defRPr>
            </a:pPr>
            <a:r>
              <a:t>2026: Đỉnh cao chất lượng và hội nhập</a:t>
            </a:r>
          </a:p>
          <a:p>
            <a:pPr>
              <a:defRPr sz="1200">
                <a:solidFill>
                  <a:srgbClr val="E2E8F0"/>
                </a:solidFill>
              </a:defRPr>
            </a:pPr>
            <a:r>
              <a:t>Top trường hàng đầu, 100% đỗ tốt nghiệp &amp; ĐH, mở rộng 13 lớp chuyên hiện đại.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CỘI NGUỒN PHÁP LÝ &amp; NGÀY ĐẦU THÀNH LẬP</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04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QUYẾT ĐỊNH THÀNH LẬP</a:t>
            </a:r>
          </a:p>
          <a:p>
            <a:pPr>
              <a:spcBef>
                <a:spcPts val="1000"/>
              </a:spcBef>
              <a:defRPr sz="1400" b="1">
                <a:solidFill>
                  <a:srgbClr val="0B2545"/>
                </a:solidFill>
              </a:defRPr>
            </a:pPr>
            <a:r>
              <a:t>• Ngày ký: 23/10/1995</a:t>
            </a:r>
          </a:p>
          <a:p>
            <a:pPr>
              <a:spcBef>
                <a:spcPts val="800"/>
              </a:spcBef>
              <a:defRPr sz="1300">
                <a:solidFill>
                  <a:srgbClr val="0F172A"/>
                </a:solidFill>
              </a:defRPr>
            </a:pPr>
            <a:r>
              <a:t>• Quyết định số 4757/QĐ-UB do UBND tỉnh Sông Bé ban hành.</a:t>
            </a:r>
          </a:p>
          <a:p>
            <a:pPr>
              <a:spcBef>
                <a:spcPts val="800"/>
              </a:spcBef>
              <a:defRPr sz="1300">
                <a:solidFill>
                  <a:srgbClr val="0F172A"/>
                </a:solidFill>
              </a:defRPr>
            </a:pPr>
            <a:r>
              <a:t>• Đánh dấu sự ra đời của trường THPT chuyên trọng điểm đầu tiên của khu vực.</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E9B00"/>
                </a:solidFill>
              </a:defRPr>
            </a:pPr>
            <a:r>
              <a:t>🚀 CHÍNH THỨC HOẠT ĐỘNG</a:t>
            </a:r>
          </a:p>
          <a:p>
            <a:pPr>
              <a:spcBef>
                <a:spcPts val="1000"/>
              </a:spcBef>
              <a:defRPr sz="1400" b="1">
                <a:solidFill>
                  <a:srgbClr val="0B2545"/>
                </a:solidFill>
              </a:defRPr>
            </a:pPr>
            <a:r>
              <a:t>• Ngày đi vào hoạt động: 24/04/1996</a:t>
            </a:r>
          </a:p>
          <a:p>
            <a:pPr>
              <a:spcBef>
                <a:spcPts val="800"/>
              </a:spcBef>
              <a:defRPr sz="1300">
                <a:solidFill>
                  <a:srgbClr val="0F172A"/>
                </a:solidFill>
              </a:defRPr>
            </a:pPr>
            <a:r>
              <a:t>• Khai giảng khóa học chuyên đầu tiên, đón nhận những thế hệ học sinh tài năng xuất sắc.</a:t>
            </a:r>
          </a:p>
          <a:p>
            <a:pPr>
              <a:spcBef>
                <a:spcPts val="800"/>
              </a:spcBef>
              <a:defRPr sz="1300">
                <a:solidFill>
                  <a:srgbClr val="0F172A"/>
                </a:solidFill>
              </a:defRPr>
            </a:pPr>
            <a:r>
              <a:t>• Nhiệm vụ trọng tâm: Đào tạo học sinh giỏi, bồi dưỡng nhân tài cho địa phương.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CÁC MỐC SON LỊCH SỬ &amp; PHẦN THƯỞNG CAO QUÝ</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05 / 30</a:t>
            </a:r>
          </a:p>
        </p:txBody>
      </p:sp>
      <p:sp>
        <p:nvSpPr>
          <p:cNvPr id="6" name="Rounded Rectangle 5"/>
          <p:cNvSpPr/>
          <p:nvPr/>
        </p:nvSpPr>
        <p:spPr>
          <a:xfrm>
            <a:off x="731520" y="1463040"/>
            <a:ext cx="3383280" cy="2011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34074"/>
                </a:solidFill>
              </a:defRPr>
            </a:pPr>
            <a:r>
              <a:t>1995 - 1996</a:t>
            </a:r>
          </a:p>
          <a:p>
            <a:pPr>
              <a:spcBef>
                <a:spcPts val="400"/>
              </a:spcBef>
              <a:defRPr sz="1300" b="1">
                <a:solidFill>
                  <a:srgbClr val="0B2545"/>
                </a:solidFill>
              </a:defRPr>
            </a:pPr>
            <a:r>
              <a:t>Thành lập &amp; Hoạt động</a:t>
            </a:r>
          </a:p>
          <a:p>
            <a:pPr>
              <a:spcBef>
                <a:spcPts val="400"/>
              </a:spcBef>
              <a:defRPr sz="1100">
                <a:solidFill>
                  <a:srgbClr val="64748B"/>
                </a:solidFill>
              </a:defRPr>
            </a:pPr>
            <a:r>
              <a:t>Quyết định 4757/QĐ-UB UBND tỉnh Sông Bé; chính thức hoạt động 24/04/1996.</a:t>
            </a:r>
          </a:p>
        </p:txBody>
      </p:sp>
      <p:sp>
        <p:nvSpPr>
          <p:cNvPr id="7" name="Rounded Rectangle 6"/>
          <p:cNvSpPr/>
          <p:nvPr/>
        </p:nvSpPr>
        <p:spPr>
          <a:xfrm>
            <a:off x="4297680" y="1463040"/>
            <a:ext cx="338328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7B6"/>
                </a:solidFill>
              </a:defRPr>
            </a:pPr>
            <a:r>
              <a:t>2005</a:t>
            </a:r>
          </a:p>
          <a:p>
            <a:pPr>
              <a:spcBef>
                <a:spcPts val="400"/>
              </a:spcBef>
              <a:defRPr sz="1300" b="1">
                <a:solidFill>
                  <a:srgbClr val="0B2545"/>
                </a:solidFill>
              </a:defRPr>
            </a:pPr>
            <a:r>
              <a:t>Chuẩn Quốc gia đầu tiên</a:t>
            </a:r>
          </a:p>
          <a:p>
            <a:pPr>
              <a:spcBef>
                <a:spcPts val="400"/>
              </a:spcBef>
              <a:defRPr sz="1100">
                <a:solidFill>
                  <a:srgbClr val="64748B"/>
                </a:solidFill>
              </a:defRPr>
            </a:pPr>
            <a:r>
              <a:t>Trường THPT đầu tiên của tỉnh Bình Dương đạt Chuẩn Quốc gia.</a:t>
            </a:r>
          </a:p>
        </p:txBody>
      </p:sp>
      <p:sp>
        <p:nvSpPr>
          <p:cNvPr id="8" name="Rounded Rectangle 7"/>
          <p:cNvSpPr/>
          <p:nvPr/>
        </p:nvSpPr>
        <p:spPr>
          <a:xfrm>
            <a:off x="7863840" y="1463040"/>
            <a:ext cx="3383280" cy="2011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34074"/>
                </a:solidFill>
              </a:defRPr>
            </a:pPr>
            <a:r>
              <a:t>2011</a:t>
            </a:r>
          </a:p>
          <a:p>
            <a:pPr>
              <a:spcBef>
                <a:spcPts val="400"/>
              </a:spcBef>
              <a:defRPr sz="1300" b="1">
                <a:solidFill>
                  <a:srgbClr val="0B2545"/>
                </a:solidFill>
              </a:defRPr>
            </a:pPr>
            <a:r>
              <a:t>Kiểm định Cấp độ 3</a:t>
            </a:r>
          </a:p>
          <a:p>
            <a:pPr>
              <a:spcBef>
                <a:spcPts val="400"/>
              </a:spcBef>
              <a:defRPr sz="1100">
                <a:solidFill>
                  <a:srgbClr val="64748B"/>
                </a:solidFill>
              </a:defRPr>
            </a:pPr>
            <a:r>
              <a:t>Đạt chuẩn Kiểm định Chất lượng Giáo dục Cấp độ 3 bền vững.</a:t>
            </a:r>
          </a:p>
        </p:txBody>
      </p:sp>
      <p:sp>
        <p:nvSpPr>
          <p:cNvPr id="9" name="Rounded Rectangle 8"/>
          <p:cNvSpPr/>
          <p:nvPr/>
        </p:nvSpPr>
        <p:spPr>
          <a:xfrm>
            <a:off x="731520" y="3749039"/>
            <a:ext cx="3383280" cy="2011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E9B00"/>
                </a:solidFill>
              </a:defRPr>
            </a:pPr>
            <a:r>
              <a:t>2018</a:t>
            </a:r>
          </a:p>
          <a:p>
            <a:pPr>
              <a:spcBef>
                <a:spcPts val="400"/>
              </a:spcBef>
              <a:defRPr sz="1300" b="1">
                <a:solidFill>
                  <a:srgbClr val="0B2545"/>
                </a:solidFill>
              </a:defRPr>
            </a:pPr>
            <a:r>
              <a:t>Cờ thi đua của Thủ tướng</a:t>
            </a:r>
          </a:p>
          <a:p>
            <a:pPr>
              <a:spcBef>
                <a:spcPts val="400"/>
              </a:spcBef>
              <a:defRPr sz="1100">
                <a:solidFill>
                  <a:srgbClr val="64748B"/>
                </a:solidFill>
              </a:defRPr>
            </a:pPr>
            <a:r>
              <a:t>Lần thứ 2 vinh dự nhận Cờ thi đua xuất sắc từ Thủ tướng Chính phủ.</a:t>
            </a:r>
          </a:p>
        </p:txBody>
      </p:sp>
      <p:sp>
        <p:nvSpPr>
          <p:cNvPr id="10" name="Rounded Rectangle 9"/>
          <p:cNvSpPr/>
          <p:nvPr/>
        </p:nvSpPr>
        <p:spPr>
          <a:xfrm>
            <a:off x="4297680" y="3749039"/>
            <a:ext cx="3383280" cy="2011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E9B00"/>
                </a:solidFill>
              </a:defRPr>
            </a:pPr>
            <a:r>
              <a:t>2020</a:t>
            </a:r>
          </a:p>
          <a:p>
            <a:pPr>
              <a:spcBef>
                <a:spcPts val="400"/>
              </a:spcBef>
              <a:defRPr sz="1300" b="1">
                <a:solidFill>
                  <a:srgbClr val="0B2545"/>
                </a:solidFill>
              </a:defRPr>
            </a:pPr>
            <a:r>
              <a:t>Huân chương Lao động Hạng Ba</a:t>
            </a:r>
          </a:p>
          <a:p>
            <a:pPr>
              <a:spcBef>
                <a:spcPts val="400"/>
              </a:spcBef>
              <a:defRPr sz="1100">
                <a:solidFill>
                  <a:srgbClr val="64748B"/>
                </a:solidFill>
              </a:defRPr>
            </a:pPr>
            <a:r>
              <a:t>Chủ tịch nước trao tặng phần thưởng cao quý ghi nhận cống hiến.</a:t>
            </a:r>
          </a:p>
        </p:txBody>
      </p:sp>
      <p:sp>
        <p:nvSpPr>
          <p:cNvPr id="11" name="Rounded Rectangle 10"/>
          <p:cNvSpPr/>
          <p:nvPr/>
        </p:nvSpPr>
        <p:spPr>
          <a:xfrm>
            <a:off x="7863840" y="3749039"/>
            <a:ext cx="338328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7B6"/>
                </a:solidFill>
              </a:defRPr>
            </a:pPr>
            <a:r>
              <a:t>2026</a:t>
            </a:r>
          </a:p>
          <a:p>
            <a:pPr>
              <a:spcBef>
                <a:spcPts val="400"/>
              </a:spcBef>
              <a:defRPr sz="1300" b="1">
                <a:solidFill>
                  <a:srgbClr val="0B2545"/>
                </a:solidFill>
              </a:defRPr>
            </a:pPr>
            <a:r>
              <a:t>Kỷ niệm 30 năm (1996–2026)</a:t>
            </a:r>
          </a:p>
          <a:p>
            <a:pPr>
              <a:spcBef>
                <a:spcPts val="400"/>
              </a:spcBef>
              <a:defRPr sz="1100">
                <a:solidFill>
                  <a:srgbClr val="64748B"/>
                </a:solidFill>
              </a:defRPr>
            </a:pPr>
            <a:r>
              <a:t>Kế hoạch số 111/KH-THPTCHV: Hành trình 30 năm vươn tầm cao mới.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SỨ MỆNH GIÁO DỤC VÀ ĐÀO TẠO NHÂN TÀI</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06 / 30</a:t>
            </a:r>
          </a:p>
        </p:txBody>
      </p:sp>
      <p:sp>
        <p:nvSpPr>
          <p:cNvPr id="6" name="Rounded Rectangle 5"/>
          <p:cNvSpPr/>
          <p:nvPr/>
        </p:nvSpPr>
        <p:spPr>
          <a:xfrm>
            <a:off x="731520" y="1645920"/>
            <a:ext cx="3383280" cy="4297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7B6"/>
                </a:solidFill>
              </a:defRPr>
            </a:pPr>
            <a:r>
              <a:t>CỘT TRỤ 1</a:t>
            </a:r>
          </a:p>
          <a:p>
            <a:pPr>
              <a:spcBef>
                <a:spcPts val="800"/>
              </a:spcBef>
              <a:defRPr sz="1600" b="1">
                <a:solidFill>
                  <a:srgbClr val="0B2545"/>
                </a:solidFill>
              </a:defRPr>
            </a:pPr>
            <a:r>
              <a:t>MÔI TRƯỜNG TÍCH CỰC</a:t>
            </a:r>
          </a:p>
          <a:p>
            <a:pPr>
              <a:spcBef>
                <a:spcPts val="1200"/>
              </a:spcBef>
              <a:defRPr sz="1300">
                <a:solidFill>
                  <a:srgbClr val="0F172A"/>
                </a:solidFill>
              </a:defRPr>
            </a:pPr>
            <a:r>
              <a:t>Tạo lập môi trường học tập thân thiện và tích cực, giúp phát huy tối đa tiềm năng và thiên hướng cá nhân của từng học sinh.</a:t>
            </a:r>
          </a:p>
        </p:txBody>
      </p:sp>
      <p:sp>
        <p:nvSpPr>
          <p:cNvPr id="7" name="Rounded Rectangle 6"/>
          <p:cNvSpPr/>
          <p:nvPr/>
        </p:nvSpPr>
        <p:spPr>
          <a:xfrm>
            <a:off x="4297680" y="1645920"/>
            <a:ext cx="3383280" cy="4297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34074"/>
                </a:solidFill>
              </a:defRPr>
            </a:pPr>
            <a:r>
              <a:t>CỘT TRỤ 2</a:t>
            </a:r>
          </a:p>
          <a:p>
            <a:pPr>
              <a:spcBef>
                <a:spcPts val="800"/>
              </a:spcBef>
              <a:defRPr sz="1600" b="1">
                <a:solidFill>
                  <a:srgbClr val="0B2545"/>
                </a:solidFill>
              </a:defRPr>
            </a:pPr>
            <a:r>
              <a:t>PHẨM CHẤT &amp; KỸ NĂNG</a:t>
            </a:r>
          </a:p>
          <a:p>
            <a:pPr>
              <a:spcBef>
                <a:spcPts val="1200"/>
              </a:spcBef>
              <a:defRPr sz="1300">
                <a:solidFill>
                  <a:srgbClr val="0F172A"/>
                </a:solidFill>
              </a:defRPr>
            </a:pPr>
            <a:r>
              <a:t>Đào tạo thế hệ học sinh có kỷ luật tốt, kiến thức vững vàng, kỹ năng sống toàn diện, tinh thần sáng tạo và khát vọng học tập suốt đời.</a:t>
            </a:r>
          </a:p>
        </p:txBody>
      </p:sp>
      <p:sp>
        <p:nvSpPr>
          <p:cNvPr id="8" name="Rounded Rectangle 7"/>
          <p:cNvSpPr/>
          <p:nvPr/>
        </p:nvSpPr>
        <p:spPr>
          <a:xfrm>
            <a:off x="7863840" y="1645920"/>
            <a:ext cx="3383280" cy="4297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E9B00"/>
                </a:solidFill>
              </a:defRPr>
            </a:pPr>
            <a:r>
              <a:t>CỘT TRỤ 3</a:t>
            </a:r>
          </a:p>
          <a:p>
            <a:pPr>
              <a:spcBef>
                <a:spcPts val="800"/>
              </a:spcBef>
              <a:defRPr sz="1600" b="1">
                <a:solidFill>
                  <a:srgbClr val="0B2545"/>
                </a:solidFill>
              </a:defRPr>
            </a:pPr>
            <a:r>
              <a:t>ĐÀO TẠO MŨI NHỌN</a:t>
            </a:r>
          </a:p>
          <a:p>
            <a:pPr>
              <a:spcBef>
                <a:spcPts val="1200"/>
              </a:spcBef>
              <a:defRPr sz="1300">
                <a:solidFill>
                  <a:srgbClr val="0F172A"/>
                </a:solidFill>
              </a:defRPr>
            </a:pPr>
            <a:r>
              <a:t>Phát hiện, tuyển chọn và bồi dưỡng nhân tài học sinh giỏi, tạo nguồn nhân lực chất lượng cao phục vụ đắc lực phát triển kinh tế – xã hội.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TẦM NHÌN CHIẾN LƯỢC 2030 &amp; GIÁ TRỊ CỐT LÕI</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07 / 30</a:t>
            </a:r>
          </a:p>
        </p:txBody>
      </p:sp>
      <p:sp>
        <p:nvSpPr>
          <p:cNvPr id="6" name="Rounded Rectangle 5"/>
          <p:cNvSpPr/>
          <p:nvPr/>
        </p:nvSpPr>
        <p:spPr>
          <a:xfrm>
            <a:off x="731520" y="1463040"/>
            <a:ext cx="10698480" cy="164592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E9B00"/>
                </a:solidFill>
              </a:defRPr>
            </a:pPr>
            <a:r>
              <a:t>🎯 TẦM NHÌN ĐẾN NĂM 2030</a:t>
            </a:r>
          </a:p>
          <a:p>
            <a:pPr>
              <a:spcBef>
                <a:spcPts val="600"/>
              </a:spcBef>
              <a:defRPr sz="1600" b="1">
                <a:solidFill>
                  <a:srgbClr val="FFFFFF"/>
                </a:solidFill>
              </a:defRPr>
            </a:pPr>
            <a:r>
              <a:t>Phấn đấu đến năm 2030, Trường THPT Chuyên Hùng Vương nằm trong TOP 20 TRƯỜNG THPT CÓ CHẤT LƯỢNG CAO NHẤT CẢ NƯỚC.</a:t>
            </a:r>
          </a:p>
        </p:txBody>
      </p:sp>
      <p:sp>
        <p:nvSpPr>
          <p:cNvPr id="7" name="Rounded Rectangle 6"/>
          <p:cNvSpPr/>
          <p:nvPr/>
        </p:nvSpPr>
        <p:spPr>
          <a:xfrm>
            <a:off x="731520" y="3383280"/>
            <a:ext cx="10698480" cy="2651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B2545"/>
                </a:solidFill>
              </a:defRPr>
            </a:pPr>
            <a:r>
              <a:t>💎 HỆ GIÁ TRỊ CỐT LÕI NHÀ TRƯỜNG</a:t>
            </a:r>
          </a:p>
          <a:p>
            <a:pPr>
              <a:spcBef>
                <a:spcPts val="800"/>
              </a:spcBef>
              <a:defRPr sz="1300">
                <a:solidFill>
                  <a:srgbClr val="0F172A"/>
                </a:solidFill>
              </a:defRPr>
            </a:pPr>
            <a:r>
              <a:t>• ĐOÀN KẾT VÀ HỢP TÁC: Sức mạnh tập thể gắn kết giữa thầy cô, học sinh và phụ huynh.</a:t>
            </a:r>
          </a:p>
          <a:p>
            <a:pPr>
              <a:spcBef>
                <a:spcPts val="800"/>
              </a:spcBef>
              <a:defRPr sz="1300">
                <a:solidFill>
                  <a:srgbClr val="0F172A"/>
                </a:solidFill>
              </a:defRPr>
            </a:pPr>
            <a:r>
              <a:t>• TRUNG THỰC: Nền tảng của đạo đức học đường và sự phát triển trí thức chân chính.</a:t>
            </a:r>
          </a:p>
          <a:p>
            <a:pPr>
              <a:spcBef>
                <a:spcPts val="800"/>
              </a:spcBef>
              <a:defRPr sz="1300">
                <a:solidFill>
                  <a:srgbClr val="0F172A"/>
                </a:solidFill>
              </a:defRPr>
            </a:pPr>
            <a:r>
              <a:t>• THÂN THIỆN VÀ SÁNG TẠO: Môi trường cởi mở, không ngừng đổi mới tư duy và phương pháp học tập.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QUY MÔ NHÀ TRƯỜNG QUA NHỮNG CON SỐ ẤN TƯỢNG</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08 / 30</a:t>
            </a:r>
          </a:p>
        </p:txBody>
      </p:sp>
      <p:sp>
        <p:nvSpPr>
          <p:cNvPr id="6" name="Rounded Rectangle 5"/>
          <p:cNvSpPr/>
          <p:nvPr/>
        </p:nvSpPr>
        <p:spPr>
          <a:xfrm>
            <a:off x="731520" y="1463040"/>
            <a:ext cx="512064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0077B6"/>
                </a:solidFill>
              </a:defRPr>
            </a:pPr>
            <a:r>
              <a:t>930</a:t>
            </a:r>
          </a:p>
          <a:p>
            <a:pPr>
              <a:spcBef>
                <a:spcPts val="400"/>
              </a:spcBef>
              <a:defRPr sz="1300" b="1">
                <a:solidFill>
                  <a:srgbClr val="0B2545"/>
                </a:solidFill>
              </a:defRPr>
            </a:pPr>
            <a:r>
              <a:t>HỌC SINH TOÀN TRƯỜNG</a:t>
            </a:r>
          </a:p>
          <a:p>
            <a:pPr>
              <a:spcBef>
                <a:spcPts val="200"/>
              </a:spcBef>
              <a:defRPr sz="1100">
                <a:solidFill>
                  <a:srgbClr val="64748B"/>
                </a:solidFill>
              </a:defRPr>
            </a:pPr>
            <a:r>
              <a:t>Quy mô đào tạo 9 môn chuyên hiện đại</a:t>
            </a:r>
          </a:p>
        </p:txBody>
      </p:sp>
      <p:sp>
        <p:nvSpPr>
          <p:cNvPr id="7" name="Rounded Rectangle 6"/>
          <p:cNvSpPr/>
          <p:nvPr/>
        </p:nvSpPr>
        <p:spPr>
          <a:xfrm>
            <a:off x="6126480" y="1463040"/>
            <a:ext cx="5120640" cy="2011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134074"/>
                </a:solidFill>
              </a:defRPr>
            </a:pPr>
            <a:r>
              <a:t>28</a:t>
            </a:r>
          </a:p>
          <a:p>
            <a:pPr>
              <a:spcBef>
                <a:spcPts val="400"/>
              </a:spcBef>
              <a:defRPr sz="1300" b="1">
                <a:solidFill>
                  <a:srgbClr val="0B2545"/>
                </a:solidFill>
              </a:defRPr>
            </a:pPr>
            <a:r>
              <a:t>LỚP HỌC CHUYÊN</a:t>
            </a:r>
          </a:p>
          <a:p>
            <a:pPr>
              <a:spcBef>
                <a:spcPts val="200"/>
              </a:spcBef>
              <a:defRPr sz="1100">
                <a:solidFill>
                  <a:srgbClr val="64748B"/>
                </a:solidFill>
              </a:defRPr>
            </a:pPr>
            <a:r>
              <a:t>Phân bổ đồng đều các khối 10, 11, 12</a:t>
            </a:r>
          </a:p>
        </p:txBody>
      </p:sp>
      <p:sp>
        <p:nvSpPr>
          <p:cNvPr id="8" name="Rounded Rectangle 7"/>
          <p:cNvSpPr/>
          <p:nvPr/>
        </p:nvSpPr>
        <p:spPr>
          <a:xfrm>
            <a:off x="731520" y="3749039"/>
            <a:ext cx="5120640" cy="2011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EE9B00"/>
                </a:solidFill>
              </a:defRPr>
            </a:pPr>
            <a:r>
              <a:t>&gt;300</a:t>
            </a:r>
          </a:p>
          <a:p>
            <a:pPr>
              <a:spcBef>
                <a:spcPts val="400"/>
              </a:spcBef>
              <a:defRPr sz="1300" b="1">
                <a:solidFill>
                  <a:srgbClr val="0B2545"/>
                </a:solidFill>
              </a:defRPr>
            </a:pPr>
            <a:r>
              <a:t>CHỈ TIÊU TUYỂN MỚI</a:t>
            </a:r>
          </a:p>
          <a:p>
            <a:pPr>
              <a:spcBef>
                <a:spcPts val="200"/>
              </a:spcBef>
              <a:defRPr sz="1100">
                <a:solidFill>
                  <a:srgbClr val="64748B"/>
                </a:solidFill>
              </a:defRPr>
            </a:pPr>
            <a:r>
              <a:t>Tuyển chọn khắt khe vào lớp 10 mỗi năm</a:t>
            </a:r>
          </a:p>
        </p:txBody>
      </p:sp>
      <p:sp>
        <p:nvSpPr>
          <p:cNvPr id="9" name="Rounded Rectangle 8"/>
          <p:cNvSpPr/>
          <p:nvPr/>
        </p:nvSpPr>
        <p:spPr>
          <a:xfrm>
            <a:off x="6126480" y="3749039"/>
            <a:ext cx="5120640" cy="2011680"/>
          </a:xfrm>
          <a:prstGeom prst="roundRect">
            <a:avLst/>
          </a:prstGeom>
          <a:solidFill>
            <a:srgbClr val="FFFFFF"/>
          </a:solidFill>
          <a:ln w="190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0B2545"/>
                </a:solidFill>
              </a:defRPr>
            </a:pPr>
            <a:r>
              <a:t>&gt;900</a:t>
            </a:r>
          </a:p>
          <a:p>
            <a:pPr>
              <a:spcBef>
                <a:spcPts val="400"/>
              </a:spcBef>
              <a:defRPr sz="1300" b="1">
                <a:solidFill>
                  <a:srgbClr val="0B2545"/>
                </a:solidFill>
              </a:defRPr>
            </a:pPr>
            <a:r>
              <a:t>ĐOÀN VIÊN HỌC SINH</a:t>
            </a:r>
          </a:p>
          <a:p>
            <a:pPr>
              <a:spcBef>
                <a:spcPts val="200"/>
              </a:spcBef>
              <a:defRPr sz="1100">
                <a:solidFill>
                  <a:srgbClr val="64748B"/>
                </a:solidFill>
              </a:defRPr>
            </a:pPr>
            <a:r>
              <a:t>Sinh hoạt tại 28 chi đoàn học sinh năng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ĐỘI NGŨ SƯ PHẠM CHUYÊN MÔN CAO &amp; TẬN TÂM</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09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CƠ CẤU ĐỘI NGŨ CÁN BỘ</a:t>
            </a:r>
          </a:p>
          <a:p>
            <a:pPr>
              <a:spcBef>
                <a:spcPts val="1000"/>
              </a:spcBef>
              <a:defRPr sz="1300">
                <a:solidFill>
                  <a:srgbClr val="0F172A"/>
                </a:solidFill>
              </a:defRPr>
            </a:pPr>
            <a:r>
              <a:t>• 92 CBGVNV: Cán bộ, giáo viên, nhân viên toàn trường</a:t>
            </a:r>
          </a:p>
          <a:p>
            <a:pPr>
              <a:spcBef>
                <a:spcPts val="1000"/>
              </a:spcBef>
              <a:defRPr sz="1300">
                <a:solidFill>
                  <a:srgbClr val="0F172A"/>
                </a:solidFill>
              </a:defRPr>
            </a:pPr>
            <a:r>
              <a:t>• 53 CBGVNV: Đảng viên gương mẫu sinh hoạt tại Chi bộ</a:t>
            </a:r>
          </a:p>
          <a:p>
            <a:pPr>
              <a:spcBef>
                <a:spcPts val="1000"/>
              </a:spcBef>
              <a:defRPr sz="1300">
                <a:solidFill>
                  <a:srgbClr val="0F172A"/>
                </a:solidFill>
              </a:defRPr>
            </a:pPr>
            <a:r>
              <a:t>• 92 CBGVNV: Đoàn viên công đoàn cơ sở đoàn kết, vững mạnh</a:t>
            </a:r>
          </a:p>
          <a:p>
            <a:pPr>
              <a:spcBef>
                <a:spcPts val="1000"/>
              </a:spcBef>
              <a:defRPr sz="1300">
                <a:solidFill>
                  <a:srgbClr val="0F172A"/>
                </a:solidFill>
              </a:defRPr>
            </a:pPr>
            <a:r>
              <a:t>• 100% CBGVNV: Giáo viên đạt chuẩn và trên chuẩn trình độ đào tạo</a:t>
            </a:r>
          </a:p>
        </p:txBody>
      </p:sp>
      <p:sp>
        <p:nvSpPr>
          <p:cNvPr id="7" name="Rounded Rectangle 6"/>
          <p:cNvSpPr/>
          <p:nvPr/>
        </p:nvSpPr>
        <p:spPr>
          <a:xfrm>
            <a:off x="6217920" y="1463040"/>
            <a:ext cx="5212080" cy="45720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B4D8"/>
                </a:solidFill>
              </a:defRPr>
            </a:pPr>
            <a:r>
              <a:t>⭐ PHẨM CHẤT VÀ NĂNG LỰC</a:t>
            </a:r>
          </a:p>
          <a:p>
            <a:pPr>
              <a:spcBef>
                <a:spcPts val="1200"/>
              </a:spcBef>
              <a:defRPr sz="1300">
                <a:solidFill>
                  <a:srgbClr val="FFFFFF"/>
                </a:solidFill>
              </a:defRPr>
            </a:pPr>
            <a:r>
              <a:t>• Đội ngũ cốt cán bồi dưỡng học sinh giỏi quốc gia và khu vực.</a:t>
            </a:r>
          </a:p>
          <a:p>
            <a:pPr>
              <a:spcBef>
                <a:spcPts val="1000"/>
              </a:spcBef>
              <a:defRPr sz="1300">
                <a:solidFill>
                  <a:srgbClr val="FFFFFF"/>
                </a:solidFill>
              </a:defRPr>
            </a:pPr>
            <a:r>
              <a:t>• Tích cực đổi mới phương pháp giảng dạy theo định hướng phát triển năng lực GDPT 2018.</a:t>
            </a:r>
          </a:p>
          <a:p>
            <a:pPr>
              <a:spcBef>
                <a:spcPts val="1000"/>
              </a:spcBef>
              <a:defRPr sz="1300">
                <a:solidFill>
                  <a:srgbClr val="FFFFFF"/>
                </a:solidFill>
              </a:defRPr>
            </a:pPr>
            <a:r>
              <a:t>• Tiên phong áp dụng mô hình giảng dạy các môn tự nhiên bằng Tiếng Anh.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CƠ CẤU TỔ CHỨC BỘ MÁY NHÀ TRƯỜNG</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10 / 30</a:t>
            </a:r>
          </a:p>
        </p:txBody>
      </p:sp>
      <p:sp>
        <p:nvSpPr>
          <p:cNvPr id="6" name="Rounded Rectangle 5"/>
          <p:cNvSpPr/>
          <p:nvPr/>
        </p:nvSpPr>
        <p:spPr>
          <a:xfrm>
            <a:off x="731520" y="1463040"/>
            <a:ext cx="10698480" cy="1188720"/>
          </a:xfrm>
          <a:prstGeom prst="roundRect">
            <a:avLst/>
          </a:prstGeom>
          <a:solidFill>
            <a:srgbClr val="0B2545"/>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E9B00"/>
                </a:solidFill>
              </a:defRPr>
            </a:pPr>
            <a:r>
              <a:t>BAN GIÁM HIỆU &amp; HỆ THỐNG ĐOÀN THỂ</a:t>
            </a:r>
          </a:p>
          <a:p>
            <a:pPr>
              <a:spcBef>
                <a:spcPts val="400"/>
              </a:spcBef>
              <a:defRPr sz="1300">
                <a:solidFill>
                  <a:srgbClr val="FFFFFF"/>
                </a:solidFill>
              </a:defRPr>
            </a:pPr>
            <a:r>
              <a:t>Chi bộ Đảng (53 Đảng viên) — Công đoàn cơ sở — Đoàn Thanh niên (1 Chi đoàn GV &amp; 28 Chi đoàn HS)</a:t>
            </a:r>
          </a:p>
        </p:txBody>
      </p:sp>
      <p:sp>
        <p:nvSpPr>
          <p:cNvPr id="7" name="Rounded Rectangle 6"/>
          <p:cNvSpPr/>
          <p:nvPr/>
        </p:nvSpPr>
        <p:spPr>
          <a:xfrm>
            <a:off x="731520" y="2834640"/>
            <a:ext cx="1069848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7B6"/>
                </a:solidFill>
              </a:defRPr>
            </a:pPr>
            <a:r>
              <a:t>HỆ THỐNG 10 TỔ CÔNG TÁC (09 TỔ CHUYÊN MÔN &amp; 01 TỔ VĂN PHÒNG)</a:t>
            </a:r>
          </a:p>
          <a:p>
            <a:pPr>
              <a:spcBef>
                <a:spcPts val="800"/>
              </a:spcBef>
              <a:defRPr sz="1300" b="1">
                <a:solidFill>
                  <a:srgbClr val="0B2545"/>
                </a:solidFill>
              </a:defRPr>
            </a:pPr>
            <a:r>
              <a:t>1. Tổ Toán | 2. Tổ Vật lý | 3. Tổ Hóa học | 4. Tổ Sinh học | 5. Tổ Tin học</a:t>
            </a:r>
          </a:p>
          <a:p>
            <a:pPr>
              <a:spcBef>
                <a:spcPts val="600"/>
              </a:spcBef>
              <a:defRPr sz="1300" b="1">
                <a:solidFill>
                  <a:srgbClr val="0B2545"/>
                </a:solidFill>
              </a:defRPr>
            </a:pPr>
            <a:r>
              <a:t>6. Tổ Ngữ văn | 7. Tổ Lịch sử | 8. Tổ Địa lý | 9. Tổ Tiếng Anh | 10. Tổ Văn phòng</a:t>
            </a:r>
          </a:p>
          <a:p>
            <a:pPr>
              <a:spcBef>
                <a:spcPts val="1000"/>
              </a:spcBef>
              <a:defRPr sz="1200">
                <a:solidFill>
                  <a:srgbClr val="64748B"/>
                </a:solidFill>
              </a:defRPr>
            </a:pPr>
            <a:r>
              <a:t>Mỗi tổ chuyên môn chịu trách nhiệm bồi dưỡng đội tuyển HSG, xây dựng chuyên đề học tập và tổ chức hoạt động nghiên cứu khoa học chuyên sâu.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III: CƠ SỞ VẬT CHẤT</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CƠ SỞ VẬT CHẤT &amp; KHUÔN VIÊN ĐẠT CHUẨN</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11 / 30</a:t>
            </a:r>
          </a:p>
        </p:txBody>
      </p:sp>
      <p:sp>
        <p:nvSpPr>
          <p:cNvPr id="6" name="Rounded Rectangle 5"/>
          <p:cNvSpPr/>
          <p:nvPr/>
        </p:nvSpPr>
        <p:spPr>
          <a:xfrm>
            <a:off x="731520" y="1463040"/>
            <a:ext cx="512064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7B6"/>
                </a:solidFill>
              </a:defRPr>
            </a:pPr>
            <a:r>
              <a:t>📍 ĐỊA CHỈ &amp; KHUÔN VIÊN</a:t>
            </a:r>
          </a:p>
          <a:p>
            <a:pPr>
              <a:spcBef>
                <a:spcPts val="600"/>
              </a:spcBef>
              <a:defRPr sz="1200">
                <a:solidFill>
                  <a:srgbClr val="0F172A"/>
                </a:solidFill>
              </a:defRPr>
            </a:pPr>
            <a:r>
              <a:t>Số 593 Đại lộ Bình Dương, P. Thủ Dầu Một, TP.HCM.</a:t>
            </a:r>
            <a:br/>
            <a:r>
              <a:t>Khuôn viên xanh, rộng rãi, môi trường sư phạm chuẩn mực.</a:t>
            </a:r>
          </a:p>
        </p:txBody>
      </p:sp>
      <p:sp>
        <p:nvSpPr>
          <p:cNvPr id="7" name="Rounded Rectangle 6"/>
          <p:cNvSpPr/>
          <p:nvPr/>
        </p:nvSpPr>
        <p:spPr>
          <a:xfrm>
            <a:off x="6126480" y="1463040"/>
            <a:ext cx="5120640" cy="2011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4074"/>
                </a:solidFill>
              </a:defRPr>
            </a:pPr>
            <a:r>
              <a:t>🔬 PHÒNG THÍ NGHIỆM CHUYÊN DÙNG</a:t>
            </a:r>
          </a:p>
          <a:p>
            <a:pPr>
              <a:spcBef>
                <a:spcPts val="600"/>
              </a:spcBef>
              <a:defRPr sz="1200">
                <a:solidFill>
                  <a:srgbClr val="0F172A"/>
                </a:solidFill>
              </a:defRPr>
            </a:pPr>
            <a:r>
              <a:t>Hệ thống phòng bộ môn Lý, Hóa, Sinh đạt chuẩn.</a:t>
            </a:r>
            <a:br/>
            <a:r>
              <a:t>Trang bị đầy đủ thiết bị thí nghiệm hiện đại phục vụ nghiên cứu.</a:t>
            </a:r>
          </a:p>
        </p:txBody>
      </p:sp>
      <p:sp>
        <p:nvSpPr>
          <p:cNvPr id="8" name="Rounded Rectangle 7"/>
          <p:cNvSpPr/>
          <p:nvPr/>
        </p:nvSpPr>
        <p:spPr>
          <a:xfrm>
            <a:off x="731520" y="3749039"/>
            <a:ext cx="5120640" cy="2011680"/>
          </a:xfrm>
          <a:prstGeom prst="roundRect">
            <a:avLst/>
          </a:prstGeom>
          <a:solidFill>
            <a:srgbClr val="FFFFF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B4D8"/>
                </a:solidFill>
              </a:defRPr>
            </a:pPr>
            <a:r>
              <a:t>💻 PHÒNG TIN HỌC TIÊN TIẾN</a:t>
            </a:r>
          </a:p>
          <a:p>
            <a:pPr>
              <a:spcBef>
                <a:spcPts val="600"/>
              </a:spcBef>
              <a:defRPr sz="1200">
                <a:solidFill>
                  <a:srgbClr val="0F172A"/>
                </a:solidFill>
              </a:defRPr>
            </a:pPr>
            <a:r>
              <a:t>Dàn máy tính cấu hình cao kết nối mạng cáp quang.</a:t>
            </a:r>
            <a:br/>
            <a:r>
              <a:t>Phục vụ lập trình thuật toán và các cuộc thi Tin học trẻ.</a:t>
            </a:r>
          </a:p>
        </p:txBody>
      </p:sp>
      <p:sp>
        <p:nvSpPr>
          <p:cNvPr id="9" name="Rounded Rectangle 8"/>
          <p:cNvSpPr/>
          <p:nvPr/>
        </p:nvSpPr>
        <p:spPr>
          <a:xfrm>
            <a:off x="6126480" y="3749039"/>
            <a:ext cx="5120640" cy="2011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E9B00"/>
                </a:solidFill>
              </a:defRPr>
            </a:pPr>
            <a:r>
              <a:t>📚 THƯ VIỆN ĐẠT CHUẨN</a:t>
            </a:r>
          </a:p>
          <a:p>
            <a:pPr>
              <a:spcBef>
                <a:spcPts val="600"/>
              </a:spcBef>
              <a:defRPr sz="1200">
                <a:solidFill>
                  <a:srgbClr val="0F172A"/>
                </a:solidFill>
              </a:defRPr>
            </a:pPr>
            <a:r>
              <a:t>Không gian đọc mở với hàng nghìn đầu sách quý.</a:t>
            </a:r>
            <a:br/>
            <a:r>
              <a:t>Tài liệu ôn thi HSG chuyên sâu và hệ thống học liệu điện tử phong phú.</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III: CƠ SỞ VẬT CHẤT</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GIÁO DỤC STEM &amp; SÁNG TẠO KHOA HỌC KỸ THUẬT</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12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ĐỊNH HƯỚNG GIÁO DỤC STEM</a:t>
            </a:r>
          </a:p>
          <a:p>
            <a:pPr>
              <a:spcBef>
                <a:spcPts val="1000"/>
              </a:spcBef>
              <a:defRPr sz="1300">
                <a:solidFill>
                  <a:srgbClr val="0F172A"/>
                </a:solidFill>
              </a:defRPr>
            </a:pPr>
            <a:r>
              <a:t>• Kết hợp kiến thức liên môn Khoa học, Công nghệ, Kỹ thuật và Toán học.</a:t>
            </a:r>
          </a:p>
          <a:p>
            <a:pPr>
              <a:spcBef>
                <a:spcPts val="800"/>
              </a:spcBef>
              <a:defRPr sz="1300">
                <a:solidFill>
                  <a:srgbClr val="0F172A"/>
                </a:solidFill>
              </a:defRPr>
            </a:pPr>
            <a:r>
              <a:t>• Khuyến khích học sinh giải quyết các bài toán thực tiễn của cuộc sống.</a:t>
            </a:r>
          </a:p>
          <a:p>
            <a:pPr>
              <a:spcBef>
                <a:spcPts val="800"/>
              </a:spcBef>
              <a:defRPr sz="1300">
                <a:solidFill>
                  <a:srgbClr val="0F172A"/>
                </a:solidFill>
              </a:defRPr>
            </a:pPr>
            <a:r>
              <a:t>• Tạo môi trường cho học sinh chế tạo sản phẩm công nghệ sáng tạo.</a:t>
            </a:r>
          </a:p>
        </p:txBody>
      </p:sp>
      <p:sp>
        <p:nvSpPr>
          <p:cNvPr id="7" name="Rounded Rectangle 6"/>
          <p:cNvSpPr/>
          <p:nvPr/>
        </p:nvSpPr>
        <p:spPr>
          <a:xfrm>
            <a:off x="6217920" y="1463040"/>
            <a:ext cx="5212080" cy="457200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E9B00"/>
                </a:solidFill>
              </a:defRPr>
            </a:pPr>
            <a:r>
              <a:t>🌟 SẢN PHẨM TIÊU BIỂU</a:t>
            </a:r>
          </a:p>
          <a:p>
            <a:pPr>
              <a:spcBef>
                <a:spcPts val="1000"/>
              </a:spcBef>
              <a:defRPr sz="1400" b="1">
                <a:solidFill>
                  <a:srgbClr val="FFFFFF"/>
                </a:solidFill>
              </a:defRPr>
            </a:pPr>
            <a:r>
              <a:t>DỰ ÁN: 'MÁY PHUN SÁT KHUẨN TAY TỰ ĐỘNG'</a:t>
            </a:r>
          </a:p>
          <a:p>
            <a:pPr>
              <a:spcBef>
                <a:spcPts val="800"/>
              </a:spcBef>
              <a:defRPr sz="1300">
                <a:solidFill>
                  <a:srgbClr val="E2E8F0"/>
                </a:solidFill>
              </a:defRPr>
            </a:pPr>
            <a:r>
              <a:t>• Chế tạo bằng công nghệ cảm biến hồng ngoại tự động.</a:t>
            </a:r>
          </a:p>
          <a:p>
            <a:pPr>
              <a:spcBef>
                <a:spcPts val="800"/>
              </a:spcBef>
              <a:defRPr sz="1300">
                <a:solidFill>
                  <a:srgbClr val="E2E8F0"/>
                </a:solidFill>
              </a:defRPr>
            </a:pPr>
            <a:r>
              <a:t>• Ứng dụng thực tế cao phục vụ phòng chống dịch bệnh trong khuôn viên trường.</a:t>
            </a:r>
          </a:p>
          <a:p>
            <a:pPr>
              <a:spcBef>
                <a:spcPts val="800"/>
              </a:spcBef>
              <a:defRPr sz="1300">
                <a:solidFill>
                  <a:srgbClr val="E2E8F0"/>
                </a:solidFill>
              </a:defRPr>
            </a:pPr>
            <a:r>
              <a:t>• Minh chứng cho tinh thần sáng tạo ứng dụng thực tế của học sinh Chuyên Hùng Vương.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DANH HIỆU THI ĐUA &amp; THÀNH TÍCH TẬP THỂ</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13 / 30</a:t>
            </a:r>
          </a:p>
        </p:txBody>
      </p:sp>
      <p:sp>
        <p:nvSpPr>
          <p:cNvPr id="6" name="Rounded Rectangle 5"/>
          <p:cNvSpPr/>
          <p:nvPr/>
        </p:nvSpPr>
        <p:spPr>
          <a:xfrm>
            <a:off x="731520" y="1463040"/>
            <a:ext cx="512064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0077B6"/>
                </a:solidFill>
              </a:defRPr>
            </a:pPr>
            <a:r>
              <a:t>100%</a:t>
            </a:r>
          </a:p>
          <a:p>
            <a:pPr>
              <a:spcBef>
                <a:spcPts val="400"/>
              </a:spcBef>
              <a:defRPr sz="1300" b="1">
                <a:solidFill>
                  <a:srgbClr val="0B2545"/>
                </a:solidFill>
              </a:defRPr>
            </a:pPr>
            <a:r>
              <a:t>TỐT NGHIỆP THPT</a:t>
            </a:r>
          </a:p>
          <a:p>
            <a:pPr>
              <a:spcBef>
                <a:spcPts val="200"/>
              </a:spcBef>
              <a:defRPr sz="1100">
                <a:solidFill>
                  <a:srgbClr val="64748B"/>
                </a:solidFill>
              </a:defRPr>
            </a:pPr>
            <a:r>
              <a:t>Tỷ lệ đỗ tốt nghiệp duy trì tuyệt đối qua các năm</a:t>
            </a:r>
          </a:p>
        </p:txBody>
      </p:sp>
      <p:sp>
        <p:nvSpPr>
          <p:cNvPr id="7" name="Rounded Rectangle 6"/>
          <p:cNvSpPr/>
          <p:nvPr/>
        </p:nvSpPr>
        <p:spPr>
          <a:xfrm>
            <a:off x="6126480" y="1463040"/>
            <a:ext cx="5120640" cy="2011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134074"/>
                </a:solidFill>
              </a:defRPr>
            </a:pPr>
            <a:r>
              <a:t>100%</a:t>
            </a:r>
          </a:p>
          <a:p>
            <a:pPr>
              <a:spcBef>
                <a:spcPts val="400"/>
              </a:spcBef>
              <a:defRPr sz="1300" b="1">
                <a:solidFill>
                  <a:srgbClr val="0B2545"/>
                </a:solidFill>
              </a:defRPr>
            </a:pPr>
            <a:r>
              <a:t>TRÚNG TUYỂN ĐẠI HỌC</a:t>
            </a:r>
          </a:p>
          <a:p>
            <a:pPr>
              <a:spcBef>
                <a:spcPts val="200"/>
              </a:spcBef>
              <a:defRPr sz="1100">
                <a:solidFill>
                  <a:srgbClr val="64748B"/>
                </a:solidFill>
              </a:defRPr>
            </a:pPr>
            <a:r>
              <a:t>Vào các trường ĐH danh tiếng trong và ngoài nước</a:t>
            </a:r>
          </a:p>
        </p:txBody>
      </p:sp>
      <p:sp>
        <p:nvSpPr>
          <p:cNvPr id="8" name="Rounded Rectangle 7"/>
          <p:cNvSpPr/>
          <p:nvPr/>
        </p:nvSpPr>
        <p:spPr>
          <a:xfrm>
            <a:off x="731520" y="3749039"/>
            <a:ext cx="5120640" cy="2011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0077B6"/>
                </a:solidFill>
              </a:defRPr>
            </a:pPr>
            <a:r>
              <a:t>CẤP ĐỘ 3</a:t>
            </a:r>
          </a:p>
          <a:p>
            <a:pPr>
              <a:spcBef>
                <a:spcPts val="400"/>
              </a:spcBef>
              <a:defRPr sz="1300" b="1">
                <a:solidFill>
                  <a:srgbClr val="0B2545"/>
                </a:solidFill>
              </a:defRPr>
            </a:pPr>
            <a:r>
              <a:t>KIỂM ĐỊNH CHẤT LƯỢNG</a:t>
            </a:r>
          </a:p>
          <a:p>
            <a:pPr>
              <a:spcBef>
                <a:spcPts val="200"/>
              </a:spcBef>
              <a:defRPr sz="1100">
                <a:solidFill>
                  <a:srgbClr val="64748B"/>
                </a:solidFill>
              </a:defRPr>
            </a:pPr>
            <a:r>
              <a:t>Chuẩn kiểm định chất lượng giáo dục cao nhất</a:t>
            </a:r>
          </a:p>
        </p:txBody>
      </p:sp>
      <p:sp>
        <p:nvSpPr>
          <p:cNvPr id="9" name="Rounded Rectangle 8"/>
          <p:cNvSpPr/>
          <p:nvPr/>
        </p:nvSpPr>
        <p:spPr>
          <a:xfrm>
            <a:off x="6126480" y="3749039"/>
            <a:ext cx="5120640" cy="2011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EE9B00"/>
                </a:solidFill>
              </a:defRPr>
            </a:pPr>
            <a:r>
              <a:t>HUÂN CHƯƠNG</a:t>
            </a:r>
          </a:p>
          <a:p>
            <a:pPr>
              <a:spcBef>
                <a:spcPts val="400"/>
              </a:spcBef>
              <a:defRPr sz="1300" b="1">
                <a:solidFill>
                  <a:srgbClr val="0B2545"/>
                </a:solidFill>
              </a:defRPr>
            </a:pPr>
            <a:r>
              <a:t>LAO ĐỘNG HẠNG BA</a:t>
            </a:r>
          </a:p>
          <a:p>
            <a:pPr>
              <a:spcBef>
                <a:spcPts val="200"/>
              </a:spcBef>
              <a:defRPr sz="1100">
                <a:solidFill>
                  <a:srgbClr val="64748B"/>
                </a:solidFill>
              </a:defRPr>
            </a:pPr>
            <a:r>
              <a:t>Chủ tịch nước trao tặng ghi nhận thành tích xuất sắc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DẤU ẤN VƯỢT TRỘI KỲ THI TỐT NGHIỆP THPT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14 / 30</a:t>
            </a:r>
          </a:p>
        </p:txBody>
      </p:sp>
      <p:sp>
        <p:nvSpPr>
          <p:cNvPr id="6" name="Rounded Rectangle 5"/>
          <p:cNvSpPr/>
          <p:nvPr/>
        </p:nvSpPr>
        <p:spPr>
          <a:xfrm>
            <a:off x="731520" y="1463040"/>
            <a:ext cx="3383280" cy="45720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5000" b="1">
                <a:solidFill>
                  <a:srgbClr val="FFFFFF"/>
                </a:solidFill>
              </a:defRPr>
            </a:pPr>
            <a:r>
              <a:t>264</a:t>
            </a:r>
          </a:p>
          <a:p>
            <a:pPr>
              <a:spcBef>
                <a:spcPts val="600"/>
              </a:spcBef>
              <a:defRPr sz="1400" b="1">
                <a:solidFill>
                  <a:srgbClr val="00B4D8"/>
                </a:solidFill>
              </a:defRPr>
            </a:pPr>
            <a:r>
              <a:t>HỌC SINH THAM GIA DỰ THI</a:t>
            </a:r>
          </a:p>
          <a:p>
            <a:pPr>
              <a:spcBef>
                <a:spcPts val="800"/>
              </a:spcBef>
              <a:defRPr sz="1200">
                <a:solidFill>
                  <a:srgbClr val="E2E8F0"/>
                </a:solidFill>
              </a:defRPr>
            </a:pPr>
            <a:r>
              <a:t>01 học sinh đặc cách miễn thi do thuộc Đội tuyển Olympic Quốc tế.</a:t>
            </a:r>
          </a:p>
        </p:txBody>
      </p:sp>
      <p:sp>
        <p:nvSpPr>
          <p:cNvPr id="7" name="Rounded Rectangle 6"/>
          <p:cNvSpPr/>
          <p:nvPr/>
        </p:nvSpPr>
        <p:spPr>
          <a:xfrm>
            <a:off x="4389120" y="1463040"/>
            <a:ext cx="70408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EE9B00"/>
                </a:solidFill>
              </a:defRPr>
            </a:pPr>
            <a:r>
              <a:t>🌟 CƠN MƯA ĐIỂM 10 TUYỆT ĐỐI (14 LƯỢT)</a:t>
            </a:r>
          </a:p>
          <a:p>
            <a:pPr>
              <a:spcBef>
                <a:spcPts val="1400"/>
              </a:spcBef>
              <a:defRPr sz="1500" b="1">
                <a:solidFill>
                  <a:srgbClr val="0B2545"/>
                </a:solidFill>
              </a:defRPr>
            </a:pPr>
            <a:r>
              <a:t>• MÔN TOÁN: 09 ĐIỂM 10 TUYỆT ĐỐI</a:t>
            </a:r>
          </a:p>
          <a:p>
            <a:pPr>
              <a:defRPr sz="1200">
                <a:solidFill>
                  <a:srgbClr val="64748B"/>
                </a:solidFill>
              </a:defRPr>
            </a:pPr>
            <a:r>
              <a:t>Khẳng định thế mạnh vượt trội của trường chuyên trọng điểm tự nhiên.</a:t>
            </a:r>
          </a:p>
          <a:p>
            <a:pPr>
              <a:spcBef>
                <a:spcPts val="1200"/>
              </a:spcBef>
              <a:defRPr sz="1500" b="1">
                <a:solidFill>
                  <a:srgbClr val="0B2545"/>
                </a:solidFill>
              </a:defRPr>
            </a:pPr>
            <a:r>
              <a:t>• MÔN LỊCH SỬ: 03 ĐIỂM 10 TUYỆT ĐỐI</a:t>
            </a:r>
          </a:p>
          <a:p>
            <a:pPr>
              <a:defRPr sz="1200">
                <a:solidFill>
                  <a:srgbClr val="64748B"/>
                </a:solidFill>
              </a:defRPr>
            </a:pPr>
            <a:r>
              <a:t>Thành tích xuất sắc của khối chuyên khoa học xã hội.</a:t>
            </a:r>
          </a:p>
          <a:p>
            <a:pPr>
              <a:spcBef>
                <a:spcPts val="1200"/>
              </a:spcBef>
              <a:defRPr sz="1500" b="1">
                <a:solidFill>
                  <a:srgbClr val="0B2545"/>
                </a:solidFill>
              </a:defRPr>
            </a:pPr>
            <a:r>
              <a:t>• MÔN SINH HỌC: 02 ĐIỂM 10 TUYỆT ĐỐI</a:t>
            </a:r>
          </a:p>
          <a:p>
            <a:pPr>
              <a:defRPr sz="1200">
                <a:solidFill>
                  <a:srgbClr val="64748B"/>
                </a:solidFill>
              </a:defRPr>
            </a:pPr>
            <a:r>
              <a:t>Tiếp nối truyền thống điểm số dẫn đầu các khối thi Y Dược.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ĐIỂM BÌNH QUÂN CÁC MÔN CHUYÊN DẪN ĐẦU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15 / 30</a:t>
            </a:r>
          </a:p>
        </p:txBody>
      </p:sp>
      <p:sp>
        <p:nvSpPr>
          <p:cNvPr id="6" name="Rounded Rectangle 5"/>
          <p:cNvSpPr/>
          <p:nvPr/>
        </p:nvSpPr>
        <p:spPr>
          <a:xfrm>
            <a:off x="731520" y="1463040"/>
            <a:ext cx="10698480" cy="77724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545"/>
                </a:solidFill>
              </a:defRPr>
            </a:pPr>
            <a:r>
              <a:t>MÔN TIN HỌC : 8,64 ĐIỂM  —  Dẫn đầu toàn trường về điểm trung bình thi tốt nghiệp</a:t>
            </a:r>
          </a:p>
        </p:txBody>
      </p:sp>
      <p:sp>
        <p:nvSpPr>
          <p:cNvPr id="7" name="Rounded Rectangle 6"/>
          <p:cNvSpPr/>
          <p:nvPr/>
        </p:nvSpPr>
        <p:spPr>
          <a:xfrm>
            <a:off x="731520" y="2377440"/>
            <a:ext cx="10698480" cy="77724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545"/>
                </a:solidFill>
              </a:defRPr>
            </a:pPr>
            <a:r>
              <a:t>MÔN LỊCH SỬ : 8,57 ĐIỂM  —  Điểm trung bình khối xã hội ấn tượng kỷ lục</a:t>
            </a:r>
          </a:p>
        </p:txBody>
      </p:sp>
      <p:sp>
        <p:nvSpPr>
          <p:cNvPr id="8" name="Rounded Rectangle 7"/>
          <p:cNvSpPr/>
          <p:nvPr/>
        </p:nvSpPr>
        <p:spPr>
          <a:xfrm>
            <a:off x="731520" y="3291840"/>
            <a:ext cx="10698480" cy="77724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545"/>
                </a:solidFill>
              </a:defRPr>
            </a:pPr>
            <a:r>
              <a:t>MÔN HÓA HỌC : 8,11 ĐIỂM  —  Chất lượng chuyên môn sâu sắc và đồng đều</a:t>
            </a:r>
          </a:p>
        </p:txBody>
      </p:sp>
      <p:sp>
        <p:nvSpPr>
          <p:cNvPr id="9" name="Rounded Rectangle 8"/>
          <p:cNvSpPr/>
          <p:nvPr/>
        </p:nvSpPr>
        <p:spPr>
          <a:xfrm>
            <a:off x="731520" y="4206240"/>
            <a:ext cx="10698480" cy="77724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545"/>
                </a:solidFill>
              </a:defRPr>
            </a:pPr>
            <a:r>
              <a:t>MÔN TOÁN : 8,10 ĐIỂM  —  Thành tích áp đảo với 9 điểm 10 tuyệt đối</a:t>
            </a:r>
          </a:p>
        </p:txBody>
      </p:sp>
      <p:sp>
        <p:nvSpPr>
          <p:cNvPr id="10" name="Rounded Rectangle 9"/>
          <p:cNvSpPr/>
          <p:nvPr/>
        </p:nvSpPr>
        <p:spPr>
          <a:xfrm>
            <a:off x="731520" y="5120640"/>
            <a:ext cx="10698480" cy="77724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545"/>
                </a:solidFill>
              </a:defRPr>
            </a:pPr>
            <a:r>
              <a:t>MÔN SINH HỌC : 7,71 ĐIỂM  —  Nền tảng vững chắc cho khối thi khoa học ứng dụng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BẢNG VÀNG THỦ KHOA CÁC KHỐI THI ĐẠI HỌC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16 / 30</a:t>
            </a:r>
          </a:p>
        </p:txBody>
      </p:sp>
      <p:sp>
        <p:nvSpPr>
          <p:cNvPr id="6" name="Rounded Rectangle 5"/>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2545"/>
                </a:solidFill>
              </a:defRPr>
            </a:pPr>
            <a:r>
              <a:t>• Khối A00 (Toán-Lý-Hóa): Hoàng Minh Dương (Lớp 12H) — 28,50 điểm (Cao nhất trường)</a:t>
            </a:r>
          </a:p>
          <a:p>
            <a:pPr>
              <a:spcBef>
                <a:spcPts val="600"/>
              </a:spcBef>
              <a:defRPr sz="1200" b="1">
                <a:solidFill>
                  <a:srgbClr val="0B2545"/>
                </a:solidFill>
              </a:defRPr>
            </a:pPr>
            <a:r>
              <a:t>• Khối A01 (Toán-Lý-Anh): Trần Hữu Đạt &amp; Đinh Quốc Trí (12Ti &amp; 12A2) — 28,25 điểm (Đồng điểm cao nhất)</a:t>
            </a:r>
          </a:p>
          <a:p>
            <a:pPr>
              <a:spcBef>
                <a:spcPts val="600"/>
              </a:spcBef>
              <a:defRPr sz="1200" b="1">
                <a:solidFill>
                  <a:srgbClr val="0B2545"/>
                </a:solidFill>
              </a:defRPr>
            </a:pPr>
            <a:r>
              <a:t>• Khối B00 (Toán-Hóa-Sinh): Huỳnh Quốc Đại &amp; Phạm Thiên Ngân (12Si &amp; 12H) — 27,75 điểm (Đại đạt 10 Sinh)</a:t>
            </a:r>
          </a:p>
          <a:p>
            <a:pPr>
              <a:spcBef>
                <a:spcPts val="600"/>
              </a:spcBef>
              <a:defRPr sz="1200" b="1">
                <a:solidFill>
                  <a:srgbClr val="0B2545"/>
                </a:solidFill>
              </a:defRPr>
            </a:pPr>
            <a:r>
              <a:t>• Khối C03 (Toán-Văn-Sử): Nguyễn Thị Mai Phương (Lớp 12A2) — 27,25 điểm (Phương đạt 10 Sử)</a:t>
            </a:r>
          </a:p>
          <a:p>
            <a:pPr>
              <a:spcBef>
                <a:spcPts val="600"/>
              </a:spcBef>
              <a:defRPr sz="1200" b="1">
                <a:solidFill>
                  <a:srgbClr val="0B2545"/>
                </a:solidFill>
              </a:defRPr>
            </a:pPr>
            <a:r>
              <a:t>• Khối D01 (Toán-Văn-Anh): Đinh Quốc Trí &amp; Nguyễn Huỳnh Khánh Ngọc (12A2 &amp; 12A1) — 27,25 điểm (Trí đạt 10 Toán)</a:t>
            </a:r>
          </a:p>
          <a:p>
            <a:pPr>
              <a:spcBef>
                <a:spcPts val="600"/>
              </a:spcBef>
              <a:defRPr sz="1200" b="1">
                <a:solidFill>
                  <a:srgbClr val="0B2545"/>
                </a:solidFill>
              </a:defRPr>
            </a:pPr>
            <a:r>
              <a:t>• Khối D07 (Toán-Hóa-Anh): Dương Thị Khánh Ninh (Lớp 12T2) — 26,50 điểm (Thủ khoa khối D07)</a:t>
            </a:r>
          </a:p>
          <a:p>
            <a:pPr>
              <a:spcBef>
                <a:spcPts val="600"/>
              </a:spcBef>
              <a:defRPr sz="1200" b="1">
                <a:solidFill>
                  <a:srgbClr val="0B2545"/>
                </a:solidFill>
              </a:defRPr>
            </a:pPr>
            <a:r>
              <a:t>• Khối X06 (Toán-Lý-Tin): Nguyễn Hữu Đại &amp; Nguyễn Mạnh Hùng (Lớp 12Ti) — 27,25 điểm (Đại đạt 10 Toán)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TỔNG QUAN CƠ CHẾ TUYỂN SINH VÀO LỚP 10 CHUYÊN</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17 / 30</a:t>
            </a:r>
          </a:p>
        </p:txBody>
      </p:sp>
      <p:sp>
        <p:nvSpPr>
          <p:cNvPr id="6" name="Rounded Rectangle 5"/>
          <p:cNvSpPr/>
          <p:nvPr/>
        </p:nvSpPr>
        <p:spPr>
          <a:xfrm>
            <a:off x="731520" y="1645920"/>
            <a:ext cx="3383280" cy="4297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7B6"/>
                </a:solidFill>
              </a:defRPr>
            </a:pPr>
            <a:r>
              <a:t>QUY ĐỊNH 1</a:t>
            </a:r>
          </a:p>
          <a:p>
            <a:pPr>
              <a:spcBef>
                <a:spcPts val="800"/>
              </a:spcBef>
              <a:defRPr sz="1500" b="1">
                <a:solidFill>
                  <a:srgbClr val="0B2545"/>
                </a:solidFill>
              </a:defRPr>
            </a:pPr>
            <a:r>
              <a:t>CHỈ TIÊU TUYỂN SINH</a:t>
            </a:r>
          </a:p>
          <a:p>
            <a:pPr>
              <a:spcBef>
                <a:spcPts val="1200"/>
              </a:spcBef>
              <a:defRPr sz="1300">
                <a:solidFill>
                  <a:srgbClr val="0F172A"/>
                </a:solidFill>
              </a:defRPr>
            </a:pPr>
            <a:r>
              <a:t>Số lượng học sinh tối đa nhà trường được phép tiếp nhận theo quyết định phê duyệt của Sở Giáo dục và Đào tạo cho từng năm học.</a:t>
            </a:r>
          </a:p>
        </p:txBody>
      </p:sp>
      <p:sp>
        <p:nvSpPr>
          <p:cNvPr id="7" name="Rounded Rectangle 6"/>
          <p:cNvSpPr/>
          <p:nvPr/>
        </p:nvSpPr>
        <p:spPr>
          <a:xfrm>
            <a:off x="4297680" y="1645920"/>
            <a:ext cx="3383280" cy="4297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34074"/>
                </a:solidFill>
              </a:defRPr>
            </a:pPr>
            <a:r>
              <a:t>QUY ĐỊNH 2</a:t>
            </a:r>
          </a:p>
          <a:p>
            <a:pPr>
              <a:spcBef>
                <a:spcPts val="800"/>
              </a:spcBef>
              <a:defRPr sz="1500" b="1">
                <a:solidFill>
                  <a:srgbClr val="0B2545"/>
                </a:solidFill>
              </a:defRPr>
            </a:pPr>
            <a:r>
              <a:t>ĐIỂM XÉT TUYỂN</a:t>
            </a:r>
          </a:p>
          <a:p>
            <a:pPr>
              <a:spcBef>
                <a:spcPts val="1200"/>
              </a:spcBef>
              <a:defRPr sz="1300">
                <a:solidFill>
                  <a:srgbClr val="0F172A"/>
                </a:solidFill>
              </a:defRPr>
            </a:pPr>
            <a:r>
              <a:t>Tổng điểm các bài thi chung kết hợp với bài thi môn chuyên nhân hệ số theo quy định hướng dẫn tuyển sinh.</a:t>
            </a:r>
          </a:p>
        </p:txBody>
      </p:sp>
      <p:sp>
        <p:nvSpPr>
          <p:cNvPr id="8" name="Rounded Rectangle 7"/>
          <p:cNvSpPr/>
          <p:nvPr/>
        </p:nvSpPr>
        <p:spPr>
          <a:xfrm>
            <a:off x="7863840" y="1645920"/>
            <a:ext cx="3383280" cy="4297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E9B00"/>
                </a:solidFill>
              </a:defRPr>
            </a:pPr>
            <a:r>
              <a:t>QUY ĐỊNH 3</a:t>
            </a:r>
          </a:p>
          <a:p>
            <a:pPr>
              <a:spcBef>
                <a:spcPts val="800"/>
              </a:spcBef>
              <a:defRPr sz="1500" b="1">
                <a:solidFill>
                  <a:srgbClr val="0B2545"/>
                </a:solidFill>
              </a:defRPr>
            </a:pPr>
            <a:r>
              <a:t>ĐIỂM CHUẨN TRÚNG TUYỂN</a:t>
            </a:r>
          </a:p>
          <a:p>
            <a:pPr>
              <a:spcBef>
                <a:spcPts val="1200"/>
              </a:spcBef>
              <a:defRPr sz="1300">
                <a:solidFill>
                  <a:srgbClr val="0F172A"/>
                </a:solidFill>
              </a:defRPr>
            </a:pPr>
            <a:r>
              <a:t>Mức điểm xét tuyển tối thiểu để thí sinh đạt điều kiện trúng tuyển vào từng lớp chuyên cụ thể.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ĐIỂM CHUẨN TUYỂN SINH NĂM HỌC 2024 – 2025</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18 / 30</a:t>
            </a:r>
          </a:p>
        </p:txBody>
      </p:sp>
      <p:sp>
        <p:nvSpPr>
          <p:cNvPr id="6" name="Rounded Rectangle 5"/>
          <p:cNvSpPr/>
          <p:nvPr/>
        </p:nvSpPr>
        <p:spPr>
          <a:xfrm>
            <a:off x="731520" y="146304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7B6"/>
                </a:solidFill>
              </a:defRPr>
            </a:pPr>
            <a:r>
              <a:t>CÔNG BỐ CHÍNH THỨC (BÁO BÌNH DƯƠNG 23/07/2024 &amp; CỔNG TTĐT TRƯỜNG 24/07/2024)</a:t>
            </a:r>
          </a:p>
          <a:p>
            <a:pPr>
              <a:spcBef>
                <a:spcPts val="1000"/>
              </a:spcBef>
              <a:defRPr sz="1300" b="1">
                <a:solidFill>
                  <a:srgbClr val="0B2545"/>
                </a:solidFill>
              </a:defRPr>
            </a:pPr>
            <a:r>
              <a:t>• Chuyên Toán: 34,10 điểm — Ngưỡng điểm cạnh tranh cao nhất trong các môn tự nhiên</a:t>
            </a:r>
          </a:p>
          <a:p>
            <a:pPr>
              <a:spcBef>
                <a:spcPts val="1000"/>
              </a:spcBef>
              <a:defRPr sz="1300" b="1">
                <a:solidFill>
                  <a:srgbClr val="0B2545"/>
                </a:solidFill>
              </a:defRPr>
            </a:pPr>
            <a:r>
              <a:t>• Chuyên Tiếng Anh: 34,05 điểm — Mức điểm trúng tuyển xuất sắc với lượng thí sinh đăng ký đông đảo</a:t>
            </a:r>
          </a:p>
          <a:p>
            <a:pPr>
              <a:spcBef>
                <a:spcPts val="1000"/>
              </a:spcBef>
              <a:defRPr sz="1300" b="1">
                <a:solidFill>
                  <a:srgbClr val="0B2545"/>
                </a:solidFill>
              </a:defRPr>
            </a:pPr>
            <a:r>
              <a:t>• Chuyên Lịch sử: 29,85 điểm — Thuộc nhóm lớp Chuyên Lịch sử – Địa lý</a:t>
            </a:r>
          </a:p>
          <a:p>
            <a:pPr>
              <a:spcBef>
                <a:spcPts val="1000"/>
              </a:spcBef>
              <a:defRPr sz="1300" b="1">
                <a:solidFill>
                  <a:srgbClr val="0B2545"/>
                </a:solidFill>
              </a:defRPr>
            </a:pPr>
            <a:r>
              <a:t>• Các môn chuyên còn lại: 29,85 – 34,05 điểm — Bao gồm Vật lý, Hóa học, Sinh học, Tin học, Ngữ văn, Địa lý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CHỈ TIÊU &amp; CƠ CẤU LỚP NĂM HỌC 2024 – 2025</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19 / 30</a:t>
            </a:r>
          </a:p>
        </p:txBody>
      </p:sp>
      <p:sp>
        <p:nvSpPr>
          <p:cNvPr id="6" name="Rounded Rectangle 5"/>
          <p:cNvSpPr/>
          <p:nvPr/>
        </p:nvSpPr>
        <p:spPr>
          <a:xfrm>
            <a:off x="731520" y="1463040"/>
            <a:ext cx="4114800" cy="45720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5400" b="1">
                <a:solidFill>
                  <a:srgbClr val="FFFFFF"/>
                </a:solidFill>
              </a:defRPr>
            </a:pPr>
            <a:r>
              <a:t>315</a:t>
            </a:r>
          </a:p>
          <a:p>
            <a:pPr>
              <a:spcBef>
                <a:spcPts val="600"/>
              </a:spcBef>
              <a:defRPr sz="1400" b="1">
                <a:solidFill>
                  <a:srgbClr val="00B4D8"/>
                </a:solidFill>
              </a:defRPr>
            </a:pPr>
            <a:r>
              <a:t>TỔNG CHỈ TIÊU TRÚNG TUYỂN</a:t>
            </a:r>
          </a:p>
          <a:p>
            <a:pPr>
              <a:spcBef>
                <a:spcPts val="800"/>
              </a:spcBef>
              <a:defRPr sz="1200">
                <a:solidFill>
                  <a:srgbClr val="E2E8F0"/>
                </a:solidFill>
              </a:defRPr>
            </a:pPr>
            <a:r>
              <a:t>Số lượng tuyển mới đạt chuẩn quy định của Sở Giáo dục và Đào tạo.</a:t>
            </a:r>
          </a:p>
        </p:txBody>
      </p:sp>
      <p:sp>
        <p:nvSpPr>
          <p:cNvPr id="7" name="Rounded Rectangle 6"/>
          <p:cNvSpPr/>
          <p:nvPr/>
        </p:nvSpPr>
        <p:spPr>
          <a:xfrm>
            <a:off x="5120640" y="1463040"/>
            <a:ext cx="630936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CƠ CẤU 09 LỚP CHUYÊN TOÀN TRƯỜNG</a:t>
            </a:r>
          </a:p>
          <a:p>
            <a:pPr>
              <a:spcBef>
                <a:spcPts val="1200"/>
              </a:spcBef>
              <a:defRPr sz="1300">
                <a:solidFill>
                  <a:srgbClr val="0F172A"/>
                </a:solidFill>
              </a:defRPr>
            </a:pPr>
            <a:r>
              <a:t>• 02 Lớp Chuyên Tiếng Anh: Nhóm chuyên ngữ quy mô lớn nhất.</a:t>
            </a:r>
          </a:p>
          <a:p>
            <a:pPr>
              <a:spcBef>
                <a:spcPts val="1000"/>
              </a:spcBef>
              <a:defRPr sz="1300">
                <a:solidFill>
                  <a:srgbClr val="0F172A"/>
                </a:solidFill>
              </a:defRPr>
            </a:pPr>
            <a:r>
              <a:t>• 07 Lớp Chuyên các môn: Toán, Vật lý, Hóa học, Sinh học, Tin học, Ngữ văn, Lịch sử - Địa lý.</a:t>
            </a:r>
          </a:p>
          <a:p>
            <a:pPr>
              <a:spcBef>
                <a:spcPts val="1000"/>
              </a:spcBef>
              <a:defRPr sz="1300">
                <a:solidFill>
                  <a:srgbClr val="0F172A"/>
                </a:solidFill>
              </a:defRPr>
            </a:pPr>
            <a:r>
              <a:t>• Quy mô trung bình mỗi lớp khoảng 35 học sinh, đảm bảo chất lượng đào tạo chuyên sâu.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BẢNG ĐIỂM CHUẨN CHI TIẾT 9 MÔN CHUYÊN (2025 –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20 / 30</a:t>
            </a:r>
          </a:p>
        </p:txBody>
      </p:sp>
      <p:sp>
        <p:nvSpPr>
          <p:cNvPr id="6" name="Rounded Rectangle 5"/>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77B6"/>
                </a:solidFill>
              </a:defRPr>
            </a:pPr>
            <a:r>
              <a:t>DỮ LIỆU CHÍNH THỨC (SỞ GD&amp;ĐT BÌNH DƯƠNG / DÂN TRÍ / MỰC TÍM 28/06/2025)</a:t>
            </a:r>
          </a:p>
          <a:p>
            <a:pPr>
              <a:spcBef>
                <a:spcPts val="400"/>
              </a:spcBef>
              <a:defRPr sz="1100" b="1">
                <a:solidFill>
                  <a:srgbClr val="0B2545"/>
                </a:solidFill>
              </a:defRPr>
            </a:pPr>
            <a:r>
              <a:t>• 1. Chuyên Toán: 36,45 điểm (Kỷ lục cạnh tranh cao nhất toàn trường)</a:t>
            </a:r>
          </a:p>
          <a:p>
            <a:pPr>
              <a:spcBef>
                <a:spcPts val="400"/>
              </a:spcBef>
              <a:defRPr sz="1100" b="1">
                <a:solidFill>
                  <a:srgbClr val="0B2545"/>
                </a:solidFill>
              </a:defRPr>
            </a:pPr>
            <a:r>
              <a:t>• 2. Chuyên Hóa học: 34,55 điểm (Đứng thứ nhì bảng xếp hạng)</a:t>
            </a:r>
          </a:p>
          <a:p>
            <a:pPr>
              <a:spcBef>
                <a:spcPts val="400"/>
              </a:spcBef>
              <a:defRPr sz="1100" b="1">
                <a:solidFill>
                  <a:srgbClr val="0B2545"/>
                </a:solidFill>
              </a:defRPr>
            </a:pPr>
            <a:r>
              <a:t>• 3. Chuyên Tiếng Anh: 34,40 điểm (Duy trì vị thế dẫn đầu điểm chuẩn)</a:t>
            </a:r>
          </a:p>
          <a:p>
            <a:pPr>
              <a:spcBef>
                <a:spcPts val="400"/>
              </a:spcBef>
              <a:defRPr sz="1100" b="1">
                <a:solidFill>
                  <a:srgbClr val="0B2545"/>
                </a:solidFill>
              </a:defRPr>
            </a:pPr>
            <a:r>
              <a:t>• 4. Chuyên Ngữ văn: 31,40 điểm (Chất lượng chuyên sâu khối xã hội)</a:t>
            </a:r>
          </a:p>
          <a:p>
            <a:pPr>
              <a:spcBef>
                <a:spcPts val="400"/>
              </a:spcBef>
              <a:defRPr sz="1100" b="1">
                <a:solidFill>
                  <a:srgbClr val="0B2545"/>
                </a:solidFill>
              </a:defRPr>
            </a:pPr>
            <a:r>
              <a:t>• 5. Chuyên Vật lý: 30,15 điểm (Điểm trúng tuyển trên 30)</a:t>
            </a:r>
          </a:p>
          <a:p>
            <a:pPr>
              <a:spcBef>
                <a:spcPts val="400"/>
              </a:spcBef>
              <a:defRPr sz="1100" b="1">
                <a:solidFill>
                  <a:srgbClr val="0B2545"/>
                </a:solidFill>
              </a:defRPr>
            </a:pPr>
            <a:r>
              <a:t>• 6. Chuyên Tin học: 29,45 điểm (Ngành học xu hướng phát triển)</a:t>
            </a:r>
          </a:p>
          <a:p>
            <a:pPr>
              <a:spcBef>
                <a:spcPts val="400"/>
              </a:spcBef>
              <a:defRPr sz="1100" b="1">
                <a:solidFill>
                  <a:srgbClr val="0B2545"/>
                </a:solidFill>
              </a:defRPr>
            </a:pPr>
            <a:r>
              <a:t>• 7. Chuyên Sinh học: 28,475 điểm (Điểm xét tuyển chuẩn xác đến 3 chữ số thập phân)</a:t>
            </a:r>
          </a:p>
          <a:p>
            <a:pPr>
              <a:spcBef>
                <a:spcPts val="400"/>
              </a:spcBef>
              <a:defRPr sz="1100" b="1">
                <a:solidFill>
                  <a:srgbClr val="0B2545"/>
                </a:solidFill>
              </a:defRPr>
            </a:pPr>
            <a:r>
              <a:t>• 8. Chuyên Địa lý: 26,00 điểm (Ổn định so với năm học trước)</a:t>
            </a:r>
          </a:p>
          <a:p>
            <a:pPr>
              <a:spcBef>
                <a:spcPts val="400"/>
              </a:spcBef>
              <a:defRPr sz="1100" b="1">
                <a:solidFill>
                  <a:srgbClr val="0B2545"/>
                </a:solidFill>
              </a:defRPr>
            </a:pPr>
            <a:r>
              <a:t>• 9. Chuyên Lịch sử: 24,30 điểm (Mở rộng cơ hội trúng tuyển)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PHÂN BỔ LỚP CHUYÊN NĂM HỌC 2025 – 2026</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21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PHÂN BỔ CÁC LỚP CHUYÊN</a:t>
            </a:r>
          </a:p>
          <a:p>
            <a:pPr>
              <a:spcBef>
                <a:spcPts val="1200"/>
              </a:spcBef>
              <a:defRPr sz="1300">
                <a:solidFill>
                  <a:srgbClr val="0F172A"/>
                </a:solidFill>
              </a:defRPr>
            </a:pPr>
            <a:r>
              <a:t>• 02 Lớp Chuyên Toán: Mở rộng đào tạo mũi nhọn tự nhiên.</a:t>
            </a:r>
          </a:p>
          <a:p>
            <a:pPr>
              <a:spcBef>
                <a:spcPts val="1000"/>
              </a:spcBef>
              <a:defRPr sz="1300">
                <a:solidFill>
                  <a:srgbClr val="0F172A"/>
                </a:solidFill>
              </a:defRPr>
            </a:pPr>
            <a:r>
              <a:t>• 02 Lớp Chuyên Tiếng Anh: Đáp ứng nhu cầu hội nhập quốc tế.</a:t>
            </a:r>
          </a:p>
          <a:p>
            <a:pPr>
              <a:spcBef>
                <a:spcPts val="1000"/>
              </a:spcBef>
              <a:defRPr sz="1300">
                <a:solidFill>
                  <a:srgbClr val="0F172A"/>
                </a:solidFill>
              </a:defRPr>
            </a:pPr>
            <a:r>
              <a:t>• 01 Lớp cho mỗi môn chuyên còn lại: Hóa học, Vật lý, Sinh học, Tin học, Ngữ văn, Lịch sử, Địa lý.</a:t>
            </a:r>
          </a:p>
        </p:txBody>
      </p:sp>
      <p:sp>
        <p:nvSpPr>
          <p:cNvPr id="7" name="Rounded Rectangle 6"/>
          <p:cNvSpPr/>
          <p:nvPr/>
        </p:nvSpPr>
        <p:spPr>
          <a:xfrm>
            <a:off x="6217920" y="1463040"/>
            <a:ext cx="5212080" cy="457200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E9B00"/>
                </a:solidFill>
              </a:defRPr>
            </a:pPr>
            <a:r>
              <a:t>📊 CHỈ TIÊU &amp; CHẤT LƯỢNG ĐẦU VÀO</a:t>
            </a:r>
          </a:p>
          <a:p>
            <a:pPr>
              <a:spcBef>
                <a:spcPts val="1200"/>
              </a:spcBef>
              <a:defRPr sz="1300">
                <a:solidFill>
                  <a:srgbClr val="FFFFFF"/>
                </a:solidFill>
              </a:defRPr>
            </a:pPr>
            <a:r>
              <a:t>• Tổng chỉ tiêu tuyển mới giữ vững trên 300 học sinh chất lượng cao.</a:t>
            </a:r>
          </a:p>
          <a:p>
            <a:pPr>
              <a:spcBef>
                <a:spcPts val="1000"/>
              </a:spcBef>
              <a:defRPr sz="1300">
                <a:solidFill>
                  <a:srgbClr val="FFFFFF"/>
                </a:solidFill>
              </a:defRPr>
            </a:pPr>
            <a:r>
              <a:t>• Phổ điểm trúng tuyển tiếp tục nâng cao, khẳng định sức hút của ngôi trường chuyên hàng đầu.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BƯỚC NGOẶT TUYỂN SINH NĂM HỌC 2026 – 2027</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22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THÔNG BÁO TUYỂN SINH SỐ 233</a:t>
            </a:r>
          </a:p>
          <a:p>
            <a:pPr>
              <a:spcBef>
                <a:spcPts val="1000"/>
              </a:spcBef>
              <a:defRPr sz="1300">
                <a:solidFill>
                  <a:srgbClr val="0F172A"/>
                </a:solidFill>
              </a:defRPr>
            </a:pPr>
            <a:r>
              <a:t>• Ban hành ngày 20/04/2026 theo Thông báo số 233/TB-THPTCHV.</a:t>
            </a:r>
          </a:p>
          <a:p>
            <a:pPr>
              <a:spcBef>
                <a:spcPts val="800"/>
              </a:spcBef>
              <a:defRPr sz="1400" b="1">
                <a:solidFill>
                  <a:srgbClr val="0B2545"/>
                </a:solidFill>
              </a:defRPr>
            </a:pPr>
            <a:r>
              <a:t>• Mở rộng lên 13 LỚP CHUYÊN toàn trường.</a:t>
            </a:r>
          </a:p>
          <a:p>
            <a:pPr>
              <a:spcBef>
                <a:spcPts val="800"/>
              </a:spcBef>
              <a:defRPr sz="1300">
                <a:solidFill>
                  <a:srgbClr val="0F172A"/>
                </a:solidFill>
              </a:defRPr>
            </a:pPr>
            <a:r>
              <a:t>• Cơ cấu: 02 lớp Toán, 03 lớp Tiếng Anh (bao gồm Tiếng Anh Đề án 5695), và 01 lớp cho từng môn chuyên còn lại.</a:t>
            </a:r>
          </a:p>
        </p:txBody>
      </p:sp>
      <p:sp>
        <p:nvSpPr>
          <p:cNvPr id="7" name="Rounded Rectangle 6"/>
          <p:cNvSpPr/>
          <p:nvPr/>
        </p:nvSpPr>
        <p:spPr>
          <a:xfrm>
            <a:off x="6217920" y="1463040"/>
            <a:ext cx="5212080" cy="45720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B4D8"/>
                </a:solidFill>
              </a:defRPr>
            </a:pPr>
            <a:r>
              <a:t>🌐 ĐỀ ÁN TIẾNG ANH 5695</a:t>
            </a:r>
          </a:p>
          <a:p>
            <a:pPr>
              <a:spcBef>
                <a:spcPts val="1200"/>
              </a:spcBef>
              <a:defRPr sz="1300">
                <a:solidFill>
                  <a:srgbClr val="FFFFFF"/>
                </a:solidFill>
              </a:defRPr>
            </a:pPr>
            <a:r>
              <a:t>• Điểm nhấn đột phá trong công tác hội nhập và chuẩn hóa năng lực ngoại ngữ quốc tế.</a:t>
            </a:r>
          </a:p>
          <a:p>
            <a:pPr>
              <a:spcBef>
                <a:spcPts val="1000"/>
              </a:spcBef>
              <a:defRPr sz="1300">
                <a:solidFill>
                  <a:srgbClr val="FFFFFF"/>
                </a:solidFill>
              </a:defRPr>
            </a:pPr>
            <a:r>
              <a:t>• Tăng cường rèn luyện kỹ năng học thuật, chuẩn bị cho du học và tuyển sinh đại học quốc tế.</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CÔNG BỐ ĐIỂM CHUẨN TUYỂN SINH NĂM HỌC 2026 – 2027</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23 / 30</a:t>
            </a:r>
          </a:p>
        </p:txBody>
      </p:sp>
      <p:sp>
        <p:nvSpPr>
          <p:cNvPr id="6" name="Rounded Rectangle 5"/>
          <p:cNvSpPr/>
          <p:nvPr/>
        </p:nvSpPr>
        <p:spPr>
          <a:xfrm>
            <a:off x="731520" y="146304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7B6"/>
                </a:solidFill>
              </a:defRPr>
            </a:pPr>
            <a:r>
              <a:t>THÔNG BÁO NGÀY 19/06/2026 CỦA SỞ GIÁO DỤC VÀ ĐÀO TẠO TP. HỒ CHÍ MINH</a:t>
            </a:r>
          </a:p>
          <a:p>
            <a:pPr>
              <a:spcBef>
                <a:spcPts val="1000"/>
              </a:spcBef>
              <a:defRPr sz="1300">
                <a:solidFill>
                  <a:srgbClr val="0F172A"/>
                </a:solidFill>
              </a:defRPr>
            </a:pPr>
            <a:r>
              <a:t>• Điểm chuẩn trúng tuyển áp dụng cho 9 môn chuyên truyền thống và lớp Tiếng Anh Đề án 5695.</a:t>
            </a:r>
          </a:p>
          <a:p>
            <a:pPr>
              <a:spcBef>
                <a:spcPts val="800"/>
              </a:spcBef>
              <a:defRPr sz="1300">
                <a:solidFill>
                  <a:srgbClr val="0F172A"/>
                </a:solidFill>
              </a:defRPr>
            </a:pPr>
            <a:r>
              <a:t>• Điểm chuẩn thể hiện tính phân loại học sinh rất cao, đặc biệt ở các lớp Chuyên Toán, Chuyên Tiếng Anh và Chuyên Tin học.</a:t>
            </a:r>
          </a:p>
          <a:p>
            <a:pPr>
              <a:spcBef>
                <a:spcPts val="800"/>
              </a:spcBef>
              <a:defRPr sz="1300">
                <a:solidFill>
                  <a:srgbClr val="0F172A"/>
                </a:solidFill>
              </a:defRPr>
            </a:pPr>
            <a:r>
              <a:t>• Mọi thủ tục nhập học và hồ sơ được hướng dẫn chi tiết theo văn bản hướng dẫn tuyển sinh chính thức.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 TUYỂN SINH &amp; ĐIỂM CHUẨN</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NGUYÊN TẮC KIỂM CHỨNG &amp; XÁC THỰC DỮ LIỆU (DATA INTEGRITY)</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24 / 30</a:t>
            </a:r>
          </a:p>
        </p:txBody>
      </p:sp>
      <p:sp>
        <p:nvSpPr>
          <p:cNvPr id="6" name="Rounded Rectangle 5"/>
          <p:cNvSpPr/>
          <p:nvPr/>
        </p:nvSpPr>
        <p:spPr>
          <a:xfrm>
            <a:off x="731520" y="1463040"/>
            <a:ext cx="5120640" cy="457200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7B6"/>
                </a:solidFill>
              </a:defRPr>
            </a:pPr>
            <a:r>
              <a:t>✅ DỮ LIỆU ĐÃ KIỂM CHỨNG (VERIFIED)</a:t>
            </a:r>
          </a:p>
          <a:p>
            <a:pPr>
              <a:spcBef>
                <a:spcPts val="1000"/>
              </a:spcBef>
              <a:defRPr sz="1200">
                <a:solidFill>
                  <a:srgbClr val="0F172A"/>
                </a:solidFill>
              </a:defRPr>
            </a:pPr>
            <a:r>
              <a:t>• Cơ cấu 13 lớp chuyên năm học 2026–2027 (Theo Thông báo số 233/TB-THPTCHV).</a:t>
            </a:r>
          </a:p>
          <a:p>
            <a:pPr>
              <a:spcBef>
                <a:spcPts val="800"/>
              </a:spcBef>
              <a:defRPr sz="1200">
                <a:solidFill>
                  <a:srgbClr val="0F172A"/>
                </a:solidFill>
              </a:defRPr>
            </a:pPr>
            <a:r>
              <a:t>• Điểm chuẩn các môn năm 2024, 2025, 2026 từ Sở GD&amp;ĐT và Cổng TTĐT trường.</a:t>
            </a:r>
          </a:p>
          <a:p>
            <a:pPr>
              <a:spcBef>
                <a:spcPts val="800"/>
              </a:spcBef>
              <a:defRPr sz="1200">
                <a:solidFill>
                  <a:srgbClr val="0F172A"/>
                </a:solidFill>
              </a:defRPr>
            </a:pPr>
            <a:r>
              <a:t>• Danh sách thủ khoa và 14 điểm 10 kỳ thi tốt nghiệp 2026 từ Ban Truyền thông trường.</a:t>
            </a:r>
          </a:p>
        </p:txBody>
      </p:sp>
      <p:sp>
        <p:nvSpPr>
          <p:cNvPr id="7" name="Rounded Rectangle 6"/>
          <p:cNvSpPr/>
          <p:nvPr/>
        </p:nvSpPr>
        <p:spPr>
          <a:xfrm>
            <a:off x="6217920" y="1463040"/>
            <a:ext cx="5212080" cy="457200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E9B00"/>
                </a:solidFill>
              </a:defRPr>
            </a:pPr>
            <a:r>
              <a:t>⚠️ DỮ LIỆU THẬN TRỌNG (UNVERIFIED)</a:t>
            </a:r>
          </a:p>
          <a:p>
            <a:pPr>
              <a:spcBef>
                <a:spcPts val="1000"/>
              </a:spcBef>
              <a:defRPr sz="1200">
                <a:solidFill>
                  <a:srgbClr val="0F172A"/>
                </a:solidFill>
              </a:defRPr>
            </a:pPr>
            <a:r>
              <a:t>• Con số ~455 học sinh chỉ tiêu 2026 từ nguồn tham khảo thứ cấp (itt.edu.vn).</a:t>
            </a:r>
          </a:p>
          <a:p>
            <a:pPr>
              <a:spcBef>
                <a:spcPts val="800"/>
              </a:spcBef>
              <a:defRPr sz="1200">
                <a:solidFill>
                  <a:srgbClr val="0F172A"/>
                </a:solidFill>
              </a:defRPr>
            </a:pPr>
            <a:r>
              <a:t>• Chưa có văn bản PDF công khai chi tiết số liệu từng môn.</a:t>
            </a:r>
          </a:p>
          <a:p>
            <a:pPr>
              <a:spcBef>
                <a:spcPts val="800"/>
              </a:spcBef>
              <a:defRPr sz="1200" b="1">
                <a:solidFill>
                  <a:srgbClr val="0B2545"/>
                </a:solidFill>
              </a:defRPr>
            </a:pPr>
            <a:r>
              <a:t>• NGUYÊN TẮC: Không biến ước tính từ nguồn thứ cấp thành số liệu chính thức khi chưa có văn bản đối chứng.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MÔI TRƯỜNG HỌC TẬP NĂNG ĐỘNG &amp; TÍCH CỰC</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25 / 30</a:t>
            </a:r>
          </a:p>
        </p:txBody>
      </p:sp>
      <p:sp>
        <p:nvSpPr>
          <p:cNvPr id="6" name="Rounded Rectangle 5"/>
          <p:cNvSpPr/>
          <p:nvPr/>
        </p:nvSpPr>
        <p:spPr>
          <a:xfrm>
            <a:off x="731520" y="1645920"/>
            <a:ext cx="3383280" cy="4297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7B6"/>
                </a:solidFill>
              </a:defRPr>
            </a:pPr>
            <a:r>
              <a:t>ĐẶC TRƯNG 1</a:t>
            </a:r>
          </a:p>
          <a:p>
            <a:pPr>
              <a:spcBef>
                <a:spcPts val="800"/>
              </a:spcBef>
              <a:defRPr sz="1500" b="1">
                <a:solidFill>
                  <a:srgbClr val="0B2545"/>
                </a:solidFill>
              </a:defRPr>
            </a:pPr>
            <a:r>
              <a:t>TỰ HỌC &amp; NGHIÊN CỨU</a:t>
            </a:r>
          </a:p>
          <a:p>
            <a:pPr>
              <a:spcBef>
                <a:spcPts val="1200"/>
              </a:spcBef>
              <a:defRPr sz="1300">
                <a:solidFill>
                  <a:srgbClr val="0F172A"/>
                </a:solidFill>
              </a:defRPr>
            </a:pPr>
            <a:r>
              <a:t>Học sinh được rèn luyện khả năng chủ động tiếp cận tri thức, làm việc nhóm và tư duy phản biện độc lập.</a:t>
            </a:r>
          </a:p>
        </p:txBody>
      </p:sp>
      <p:sp>
        <p:nvSpPr>
          <p:cNvPr id="7" name="Rounded Rectangle 6"/>
          <p:cNvSpPr/>
          <p:nvPr/>
        </p:nvSpPr>
        <p:spPr>
          <a:xfrm>
            <a:off x="4297680" y="1645920"/>
            <a:ext cx="3383280" cy="4297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34074"/>
                </a:solidFill>
              </a:defRPr>
            </a:pPr>
            <a:r>
              <a:t>ĐẶC TRƯNG 2</a:t>
            </a:r>
          </a:p>
          <a:p>
            <a:pPr>
              <a:spcBef>
                <a:spcPts val="800"/>
              </a:spcBef>
              <a:defRPr sz="1500" b="1">
                <a:solidFill>
                  <a:srgbClr val="0B2545"/>
                </a:solidFill>
              </a:defRPr>
            </a:pPr>
            <a:r>
              <a:t>THẦY CÔ ĐỒNG HÀNH</a:t>
            </a:r>
          </a:p>
          <a:p>
            <a:pPr>
              <a:spcBef>
                <a:spcPts val="1200"/>
              </a:spcBef>
              <a:defRPr sz="1300">
                <a:solidFill>
                  <a:srgbClr val="0F172A"/>
                </a:solidFill>
              </a:defRPr>
            </a:pPr>
            <a:r>
              <a:t>Đội ngũ thầy cô không chỉ truyền đạt kiến thức mà còn là người định hướng, truyền cảm hứng nghiên cứu khoa học.</a:t>
            </a:r>
          </a:p>
        </p:txBody>
      </p:sp>
      <p:sp>
        <p:nvSpPr>
          <p:cNvPr id="8" name="Rounded Rectangle 7"/>
          <p:cNvSpPr/>
          <p:nvPr/>
        </p:nvSpPr>
        <p:spPr>
          <a:xfrm>
            <a:off x="7863840" y="1645920"/>
            <a:ext cx="3383280" cy="4297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E9B00"/>
                </a:solidFill>
              </a:defRPr>
            </a:pPr>
            <a:r>
              <a:t>ĐẶC TRƯNG 3</a:t>
            </a:r>
          </a:p>
          <a:p>
            <a:pPr>
              <a:spcBef>
                <a:spcPts val="800"/>
              </a:spcBef>
              <a:defRPr sz="1500" b="1">
                <a:solidFill>
                  <a:srgbClr val="0B2545"/>
                </a:solidFill>
              </a:defRPr>
            </a:pPr>
            <a:r>
              <a:t>HỌC THUẬT GẮN KẾT</a:t>
            </a:r>
          </a:p>
          <a:p>
            <a:pPr>
              <a:spcBef>
                <a:spcPts val="1200"/>
              </a:spcBef>
              <a:defRPr sz="1300">
                <a:solidFill>
                  <a:srgbClr val="0F172A"/>
                </a:solidFill>
              </a:defRPr>
            </a:pPr>
            <a:r>
              <a:t>Cộng đồng học sinh tài năng, chia sẻ phương pháp học tập hiệu quả thông qua các câu lạc bộ chuyên môn.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HOẠT ĐỘNG PHÁT TRIỂN TOÀN DIỆN &amp; HỘI NHẬP QUỐC TẾ</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26 / 30</a:t>
            </a:r>
          </a:p>
        </p:txBody>
      </p:sp>
      <p:sp>
        <p:nvSpPr>
          <p:cNvPr id="6" name="Rounded Rectangle 5"/>
          <p:cNvSpPr/>
          <p:nvPr/>
        </p:nvSpPr>
        <p:spPr>
          <a:xfrm>
            <a:off x="731520" y="1463040"/>
            <a:ext cx="10698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2545"/>
                </a:solidFill>
              </a:defRPr>
            </a:pPr>
            <a:r>
              <a:t>• 🌏 Asia Youth Leaders Program 2026: Học sinh tham gia diễn đàn lãnh đạo trẻ quốc tế tại Nhật Bản (05/08/2026).</a:t>
            </a:r>
          </a:p>
          <a:p>
            <a:pPr>
              <a:spcBef>
                <a:spcPts val="600"/>
              </a:spcBef>
              <a:defRPr sz="1200" b="1">
                <a:solidFill>
                  <a:srgbClr val="0B2545"/>
                </a:solidFill>
              </a:defRPr>
            </a:pPr>
            <a:r>
              <a:t>• 🗣️ Nhịp cầu ngôn ngữ: Chương trình giao lưu văn hóa quốc tế nâng cao năng lực ngoại ngữ (08/02/2026).</a:t>
            </a:r>
          </a:p>
          <a:p>
            <a:pPr>
              <a:spcBef>
                <a:spcPts val="600"/>
              </a:spcBef>
              <a:defRPr sz="1200" b="1">
                <a:solidFill>
                  <a:srgbClr val="0B2545"/>
                </a:solidFill>
              </a:defRPr>
            </a:pPr>
            <a:r>
              <a:t>• 💻 The EIU Programming Contest &amp; Tin học trẻ: Sân chơi tranh tài lập trình thuật toán đỉnh cao cho học sinh chuyên Tin.</a:t>
            </a:r>
          </a:p>
          <a:p>
            <a:pPr>
              <a:spcBef>
                <a:spcPts val="600"/>
              </a:spcBef>
              <a:defRPr sz="1200" b="1">
                <a:solidFill>
                  <a:srgbClr val="0B2545"/>
                </a:solidFill>
              </a:defRPr>
            </a:pPr>
            <a:r>
              <a:t>• 🚀 Ngày hội Trải nghiệm Khởi nghiệp: Triển khai theo Kế hoạch số 37/KH-THPTCHV ngày 20/01/2026.</a:t>
            </a:r>
          </a:p>
          <a:p>
            <a:pPr>
              <a:spcBef>
                <a:spcPts val="600"/>
              </a:spcBef>
              <a:defRPr sz="1200" b="1">
                <a:solidFill>
                  <a:srgbClr val="0B2545"/>
                </a:solidFill>
              </a:defRPr>
            </a:pPr>
            <a:r>
              <a:t>• 📚 Đại sứ Văn hóa đọc TP.HCM 2026: Học sinh nhà trường tích cực tham gia và lan tỏa văn hóa đọc (16/08/2026).</a:t>
            </a:r>
          </a:p>
          <a:p>
            <a:pPr>
              <a:spcBef>
                <a:spcPts val="600"/>
              </a:spcBef>
              <a:defRPr sz="1200" b="1">
                <a:solidFill>
                  <a:srgbClr val="0B2545"/>
                </a:solidFill>
              </a:defRPr>
            </a:pPr>
            <a:r>
              <a:t>• 🏕️ Trải nghiệm ngoại khóa Đà Lạt: Hành trình rèn luyện kỹ năng sinh tồn và gắn kết tình đồng đội học đường.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CẤU TRÚC CHƯƠNG TRÌNH GDPT 2018 TẠI TRƯỜNG CHUYÊN</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27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77B6"/>
                </a:solidFill>
              </a:defRPr>
            </a:pPr>
            <a:r>
              <a:t>📚 CÁC MÔN HỌC BẮT BUỘC</a:t>
            </a:r>
          </a:p>
          <a:p>
            <a:pPr>
              <a:spcBef>
                <a:spcPts val="1000"/>
              </a:spcBef>
              <a:defRPr sz="1300">
                <a:solidFill>
                  <a:srgbClr val="0F172A"/>
                </a:solidFill>
              </a:defRPr>
            </a:pPr>
            <a:r>
              <a:t>• Ngữ văn</a:t>
            </a:r>
            <a:br/>
            <a:r>
              <a:t>• Toán</a:t>
            </a:r>
            <a:br/>
            <a:r>
              <a:t>• Ngoại ngữ 1 (Tiếng Anh)</a:t>
            </a:r>
            <a:br/>
            <a:r>
              <a:t>• Lịch sử</a:t>
            </a:r>
            <a:br/>
            <a:r>
              <a:t>• Giáo dục thể chất</a:t>
            </a:r>
            <a:br/>
            <a:r>
              <a:t>• Giáo dục quốc phòng và an ninh</a:t>
            </a:r>
            <a:br/>
            <a:r>
              <a:t>• Hoạt động trải nghiệm – hướng nghiệp</a:t>
            </a:r>
            <a:br/>
            <a:r>
              <a:t>• Nội dung giáo dục địa phương</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EE9B00"/>
                </a:solidFill>
              </a:defRPr>
            </a:pPr>
            <a:r>
              <a:t>🎯 MÔN LỰA CHỌN &amp; CHUYÊN ĐỀ</a:t>
            </a:r>
          </a:p>
          <a:p>
            <a:pPr>
              <a:spcBef>
                <a:spcPts val="1000"/>
              </a:spcBef>
              <a:defRPr sz="1300">
                <a:solidFill>
                  <a:srgbClr val="0F172A"/>
                </a:solidFill>
              </a:defRPr>
            </a:pPr>
            <a:r>
              <a:t>• Xây dựng theo nhóm KHTN và KHXH linh hoạt cho từng lớp chuyên.</a:t>
            </a:r>
          </a:p>
          <a:p>
            <a:pPr>
              <a:spcBef>
                <a:spcPts val="800"/>
              </a:spcBef>
              <a:defRPr sz="1300">
                <a:solidFill>
                  <a:srgbClr val="0F172A"/>
                </a:solidFill>
              </a:defRPr>
            </a:pPr>
            <a:r>
              <a:t>• Biên chế lớp 10 năm học 2026–2027 thực hiện theo Kế hoạch số 212/KH-THPTCHV ngày 09/04/2026.</a:t>
            </a:r>
          </a:p>
          <a:p>
            <a:pPr>
              <a:spcBef>
                <a:spcPts val="800"/>
              </a:spcBef>
              <a:defRPr sz="1300">
                <a:solidFill>
                  <a:srgbClr val="0F172A"/>
                </a:solidFill>
              </a:defRPr>
            </a:pPr>
            <a:r>
              <a:t>• Thủ tục điều chỉnh môn học tự chọn theo Thông báo số 319/TB-THPTCHV ngày 22/05/2026.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ĐỊNH HƯỚNG TỔ HỢP MÔN &amp; XÉT TUYỂN ĐẠI HỌC</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28 / 30</a:t>
            </a:r>
          </a:p>
        </p:txBody>
      </p:sp>
      <p:sp>
        <p:nvSpPr>
          <p:cNvPr id="6" name="Rounded Rectangle 5"/>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77B6"/>
                </a:solidFill>
              </a:defRPr>
            </a:pPr>
            <a:r>
              <a:t>🔬 NHÓM KHOA HỌC TỰ NHIÊN (KHTN)</a:t>
            </a:r>
          </a:p>
          <a:p>
            <a:pPr>
              <a:spcBef>
                <a:spcPts val="1000"/>
              </a:spcBef>
              <a:defRPr sz="1300">
                <a:solidFill>
                  <a:srgbClr val="0F172A"/>
                </a:solidFill>
              </a:defRPr>
            </a:pPr>
            <a:r>
              <a:t>• Tổ hợp chuyên: Toán, Vật lý, Hóa học, Tin học.</a:t>
            </a:r>
          </a:p>
          <a:p>
            <a:pPr>
              <a:spcBef>
                <a:spcPts val="800"/>
              </a:spcBef>
              <a:defRPr sz="1300">
                <a:solidFill>
                  <a:srgbClr val="0F172A"/>
                </a:solidFill>
              </a:defRPr>
            </a:pPr>
            <a:r>
              <a:t>• Tối ưu khối thi Đại học: A00 (Toán-Lý-Hóa), A01 (Toán-Lý-Anh), B00 (Toán-Hóa-Sinh), X06 (Toán-Lý-Tin).</a:t>
            </a:r>
          </a:p>
          <a:p>
            <a:pPr>
              <a:spcBef>
                <a:spcPts val="800"/>
              </a:spcBef>
              <a:defRPr sz="1300" b="1">
                <a:solidFill>
                  <a:srgbClr val="134074"/>
                </a:solidFill>
              </a:defRPr>
            </a:pPr>
            <a:r>
              <a:t>• Triển khai mô hình dạy Toán bằng Tiếng Anh (từ 02/10/2026).</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E9B00"/>
                </a:solidFill>
              </a:defRPr>
            </a:pPr>
            <a:r>
              <a:t>🌍 NHÓM KH XÃ HỘI &amp; NGOẠI NGỮ</a:t>
            </a:r>
          </a:p>
          <a:p>
            <a:pPr>
              <a:spcBef>
                <a:spcPts val="1000"/>
              </a:spcBef>
              <a:defRPr sz="1300">
                <a:solidFill>
                  <a:srgbClr val="0F172A"/>
                </a:solidFill>
              </a:defRPr>
            </a:pPr>
            <a:r>
              <a:t>• Tổ hợp chuyên: Tiếng Anh, Ngữ văn, Lịch sử, Địa lý.</a:t>
            </a:r>
          </a:p>
          <a:p>
            <a:pPr>
              <a:spcBef>
                <a:spcPts val="800"/>
              </a:spcBef>
              <a:defRPr sz="1300">
                <a:solidFill>
                  <a:srgbClr val="0F172A"/>
                </a:solidFill>
              </a:defRPr>
            </a:pPr>
            <a:r>
              <a:t>• Tối ưu khối thi Đại học: C03 (Toán-Văn-Sử), D01 (Toán-Văn-Anh), D07 (Toán-Hóa-Anh) và xét tuyển IELTS/SAT.</a:t>
            </a:r>
          </a:p>
          <a:p>
            <a:pPr>
              <a:spcBef>
                <a:spcPts val="800"/>
              </a:spcBef>
              <a:defRPr sz="1300" b="1">
                <a:solidFill>
                  <a:srgbClr val="134074"/>
                </a:solidFill>
              </a:defRPr>
            </a:pPr>
            <a:r>
              <a:t>• Tích hợp hệ Tiếng Anh Đề án 5695 chuẩn quốc tế.</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65760"/>
          </a:xfrm>
          <a:prstGeom prst="rect">
            <a:avLst/>
          </a:prstGeom>
          <a:noFill/>
        </p:spPr>
        <p:txBody>
          <a:bodyPr wrap="square">
            <a:spAutoFit/>
          </a:bodyPr>
          <a:lstStyle/>
          <a:p>
            <a:pPr>
              <a:defRPr sz="1100" b="1">
                <a:solidFill>
                  <a:srgbClr val="0077B6"/>
                </a:solidFill>
                <a:latin typeface="Arial"/>
              </a:defRPr>
            </a:pPr>
            <a:r>
              <a:t>CHƯƠNG VII &amp; VIII</a:t>
            </a:r>
          </a:p>
        </p:txBody>
      </p:sp>
      <p:sp>
        <p:nvSpPr>
          <p:cNvPr id="4" name="TextBox 3"/>
          <p:cNvSpPr txBox="1"/>
          <p:nvPr/>
        </p:nvSpPr>
        <p:spPr>
          <a:xfrm>
            <a:off x="731520" y="640080"/>
            <a:ext cx="9601200" cy="640080"/>
          </a:xfrm>
          <a:prstGeom prst="rect">
            <a:avLst/>
          </a:prstGeom>
          <a:noFill/>
        </p:spPr>
        <p:txBody>
          <a:bodyPr wrap="square">
            <a:spAutoFit/>
          </a:bodyPr>
          <a:lstStyle/>
          <a:p>
            <a:pPr>
              <a:defRPr sz="2200" b="1">
                <a:solidFill>
                  <a:srgbClr val="0B2545"/>
                </a:solidFill>
                <a:latin typeface="Arial"/>
              </a:defRPr>
            </a:pPr>
            <a:r>
              <a:t>KẾT LUẬN TỔNG QUAN &amp; TÀI LIỆU THAM KHẢO CHÍNH THỨC</a:t>
            </a:r>
          </a:p>
        </p:txBody>
      </p:sp>
      <p:sp>
        <p:nvSpPr>
          <p:cNvPr id="5" name="TextBox 4"/>
          <p:cNvSpPr txBox="1"/>
          <p:nvPr/>
        </p:nvSpPr>
        <p:spPr>
          <a:xfrm>
            <a:off x="10515600" y="365760"/>
            <a:ext cx="1097280" cy="365760"/>
          </a:xfrm>
          <a:prstGeom prst="rect">
            <a:avLst/>
          </a:prstGeom>
          <a:noFill/>
        </p:spPr>
        <p:txBody>
          <a:bodyPr wrap="none">
            <a:spAutoFit/>
          </a:bodyPr>
          <a:lstStyle/>
          <a:p>
            <a:pPr algn="r">
              <a:defRPr sz="1100" b="1">
                <a:solidFill>
                  <a:srgbClr val="64748B"/>
                </a:solidFill>
                <a:latin typeface="Arial"/>
              </a:defRPr>
            </a:pPr>
            <a:r>
              <a:t>29 / 30</a:t>
            </a:r>
          </a:p>
        </p:txBody>
      </p:sp>
      <p:sp>
        <p:nvSpPr>
          <p:cNvPr id="6" name="Rounded Rectangle 5"/>
          <p:cNvSpPr/>
          <p:nvPr/>
        </p:nvSpPr>
        <p:spPr>
          <a:xfrm>
            <a:off x="731520" y="1463040"/>
            <a:ext cx="5120640" cy="466344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7B6"/>
                </a:solidFill>
              </a:defRPr>
            </a:pPr>
            <a:r>
              <a:t>🎯 CHƯƠNG VII: KẾT LUẬN (30 NĂM PHÁT TRIỂN)</a:t>
            </a:r>
          </a:p>
          <a:p>
            <a:pPr>
              <a:spcBef>
                <a:spcPts val="800"/>
              </a:spcBef>
              <a:defRPr sz="1100">
                <a:solidFill>
                  <a:srgbClr val="0F172A"/>
                </a:solidFill>
              </a:defRPr>
            </a:pPr>
            <a:r>
              <a:t>• Lá cờ đầu giáo dục mũi nhọn: Trải qua 30 năm (1996–2026), THPT Chuyên Hùng Vương khẳng định vị thế vững chắc trong bồi dưỡng nhân tài.</a:t>
            </a:r>
          </a:p>
          <a:p>
            <a:pPr>
              <a:spcBef>
                <a:spcPts val="600"/>
              </a:spcBef>
              <a:defRPr sz="1100">
                <a:solidFill>
                  <a:srgbClr val="0F172A"/>
                </a:solidFill>
              </a:defRPr>
            </a:pPr>
            <a:r>
              <a:t>• Nội lực vững mạnh: Quy mô 930 học sinh ưu tú, 92 CBGVNV tận tụy, cơ sở vật chất chuẩn quốc gia, phấn đấu lọt Top 20 trường THPT chất lượng cao cả nước vào năm 2030.</a:t>
            </a:r>
          </a:p>
          <a:p>
            <a:pPr>
              <a:spcBef>
                <a:spcPts val="600"/>
              </a:spcBef>
              <a:defRPr sz="1100">
                <a:solidFill>
                  <a:srgbClr val="0F172A"/>
                </a:solidFill>
              </a:defRPr>
            </a:pPr>
            <a:r>
              <a:t>• Chất lượng khẳng định: 100% đỗ tốt nghiệp &amp; ĐH hàng năm, 14 điểm 10 kỳ thi tốt nghiệp 2026, dẫn đầu các kỳ thi HSG khu vực và quốc tế.</a:t>
            </a:r>
          </a:p>
        </p:txBody>
      </p:sp>
      <p:sp>
        <p:nvSpPr>
          <p:cNvPr id="7" name="Rounded Rectangle 6"/>
          <p:cNvSpPr/>
          <p:nvPr/>
        </p:nvSpPr>
        <p:spPr>
          <a:xfrm>
            <a:off x="6217920" y="1463040"/>
            <a:ext cx="5212080" cy="466344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E9B00"/>
                </a:solidFill>
              </a:defRPr>
            </a:pPr>
            <a:r>
              <a:t>📚 CHƯƠNG VIII: TÀI LIỆU THAM KHẢO CHÍNH THỨC</a:t>
            </a:r>
          </a:p>
          <a:p>
            <a:pPr>
              <a:spcBef>
                <a:spcPts val="300"/>
              </a:spcBef>
              <a:defRPr sz="1000">
                <a:solidFill>
                  <a:srgbClr val="0F172A"/>
                </a:solidFill>
              </a:defRPr>
            </a:pPr>
            <a:r>
              <a:t>1. Cổng TTĐT trường: https://www.thptchv.edu.vn/</a:t>
            </a:r>
          </a:p>
          <a:p>
            <a:pPr>
              <a:spcBef>
                <a:spcPts val="300"/>
              </a:spcBef>
              <a:defRPr sz="1000">
                <a:solidFill>
                  <a:srgbClr val="0F172A"/>
                </a:solidFill>
              </a:defRPr>
            </a:pPr>
            <a:r>
              <a:t>2. TB số 233/TB-THPTCHV (20/04/2026): Tuyển sinh lớp 10 năm 2026–2027.</a:t>
            </a:r>
          </a:p>
          <a:p>
            <a:pPr>
              <a:spcBef>
                <a:spcPts val="300"/>
              </a:spcBef>
              <a:defRPr sz="1000">
                <a:solidFill>
                  <a:srgbClr val="0F172A"/>
                </a:solidFill>
              </a:defRPr>
            </a:pPr>
            <a:r>
              <a:t>3. Sở GD&amp;ĐT TP.HCM (19/06/2026): Điểm chuẩn Chuyên &amp; Đề án 5695.</a:t>
            </a:r>
          </a:p>
          <a:p>
            <a:pPr>
              <a:spcBef>
                <a:spcPts val="300"/>
              </a:spcBef>
              <a:defRPr sz="1000">
                <a:solidFill>
                  <a:srgbClr val="0F172A"/>
                </a:solidFill>
              </a:defRPr>
            </a:pPr>
            <a:r>
              <a:t>4. Sở GD&amp;ĐT Bình Dương (28/06/2025): Điểm chuẩn lớp 10 năm 2025–2026.</a:t>
            </a:r>
          </a:p>
          <a:p>
            <a:pPr>
              <a:spcBef>
                <a:spcPts val="300"/>
              </a:spcBef>
              <a:defRPr sz="1000">
                <a:solidFill>
                  <a:srgbClr val="0F172A"/>
                </a:solidFill>
              </a:defRPr>
            </a:pPr>
            <a:r>
              <a:t>5. Sở GD&amp;ĐT Bình Dương (23/07/2024): Điểm chuẩn lớp 10 năm 2024–2025.</a:t>
            </a:r>
          </a:p>
          <a:p>
            <a:pPr>
              <a:spcBef>
                <a:spcPts val="300"/>
              </a:spcBef>
              <a:defRPr sz="1000">
                <a:solidFill>
                  <a:srgbClr val="0F172A"/>
                </a:solidFill>
              </a:defRPr>
            </a:pPr>
            <a:r>
              <a:t>6. Ban Truyền thông nhà trường (01/07/2026): Vinh danh thủ khoa TN 2026.</a:t>
            </a:r>
          </a:p>
          <a:p>
            <a:pPr>
              <a:spcBef>
                <a:spcPts val="300"/>
              </a:spcBef>
              <a:defRPr sz="1000">
                <a:solidFill>
                  <a:srgbClr val="0F172A"/>
                </a:solidFill>
              </a:defRPr>
            </a:pPr>
            <a:r>
              <a:t>7. Kế hoạch số 111/KH-THPTCHV (12/03/2026): Kỷ niệm 30 năm thành lập trường.</a:t>
            </a:r>
          </a:p>
          <a:p>
            <a:pPr>
              <a:spcBef>
                <a:spcPts val="300"/>
              </a:spcBef>
              <a:defRPr sz="1000">
                <a:solidFill>
                  <a:srgbClr val="0F172A"/>
                </a:solidFill>
              </a:defRPr>
            </a:pPr>
            <a:r>
              <a:t>8. Kế hoạch 212/KH-THPTCHV &amp; TB 319: Biên chế và điều chỉnh môn học 2018.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18320" cy="502920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EE9B00"/>
                </a:solidFill>
              </a:defRPr>
            </a:pPr>
            <a:r>
              <a:t>XIN CHÂN THÀNH CẢM ƠN THẦY CÔ VÀ CÁC BẠN!</a:t>
            </a:r>
          </a:p>
          <a:p>
            <a:pPr algn="ctr">
              <a:spcBef>
                <a:spcPts val="1400"/>
              </a:spcBef>
              <a:defRPr sz="1400" b="1">
                <a:solidFill>
                  <a:srgbClr val="00B4D8"/>
                </a:solidFill>
              </a:defRPr>
            </a:pPr>
            <a:r>
              <a:t>BÁO CÁO THUYẾT TRÌNH ĐƯỢC THỰC HIỆN BỞI NHÓM HỌC SINH LỚP 9A12</a:t>
            </a:r>
          </a:p>
          <a:p>
            <a:pPr algn="ctr">
              <a:spcBef>
                <a:spcPts val="400"/>
              </a:spcBef>
              <a:defRPr sz="1300">
                <a:solidFill>
                  <a:srgbClr val="FFFFFF"/>
                </a:solidFill>
              </a:defRPr>
            </a:pPr>
            <a:r>
              <a:t>1. Trần Nguyễn Bảo Linh (9A12)</a:t>
            </a:r>
          </a:p>
          <a:p>
            <a:pPr algn="ctr">
              <a:spcBef>
                <a:spcPts val="400"/>
              </a:spcBef>
              <a:defRPr sz="1300">
                <a:solidFill>
                  <a:srgbClr val="FFFFFF"/>
                </a:solidFill>
              </a:defRPr>
            </a:pPr>
            <a:r>
              <a:t>2. Nguyễn Lê Xuân Hương (9A12)</a:t>
            </a:r>
          </a:p>
          <a:p>
            <a:pPr algn="ctr">
              <a:spcBef>
                <a:spcPts val="400"/>
              </a:spcBef>
              <a:defRPr sz="1300">
                <a:solidFill>
                  <a:srgbClr val="FFFFFF"/>
                </a:solidFill>
              </a:defRPr>
            </a:pPr>
            <a:r>
              <a:t>3. Hà Kỳ Nhiệm (9A12)</a:t>
            </a:r>
          </a:p>
          <a:p>
            <a:pPr algn="ctr">
              <a:spcBef>
                <a:spcPts val="400"/>
              </a:spcBef>
              <a:defRPr sz="1300">
                <a:solidFill>
                  <a:srgbClr val="FFFFFF"/>
                </a:solidFill>
              </a:defRPr>
            </a:pPr>
            <a:r>
              <a:t>4. Nguyễn Hoàng Minh Tuấn (9A12)</a:t>
            </a:r>
          </a:p>
          <a:p>
            <a:pPr algn="ctr">
              <a:spcBef>
                <a:spcPts val="400"/>
              </a:spcBef>
              <a:defRPr sz="1300">
                <a:solidFill>
                  <a:srgbClr val="FFFFFF"/>
                </a:solidFill>
              </a:defRPr>
            </a:pPr>
            <a:r>
              <a:t>5. Trần Huỳnh Minh Thư (9A12)</a:t>
            </a:r>
          </a:p>
          <a:p>
            <a:pPr algn="ctr">
              <a:spcBef>
                <a:spcPts val="400"/>
              </a:spcBef>
              <a:defRPr sz="1300">
                <a:solidFill>
                  <a:srgbClr val="FFFFFF"/>
                </a:solidFill>
              </a:defRPr>
            </a:pPr>
            <a:r>
              <a:t>6. Đoàn Vương Bảo Ngọc (9A12)</a:t>
            </a:r>
          </a:p>
          <a:p>
            <a:pPr algn="ctr">
              <a:spcBef>
                <a:spcPts val="1400"/>
              </a:spcBef>
              <a:defRPr sz="1200" i="1">
                <a:solidFill>
                  <a:srgbClr val="E2E8F0"/>
                </a:solidFill>
              </a:defRPr>
            </a:pPr>
            <a:r>
              <a:t>Trường THPT Chuyên Hùng Vương — Nơi chắp cánh ước mơ tri thức &amp; tương lai!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